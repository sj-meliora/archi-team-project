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51_3A8ABCF5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48_71827A64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66_11789F6D.xml" ContentType="application/vnd.ms-powerpoint.comments+xml"/>
  <Override PartName="/ppt/notesSlides/notesSlide20.xml" ContentType="application/vnd.openxmlformats-officedocument.presentationml.notesSlide+xml"/>
  <Override PartName="/ppt/comments/modernComment_164_FD73F15E.xml" ContentType="application/vnd.ms-powerpoint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48"/>
  </p:notesMasterIdLst>
  <p:sldIdLst>
    <p:sldId id="315" r:id="rId3"/>
    <p:sldId id="359" r:id="rId4"/>
    <p:sldId id="279" r:id="rId5"/>
    <p:sldId id="363" r:id="rId6"/>
    <p:sldId id="362" r:id="rId7"/>
    <p:sldId id="360" r:id="rId8"/>
    <p:sldId id="361" r:id="rId9"/>
    <p:sldId id="322" r:id="rId10"/>
    <p:sldId id="336" r:id="rId11"/>
    <p:sldId id="332" r:id="rId12"/>
    <p:sldId id="355" r:id="rId13"/>
    <p:sldId id="344" r:id="rId14"/>
    <p:sldId id="346" r:id="rId15"/>
    <p:sldId id="318" r:id="rId16"/>
    <p:sldId id="339" r:id="rId17"/>
    <p:sldId id="337" r:id="rId18"/>
    <p:sldId id="350" r:id="rId19"/>
    <p:sldId id="328" r:id="rId20"/>
    <p:sldId id="357" r:id="rId21"/>
    <p:sldId id="358" r:id="rId22"/>
    <p:sldId id="356" r:id="rId23"/>
    <p:sldId id="284" r:id="rId24"/>
    <p:sldId id="348" r:id="rId25"/>
    <p:sldId id="351" r:id="rId26"/>
    <p:sldId id="349" r:id="rId27"/>
    <p:sldId id="352" r:id="rId28"/>
    <p:sldId id="353" r:id="rId29"/>
    <p:sldId id="354" r:id="rId30"/>
    <p:sldId id="345" r:id="rId31"/>
    <p:sldId id="257" r:id="rId32"/>
    <p:sldId id="258" r:id="rId33"/>
    <p:sldId id="259" r:id="rId34"/>
    <p:sldId id="260" r:id="rId35"/>
    <p:sldId id="334" r:id="rId36"/>
    <p:sldId id="320" r:id="rId37"/>
    <p:sldId id="330" r:id="rId38"/>
    <p:sldId id="326" r:id="rId39"/>
    <p:sldId id="316" r:id="rId40"/>
    <p:sldId id="338" r:id="rId41"/>
    <p:sldId id="323" r:id="rId42"/>
    <p:sldId id="325" r:id="rId43"/>
    <p:sldId id="340" r:id="rId44"/>
    <p:sldId id="341" r:id="rId45"/>
    <p:sldId id="321" r:id="rId46"/>
    <p:sldId id="342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B6B442-AA43-5DC3-BE9C-C4DF3D57D521}" name="Taehyun Kyong" initials="TK" userId="6483d1bdf02e451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CB8"/>
    <a:srgbClr val="196063"/>
    <a:srgbClr val="0066FF"/>
    <a:srgbClr val="D97757"/>
    <a:srgbClr val="F9ECEB"/>
    <a:srgbClr val="E0C0BE"/>
    <a:srgbClr val="1E2761"/>
    <a:srgbClr val="C8C6E9"/>
    <a:srgbClr val="BFD0E5"/>
    <a:srgbClr val="EEE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425D32-3CD3-47DB-A7D4-76EF79D500DB}" v="1" dt="2026-06-19T14:46:11.032"/>
    <p1510:client id="{BBA73E82-A400-3C40-8F57-74B868141763}" v="138" dt="2026-06-19T07:49:46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omments/modernComment_148_71827A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0ECB30-4E99-4558-BE42-AE6F84355A5C}" authorId="{D5B6B442-AA43-5DC3-BE9C-C4DF3D57D521}" created="2026-06-09T13:34:39.377">
    <pc:sldMkLst xmlns:pc="http://schemas.microsoft.com/office/powerpoint/2013/main/command">
      <pc:docMk/>
      <pc:sldMk cId="1904376420" sldId="328"/>
    </pc:sldMkLst>
    <p188:txBody>
      <a:bodyPr/>
      <a:lstStyle/>
      <a:p>
        <a:r>
          <a:rPr lang="ko-KR" altLang="en-US"/>
          <a:t>Workflow 엔진이 정확히 무엇인지
</a:t>
        </a:r>
      </a:p>
    </p188:txBody>
  </p188:cm>
  <p188:cm id="{E4C8E2F3-57DF-46D0-BE0A-7E60F9EA9988}" authorId="{D5B6B442-AA43-5DC3-BE9C-C4DF3D57D521}" created="2026-06-09T13:39:13.596">
    <pc:sldMkLst xmlns:pc="http://schemas.microsoft.com/office/powerpoint/2013/main/command">
      <pc:docMk/>
      <pc:sldMk cId="1904376420" sldId="328"/>
    </pc:sldMkLst>
    <p188:txBody>
      <a:bodyPr/>
      <a:lstStyle/>
      <a:p>
        <a:r>
          <a:rPr lang="ko-KR" altLang="en-US"/>
          <a:t>DP1 Agent Router와 Orchestrator를 어떻게 구분할지</a:t>
        </a:r>
      </a:p>
    </p188:txBody>
  </p188:cm>
  <p188:cm id="{0E1B4B6B-EB21-4BF7-AC8A-E1E367F2DA99}" authorId="{D5B6B442-AA43-5DC3-BE9C-C4DF3D57D521}" created="2026-06-09T13:39:19.772">
    <pc:sldMkLst xmlns:pc="http://schemas.microsoft.com/office/powerpoint/2013/main/command">
      <pc:docMk/>
      <pc:sldMk cId="1904376420" sldId="328"/>
    </pc:sldMkLst>
    <p188:txBody>
      <a:bodyPr/>
      <a:lstStyle/>
      <a:p>
        <a:r>
          <a:rPr lang="ko-KR" altLang="en-US"/>
          <a:t>Fully Decentralized 개념과 2안이 매칭되는지</a:t>
        </a:r>
      </a:p>
    </p188:txBody>
  </p188:cm>
</p188:cmLst>
</file>

<file path=ppt/comments/modernComment_151_3A8ABC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515788-430B-42C4-AB48-4BE7A2981142}" authorId="{D5B6B442-AA43-5DC3-BE9C-C4DF3D57D521}" created="2026-06-09T13:32:29.429">
    <pc:sldMkLst xmlns:pc="http://schemas.microsoft.com/office/powerpoint/2013/main/command">
      <pc:docMk/>
      <pc:sldMk cId="982170869" sldId="337"/>
    </pc:sldMkLst>
    <p188:txBody>
      <a:bodyPr/>
      <a:lstStyle/>
      <a:p>
        <a:r>
          <a:rPr lang="ko-KR" altLang="en-US"/>
          <a:t>각각의 Manager가 곧 Agent와 연결될까요? Manager와 Agent의 차이는 무엇일까요?​
DP2에서는 각 Manager를 Agent로 보고 Ochestrator는 AgentManager + SkillsManager 역할로 가정했습니다​</a:t>
        </a:r>
      </a:p>
    </p188:txBody>
  </p188:cm>
</p188:cmLst>
</file>

<file path=ppt/comments/modernComment_164_FD73F1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A163ED-6A6A-47CF-AAA3-2E8DFB2DDE1F}" authorId="{D5B6B442-AA43-5DC3-BE9C-C4DF3D57D521}" created="2026-06-09T13:55:36.541">
    <pc:sldMkLst xmlns:pc="http://schemas.microsoft.com/office/powerpoint/2013/main/command">
      <pc:docMk/>
      <pc:sldMk cId="4252234078" sldId="356"/>
    </pc:sldMkLst>
    <p188:txBody>
      <a:bodyPr/>
      <a:lstStyle/>
      <a:p>
        <a:r>
          <a:rPr lang="ko-KR" altLang="en-US"/>
          <a:t>캐시는 단순하고 DP4의 스토리지와 유사해보여 다른 아이디어도 좋을 것 같습니다.
탐색해보겠습니다.</a:t>
        </a:r>
      </a:p>
    </p188:txBody>
  </p188:cm>
</p188:cmLst>
</file>

<file path=ppt/comments/modernComment_166_11789F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5A3A9F-D676-41B0-A88F-A72BE4DE7B7D}" authorId="{D5B6B442-AA43-5DC3-BE9C-C4DF3D57D521}" created="2026-06-09T13:49:06.350">
    <pc:sldMkLst xmlns:pc="http://schemas.microsoft.com/office/powerpoint/2013/main/command">
      <pc:docMk/>
      <pc:sldMk cId="293117805" sldId="358"/>
    </pc:sldMkLst>
    <p188:txBody>
      <a:bodyPr/>
      <a:lstStyle/>
      <a:p>
        <a:r>
          <a:rPr lang="ko-KR" altLang="en-US"/>
          <a:t>DP끼리 유사한 대안들(pool, 인스턴스 분리 등)이 있는 것 같습니다. 어떻게 구분하면 좋을까요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2FC58-A188-F341-99C8-F63F63CE1231}" type="datetimeFigureOut">
              <a:rPr kumimoji="1" lang="ko-KR" altLang="en-US" smtClean="0"/>
              <a:t>2026-06-19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74A5B-7D36-244A-8108-AF2E113CB39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064B-F71E-FF56-2FBC-5CF531E8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627453-4DE9-1C34-7FD0-EFFA90D78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549B2-0268-4058-7154-21EEF479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63B536-FE70-86AE-0F0B-36873534D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74A5B-7D36-244A-8108-AF2E113CB39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529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74A5B-7D36-244A-8108-AF2E113CB39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19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2222-B53F-9CFB-3735-AB57C6CE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32134E-88EB-4648-8F45-FB8B479C6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A2302-1C8C-C823-1E08-92EA92786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F9D26-6848-9338-5F4B-CA506BD17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085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B131-A956-D390-4E6F-0DE8A532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BAF982-A9E8-8DFE-1DE3-6EB2CCE36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635CFA-B2D9-FD57-53B7-7041FBF98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3EF249-C5CD-43DF-D8F9-C07546F57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321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0F09-82C3-46CD-A9E5-5033341A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774A7-63D4-4FA4-8A18-42B17F664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689C8C-B4D9-EC6D-4B4E-F78690337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BCBD6F-69F3-3AC4-AA54-1D9134AF4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469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EDE6-F0F1-464A-B7E7-39620FB6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DA0620-48CA-9E4C-5192-6028A4E52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3C0F35-792F-4259-1774-4ED7AC4A0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27756-47BC-AEAC-506E-A54083DD2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287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B556-7297-751A-6485-29B1F5D3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67D7FC-9681-1DFA-EC1A-99415F0F6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90E03D-EB81-89F1-3E76-2AA808F9E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C804E-3609-0CCC-115A-9981BB8DB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564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4639-78B6-A22A-88ED-543B5BE3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15B4F3-C936-17E5-3993-3CE708A71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AA7BEF-7F15-B709-1BDA-A91622C63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B81A5-51EA-6EB3-334B-0DCBCB65B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969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17A3-EEFD-2A59-7D90-3F4AB208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E39D04-078C-8D6B-CCD8-6B658A57C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15ECEA-5871-FBB3-66F5-6EA99F0DB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9513A7-DED2-0465-057A-CEBB4B5AA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8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DE5D-F6B8-6EAA-01B4-424E2BC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DEEB8-2E13-BBE1-7F66-4DF812AC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A3D81-88A0-3C6E-C5FA-6F5F8D4E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D007B-FE00-B0C3-87D9-9ACED45C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929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DE5D-F6B8-6EAA-01B4-424E2BC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DEEB8-2E13-BBE1-7F66-4DF812AC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A3D81-88A0-3C6E-C5FA-6F5F8D4E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D007B-FE00-B0C3-87D9-9ACED45C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146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88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DEFA-5B0C-9A70-4D82-D78AC9C9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66303-306A-1927-61AE-A4D9C345F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FF5398-223E-5D2B-2738-4842BB57C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9AD3BD-3C33-F481-4A54-ACE2A6272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50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D128F-C61A-F551-5A50-48FAFDBB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BFED2E-8D46-7E57-73C2-69A710B8D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87B8BF-82B2-72E0-0EED-78B08BB1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0CC89D-E091-D473-502C-D7072F675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179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93CF-3869-9437-2C60-5B892A3E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B289A9-B442-28DC-2941-E8B08FF52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63B01-D2B7-39BB-89C5-7052FBCCC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B9802-DCE3-A618-C127-2402AF247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841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D690-4D7B-BC87-6F33-64340675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E8ADD-1B80-63E1-4FFD-55D65D59A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0269C-9E96-F492-5797-26D37DF2B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06974-E50C-0ED6-679A-D8CAC93E9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205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4D68-A2BF-F511-8B9A-3A99CFD0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9D21AA-1F36-5980-167E-7D88D207A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D0A786-80B2-9987-08DD-EC550F390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DF5FD-59A7-DE2B-E018-02FCEBFE8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881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E8AB-0276-B5E0-402C-9117BD2F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1D0E20-2C20-AD93-19B0-1B98BB1BA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37DF8A-145F-E1B7-CE61-760CF1B03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2CD58-CC3C-907C-CFFE-47B21C76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127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E96C-C728-15E7-D36C-AE857C62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0B3B4B-22D1-A8F0-E3ED-4BBD7CA46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9CDC2D-B02C-87AB-4E3B-D34BEA008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2628D-F3AD-92B7-2CD4-B6274172B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764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F8EC-5B2E-9EFE-4C1B-3EE71B88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A9D1C3-2C0F-BA64-E297-FA4E398EA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05AFBD-B4B5-C96F-6A2A-A76ECA43A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FCFD0-D9E2-F8BA-E118-F16F79E48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456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1358-B779-D7C9-407B-6F14E56B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F27BFA-441E-5190-328B-7844AF996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2B153A-22AA-C261-CD4C-06D8BBD0C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E1E7C-382F-6250-A8D4-B5F193A70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74A5B-7D36-244A-8108-AF2E113CB39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3974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DE5D-F6B8-6EAA-01B4-424E2BC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DEEB8-2E13-BBE1-7F66-4DF812AC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A3D81-88A0-3C6E-C5FA-6F5F8D4E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D007B-FE00-B0C3-87D9-9ACED45C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6180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DE5D-F6B8-6EAA-01B4-424E2BC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DEEB8-2E13-BBE1-7F66-4DF812AC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A3D81-88A0-3C6E-C5FA-6F5F8D4E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D007B-FE00-B0C3-87D9-9ACED45C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273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150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0954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0602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9984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E5A7A-3860-DA6E-8627-6BFA34B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1DECEC-3219-1827-AE8A-75337F9C2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6316A8-B89E-2BD9-4D46-506FDA31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B053D2-0E01-5DC9-0E81-0B6B23B2C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74A5B-7D36-244A-8108-AF2E113CB392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1068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21EF-AB0C-0CB6-72AC-64C9CB87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2F89DF-2DFB-43F9-50C4-6C2414E18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74CA1E-EEBD-5145-CCE6-6032D9779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3FB56-B0F7-52E1-A06D-DC5153DC1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DE595-CC22-0528-A1FA-3F6EE61E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5381A1-F127-688A-2C73-DAD245992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17490-F457-5113-0CF2-C8E6CA76F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9D34E3-F5E9-A043-E68B-A6E09AC4D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3190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622D9-012E-3D2F-1477-FCE4AD35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3FCA96-9B72-40A8-C938-5701B58C7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FC181-5BC2-D358-DDC1-A2F791D62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6C758-B94E-92F2-FFC3-EB3AF673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127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5B4E-EBF9-E902-F65E-2D2C9B4E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88B3A1-A9B5-4A74-8F6C-60BEDE6B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FD5F4C-F083-0C62-A4B2-5A6AE9269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A2DF0-EBBD-1CE9-EC76-179EA664B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518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1E81-9F94-974A-88CB-6DA4A917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06046E-6E12-8C53-14DD-09EA02889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446334-4990-998F-1554-BDE356054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65F08-5D7C-3DAF-C687-74F83E842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9972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FDF8-6F9B-7967-93A3-BF16E661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F3107-FAEE-A1F9-3A94-AC7D7B6D7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DECFF7-A900-E765-6443-993458EFB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CC645B-9784-6B28-72E2-FA46BCB9E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4165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DE5D-F6B8-6EAA-01B4-424E2BC3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3DEEB8-2E13-BBE1-7F66-4DF812AC0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A3D81-88A0-3C6E-C5FA-6F5F8D4EA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D007B-FE00-B0C3-87D9-9ACED45C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6002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9004-895F-D7E5-B3D0-556C125E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E32AD-17DF-8174-76FE-302E32A0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A3A70-9D4B-41C3-CD17-9A5860F1D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B14F0-8A19-9C22-77C4-26D84B27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214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D690-4D7B-BC87-6F33-64340675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E8ADD-1B80-63E1-4FFD-55D65D59A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0269C-9E96-F492-5797-26D37DF2B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06974-E50C-0ED6-679A-D8CAC93E9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6181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2A5B-7818-AA7D-2D28-86138129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D0C27E-219D-280C-2415-A2C043185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B920F7-BFC9-1F80-8F2C-B41B7605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21A8C2-CC33-F7F6-453C-F71301391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6586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2072-9249-FA6F-9376-EE4EC30E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DFDA6-095B-35C4-52E7-9A207725A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98EDCE-3425-2728-C76C-E13B49B72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178FE-9804-9C75-3EEB-4615DBCD9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2957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EF37-666D-86C9-5909-7295A450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EAD7-1986-1E67-B35E-FB605EDFB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47A503-BD69-6C0C-52F9-E7C4F18F6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E6E0C-67DC-8B62-8E27-12B8E5031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974A5B-7D36-244A-8108-AF2E113CB392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548C2-78FB-F77F-50E8-64D402A49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C1BA02-274F-83C7-ABCC-0467FFCB6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9092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FF751-C8A2-B2A1-98F0-149DB72F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A4ED5-A11A-2C48-E984-5DC304A4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5B90C380-836C-4CAE-120A-A8FFE7E8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5B414-FB0A-684A-A570-7F766F62E137}" type="slidenum">
              <a:rPr kumimoji="1" lang="ko-KR" altLang="en-US" smtClean="0"/>
              <a:pPr/>
              <a:t>‹#›</a:t>
            </a:fld>
            <a:r>
              <a:rPr kumimoji="1" lang="ko-KR" altLang="en-US"/>
              <a:t> </a:t>
            </a:r>
            <a:r>
              <a:rPr kumimoji="1" lang="en-US" altLang="ko-KR"/>
              <a:t>/ 20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626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82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38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C28C8-345D-D03C-CA93-48272507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73AF1-76E1-7589-CAE3-FFB477D40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7B40B-8BFE-9BDA-DB0B-7AF309479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47574-7121-4B98-3E5C-3A3A89BA7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9B3BFF-3B30-7262-A788-31C95DE78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5B414-FB0A-684A-A570-7F766F62E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16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5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1_3A8ABCF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8_71827A6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6_11789F6D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4_FD73F15E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5C7D2-F657-CA46-28DC-2924A847D2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/>
              <a:t>Agentic AI </a:t>
            </a:r>
            <a:r>
              <a:rPr lang="ko-KR" altLang="en-US" sz="4800" b="1"/>
              <a:t>기반 </a:t>
            </a:r>
            <a:r>
              <a:rPr lang="en-US" altLang="ko-KR" sz="4800" b="1"/>
              <a:t>On-device AI SDK </a:t>
            </a:r>
            <a:r>
              <a:rPr lang="ko-KR" altLang="en-US" sz="4800" b="1"/>
              <a:t>개발 자동화 시스템 설계 </a:t>
            </a:r>
            <a:br>
              <a:rPr lang="en-US" altLang="ko-KR" sz="4800" b="1"/>
            </a:br>
            <a:endParaRPr lang="ko-KR" altLang="en-US" sz="4800" b="1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6A92E-842C-D546-827A-93B13E7C2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2998"/>
            <a:ext cx="9144000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000">
                <a:ea typeface="맑은 고딕"/>
              </a:rPr>
              <a:t>2026. 7. 7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17</a:t>
            </a:r>
            <a:r>
              <a:rPr lang="ko-KR" altLang="en-US" sz="2000"/>
              <a:t>조 </a:t>
            </a:r>
            <a:endParaRPr lang="en-US" altLang="ko-KR" sz="2000"/>
          </a:p>
          <a:p>
            <a:r>
              <a:rPr lang="ko-KR" altLang="en-US" sz="2000">
                <a:ea typeface="맑은 고딕"/>
              </a:rPr>
              <a:t>경태현</a:t>
            </a:r>
            <a:r>
              <a:rPr lang="en-US" altLang="ko-KR" sz="2000">
                <a:ea typeface="맑은 고딕"/>
              </a:rPr>
              <a:t>, </a:t>
            </a:r>
            <a:r>
              <a:rPr lang="ko-KR" altLang="en-US" sz="2000">
                <a:ea typeface="맑은 고딕"/>
              </a:rPr>
              <a:t>배덕호</a:t>
            </a:r>
            <a:r>
              <a:rPr lang="en-US" altLang="ko-KR" sz="2000">
                <a:ea typeface="맑은 고딕"/>
              </a:rPr>
              <a:t>, </a:t>
            </a:r>
            <a:r>
              <a:rPr lang="ko-KR" altLang="en-US" sz="2000">
                <a:ea typeface="맑은 고딕"/>
              </a:rPr>
              <a:t>조웅근</a:t>
            </a:r>
            <a:r>
              <a:rPr lang="en-US" altLang="ko-KR" sz="2000">
                <a:ea typeface="맑은 고딕"/>
              </a:rPr>
              <a:t>, </a:t>
            </a:r>
            <a:r>
              <a:rPr lang="ko-KR" altLang="en-US" sz="2000">
                <a:ea typeface="맑은 고딕"/>
              </a:rPr>
              <a:t>양승준</a:t>
            </a:r>
          </a:p>
        </p:txBody>
      </p:sp>
    </p:spTree>
    <p:extLst>
      <p:ext uri="{BB962C8B-B14F-4D97-AF65-F5344CB8AC3E}">
        <p14:creationId xmlns:p14="http://schemas.microsoft.com/office/powerpoint/2010/main" val="399235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6950E-7D00-0FC3-605C-2E967F94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35375-7142-486D-5688-5A15F8D1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lang="en-US" altLang="ko-KR" sz="3600" b="1" err="1">
                <a:ea typeface="맑은 고딕"/>
              </a:rPr>
              <a:t>팀원</a:t>
            </a:r>
            <a:r>
              <a:rPr lang="en-US" altLang="ko-KR" sz="3600" b="1">
                <a:ea typeface="맑은 고딕"/>
              </a:rPr>
              <a:t> </a:t>
            </a:r>
            <a:r>
              <a:rPr lang="en-US" altLang="ko-KR" sz="3600" b="1" err="1">
                <a:ea typeface="맑은 고딕"/>
              </a:rPr>
              <a:t>소개</a:t>
            </a:r>
            <a:r>
              <a:rPr lang="en-US" altLang="ko-KR" sz="3600" b="1">
                <a:ea typeface="맑은 고딕"/>
              </a:rPr>
              <a:t>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A82FFD-1768-F478-4724-AE2355725FE8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45A2A1-5CCB-08D2-5317-2098BF25F727}"/>
              </a:ext>
            </a:extLst>
          </p:cNvPr>
          <p:cNvGrpSpPr/>
          <p:nvPr/>
        </p:nvGrpSpPr>
        <p:grpSpPr>
          <a:xfrm>
            <a:off x="21635" y="2155275"/>
            <a:ext cx="12148730" cy="3391710"/>
            <a:chOff x="-149235" y="2107147"/>
            <a:chExt cx="13548035" cy="3630815"/>
          </a:xfrm>
        </p:grpSpPr>
        <p:sp>
          <p:nvSpPr>
            <p:cNvPr id="4" name="육각형 3">
              <a:extLst>
                <a:ext uri="{FF2B5EF4-FFF2-40B4-BE49-F238E27FC236}">
                  <a16:creationId xmlns:a16="http://schemas.microsoft.com/office/drawing/2014/main" id="{D5AC89E5-6C47-F25E-A13D-C2E3BC2AFE19}"/>
                </a:ext>
              </a:extLst>
            </p:cNvPr>
            <p:cNvSpPr/>
            <p:nvPr/>
          </p:nvSpPr>
          <p:spPr>
            <a:xfrm rot="5400000">
              <a:off x="264275" y="2171892"/>
              <a:ext cx="1882588" cy="1753098"/>
            </a:xfrm>
            <a:prstGeom prst="hexagon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9D7F50-90D4-4182-ACA2-7888D53880D9}"/>
                </a:ext>
              </a:extLst>
            </p:cNvPr>
            <p:cNvSpPr txBox="1"/>
            <p:nvPr/>
          </p:nvSpPr>
          <p:spPr>
            <a:xfrm>
              <a:off x="-149235" y="4255329"/>
              <a:ext cx="2709607" cy="1482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400" err="1"/>
                <a:t>배덕호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AI</a:t>
              </a:r>
              <a:r>
                <a:rPr kumimoji="1" lang="ko-KR" altLang="en-US" sz="1400"/>
                <a:t>센터 </a:t>
              </a:r>
              <a:endParaRPr kumimoji="1" lang="en-US" altLang="ko-KR" sz="1400"/>
            </a:p>
            <a:p>
              <a:pPr algn="ctr"/>
              <a:r>
                <a:rPr kumimoji="1" lang="en-US" altLang="ko-KR" sz="1400"/>
                <a:t>S/W Platform </a:t>
              </a:r>
              <a:r>
                <a:rPr kumimoji="1" lang="ko-KR" altLang="en-US" sz="1400"/>
                <a:t>개발실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ko-KR" altLang="en-US" sz="1400"/>
                <a:t>추론 엔진 개발</a:t>
              </a:r>
              <a:endParaRPr kumimoji="1" lang="en-US" altLang="ko-KR" sz="1400"/>
            </a:p>
          </p:txBody>
        </p:sp>
        <p:sp>
          <p:nvSpPr>
            <p:cNvPr id="8" name="육각형 3">
              <a:extLst>
                <a:ext uri="{FF2B5EF4-FFF2-40B4-BE49-F238E27FC236}">
                  <a16:creationId xmlns:a16="http://schemas.microsoft.com/office/drawing/2014/main" id="{7E3E61FE-3251-B181-2D6A-7C38B764BCDC}"/>
                </a:ext>
              </a:extLst>
            </p:cNvPr>
            <p:cNvSpPr/>
            <p:nvPr/>
          </p:nvSpPr>
          <p:spPr>
            <a:xfrm rot="5400000">
              <a:off x="2973882" y="2171892"/>
              <a:ext cx="1882588" cy="1753098"/>
            </a:xfrm>
            <a:prstGeom prst="hexagon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4AB34C-5652-E951-DCA7-FECB9A73AC8D}"/>
                </a:ext>
              </a:extLst>
            </p:cNvPr>
            <p:cNvSpPr txBox="1"/>
            <p:nvPr/>
          </p:nvSpPr>
          <p:spPr>
            <a:xfrm>
              <a:off x="2560372" y="4255329"/>
              <a:ext cx="2709607" cy="1482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400" err="1"/>
                <a:t>경태현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AI</a:t>
              </a:r>
              <a:r>
                <a:rPr kumimoji="1" lang="ko-KR" altLang="en-US" sz="1400"/>
                <a:t>센터 </a:t>
              </a:r>
              <a:endParaRPr kumimoji="1" lang="en-US" altLang="ko-KR" sz="1400"/>
            </a:p>
            <a:p>
              <a:pPr algn="ctr"/>
              <a:r>
                <a:rPr kumimoji="1" lang="en-US" altLang="ko-KR" sz="1400"/>
                <a:t>S/W Engineering</a:t>
              </a:r>
              <a:r>
                <a:rPr kumimoji="1" lang="ko-KR" altLang="en-US" sz="1400"/>
                <a:t>팀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Client FW</a:t>
              </a:r>
            </a:p>
          </p:txBody>
        </p:sp>
        <p:sp>
          <p:nvSpPr>
            <p:cNvPr id="12" name="육각형 3">
              <a:extLst>
                <a:ext uri="{FF2B5EF4-FFF2-40B4-BE49-F238E27FC236}">
                  <a16:creationId xmlns:a16="http://schemas.microsoft.com/office/drawing/2014/main" id="{1B53D654-B05A-3040-AD57-5EF568A684AF}"/>
                </a:ext>
              </a:extLst>
            </p:cNvPr>
            <p:cNvSpPr/>
            <p:nvPr/>
          </p:nvSpPr>
          <p:spPr>
            <a:xfrm rot="5400000">
              <a:off x="5683489" y="2171892"/>
              <a:ext cx="1882588" cy="1753098"/>
            </a:xfrm>
            <a:prstGeom prst="hexagon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31461B-204D-5AB1-A1C8-D71E6145F735}"/>
                </a:ext>
              </a:extLst>
            </p:cNvPr>
            <p:cNvSpPr txBox="1"/>
            <p:nvPr/>
          </p:nvSpPr>
          <p:spPr>
            <a:xfrm>
              <a:off x="5269979" y="4255329"/>
              <a:ext cx="2709607" cy="1482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400" err="1"/>
                <a:t>양승준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ko-KR" altLang="en-US" sz="1400"/>
                <a:t>메모리 </a:t>
              </a:r>
              <a:endParaRPr kumimoji="1" lang="en-US" altLang="ko-KR" sz="1400"/>
            </a:p>
            <a:p>
              <a:pPr algn="ctr"/>
              <a:r>
                <a:rPr kumimoji="1" lang="en-US" altLang="ko-KR" sz="1400"/>
                <a:t>S/W</a:t>
              </a:r>
              <a:r>
                <a:rPr kumimoji="1" lang="ko-KR" altLang="en-US" sz="1400"/>
                <a:t>혁신 </a:t>
              </a:r>
              <a:r>
                <a:rPr kumimoji="1" lang="en-US" altLang="ko-KR" sz="1400"/>
                <a:t>P/J</a:t>
              </a:r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FW FTL Platform</a:t>
              </a:r>
            </a:p>
          </p:txBody>
        </p:sp>
        <p:sp>
          <p:nvSpPr>
            <p:cNvPr id="14" name="육각형 3">
              <a:extLst>
                <a:ext uri="{FF2B5EF4-FFF2-40B4-BE49-F238E27FC236}">
                  <a16:creationId xmlns:a16="http://schemas.microsoft.com/office/drawing/2014/main" id="{9E4AA41F-5FB5-27EF-B8F1-7F2A18D04EBE}"/>
                </a:ext>
              </a:extLst>
            </p:cNvPr>
            <p:cNvSpPr/>
            <p:nvPr/>
          </p:nvSpPr>
          <p:spPr>
            <a:xfrm rot="5400000">
              <a:off x="8393096" y="2171892"/>
              <a:ext cx="1882588" cy="1753098"/>
            </a:xfrm>
            <a:prstGeom prst="hexagon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F3385E-D379-AC6C-5FDD-648410CA0025}"/>
                </a:ext>
              </a:extLst>
            </p:cNvPr>
            <p:cNvSpPr txBox="1"/>
            <p:nvPr/>
          </p:nvSpPr>
          <p:spPr>
            <a:xfrm>
              <a:off x="7979586" y="4255329"/>
              <a:ext cx="2709607" cy="1482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400" err="1"/>
                <a:t>조웅근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ko-KR" altLang="en-US" sz="1400"/>
                <a:t>글</a:t>
              </a:r>
              <a:r>
                <a:rPr kumimoji="1" lang="en-US" altLang="ko-KR" sz="1400"/>
                <a:t>&amp;</a:t>
              </a:r>
              <a:r>
                <a:rPr kumimoji="1" lang="ko-KR" altLang="en-US" sz="1400"/>
                <a:t>총</a:t>
              </a:r>
              <a:endParaRPr kumimoji="1" lang="en-US" altLang="ko-KR" sz="1400"/>
            </a:p>
            <a:p>
              <a:pPr algn="ctr"/>
              <a:r>
                <a:rPr kumimoji="1" lang="en-US" altLang="ko-KR" sz="1400"/>
                <a:t>A-FAB</a:t>
              </a:r>
              <a:r>
                <a:rPr kumimoji="1" lang="ko-KR" altLang="en-US" sz="1400"/>
                <a:t>기술팀</a:t>
              </a:r>
              <a:endParaRPr kumimoji="1" lang="en-US" altLang="ko-KR" sz="1400"/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S/W Engineering</a:t>
              </a:r>
            </a:p>
          </p:txBody>
        </p:sp>
        <p:sp>
          <p:nvSpPr>
            <p:cNvPr id="16" name="육각형 3">
              <a:extLst>
                <a:ext uri="{FF2B5EF4-FFF2-40B4-BE49-F238E27FC236}">
                  <a16:creationId xmlns:a16="http://schemas.microsoft.com/office/drawing/2014/main" id="{A70D83A3-DFBE-D912-E054-142CFE5D7243}"/>
                </a:ext>
              </a:extLst>
            </p:cNvPr>
            <p:cNvSpPr/>
            <p:nvPr/>
          </p:nvSpPr>
          <p:spPr>
            <a:xfrm rot="5400000">
              <a:off x="11102703" y="2171892"/>
              <a:ext cx="1882588" cy="1753098"/>
            </a:xfrm>
            <a:prstGeom prst="hexag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AE4DAF-45FB-9E4B-8459-72C0D78E596B}"/>
                </a:ext>
              </a:extLst>
            </p:cNvPr>
            <p:cNvSpPr txBox="1"/>
            <p:nvPr/>
          </p:nvSpPr>
          <p:spPr>
            <a:xfrm>
              <a:off x="10689193" y="4255329"/>
              <a:ext cx="270960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1400"/>
                <a:t>전형준 </a:t>
              </a:r>
              <a:r>
                <a:rPr kumimoji="1" lang="en-US" altLang="ko-KR" sz="1400"/>
                <a:t>(</a:t>
              </a:r>
              <a:r>
                <a:rPr kumimoji="1" lang="ko-KR" altLang="en-US" sz="1400"/>
                <a:t>멘토</a:t>
              </a:r>
              <a:r>
                <a:rPr kumimoji="1" lang="en-US" altLang="ko-KR" sz="1400"/>
                <a:t>)</a:t>
              </a:r>
            </a:p>
            <a:p>
              <a:pPr algn="ctr"/>
              <a:endParaRPr kumimoji="1" lang="en-US" altLang="ko-KR" sz="1400"/>
            </a:p>
            <a:p>
              <a:pPr algn="ctr"/>
              <a:r>
                <a:rPr kumimoji="1" lang="en-US" altLang="ko-KR" sz="1400"/>
                <a:t>S.LSI</a:t>
              </a:r>
            </a:p>
            <a:p>
              <a:pPr algn="ctr"/>
              <a:r>
                <a:rPr kumimoji="1" lang="en-US" altLang="ko-KR" sz="1400"/>
                <a:t>AP S/W</a:t>
              </a:r>
              <a:r>
                <a:rPr kumimoji="1" lang="ko-KR" altLang="en-US" sz="1400"/>
                <a:t>개발팀</a:t>
              </a:r>
              <a:endParaRPr kumimoji="1" lang="en-US" altLang="ko-KR" sz="1400"/>
            </a:p>
          </p:txBody>
        </p:sp>
      </p:grpSp>
    </p:spTree>
    <p:extLst>
      <p:ext uri="{BB962C8B-B14F-4D97-AF65-F5344CB8AC3E}">
        <p14:creationId xmlns:p14="http://schemas.microsoft.com/office/powerpoint/2010/main" val="68480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1213-4314-DEC5-C6BB-FD243D7B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1C720-1466-B456-EBF9-A5D728E0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en-US" altLang="ko-KR" sz="3600" b="1"/>
              <a:t>Contents</a:t>
            </a:r>
            <a:endParaRPr kumimoji="1" lang="ko-KR" altLang="en-US" sz="36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B11CF-37EB-2F95-AF4A-AB48135F1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1509439"/>
            <a:ext cx="10515600" cy="4351338"/>
          </a:xfrm>
        </p:spPr>
        <p:txBody>
          <a:bodyPr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과제 소개</a:t>
            </a:r>
            <a:endParaRPr kumimoji="1" lang="en-US" altLang="ko-KR" sz="2000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600"/>
              <a:t>문제점</a:t>
            </a:r>
            <a:endParaRPr kumimoji="1" lang="en-US" altLang="ko-KR" sz="16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요구사항 분석</a:t>
            </a: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설계</a:t>
            </a:r>
            <a:endParaRPr kumimoji="1" lang="en-US" altLang="ko-KR" sz="2000"/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600"/>
              <a:t>Context Diagram (boundary </a:t>
            </a:r>
            <a:r>
              <a:rPr kumimoji="1" lang="ko-KR" altLang="en-US" sz="1600"/>
              <a:t>표시</a:t>
            </a:r>
            <a:r>
              <a:rPr kumimoji="1" lang="en-US" altLang="ko-KR" sz="1600"/>
              <a:t>)</a:t>
            </a:r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검증</a:t>
            </a: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결론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9EEE42-DA00-CF5B-D14B-6A5A24BF1EF0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478559-55BC-938E-5E51-F6D34595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51" t="15143" b="59013"/>
          <a:stretch>
            <a:fillRect/>
          </a:stretch>
        </p:blipFill>
        <p:spPr>
          <a:xfrm>
            <a:off x="5502770" y="2325511"/>
            <a:ext cx="5526177" cy="30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7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4B48-41CA-7053-1975-6D7E53F65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34CF4-FB95-4E0A-DCD0-65902F8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배경</a:t>
            </a:r>
            <a:r>
              <a:rPr kumimoji="1" lang="en-US" altLang="ko-KR" sz="2800" b="1"/>
              <a:t>| Business Needs</a:t>
            </a:r>
            <a:r>
              <a:rPr kumimoji="1" lang="ko-KR" altLang="en-US" sz="2800" b="1"/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9556CE-222B-EE99-F4FD-01163B1A93A9}"/>
              </a:ext>
            </a:extLst>
          </p:cNvPr>
          <p:cNvSpPr/>
          <p:nvPr/>
        </p:nvSpPr>
        <p:spPr>
          <a:xfrm flipV="1">
            <a:off x="773225" y="1120973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0DC2DFD-9FA6-96FE-F140-F01AD3454B00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5CBD8BB-0567-A14C-6C44-48CF6BA1611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61D2C67-8CB1-27D9-AC98-B1C28F3931D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86E7A5A-6882-6B2F-C0BA-C633BCB63931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1E0DEB7-57FD-3B56-2E00-2922D389D816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EC74762-F5CB-E2E5-C785-40A997FDDF43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6830423B-3C2D-1B82-0D7F-C4596E584F2D}"/>
              </a:ext>
            </a:extLst>
          </p:cNvPr>
          <p:cNvSpPr/>
          <p:nvPr/>
        </p:nvSpPr>
        <p:spPr>
          <a:xfrm>
            <a:off x="513347" y="1647109"/>
            <a:ext cx="3396773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lvl="1" latinLnBrk="0"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D5DD9-2ACB-2C80-1BBC-0768F66BE604}"/>
              </a:ext>
            </a:extLst>
          </p:cNvPr>
          <p:cNvSpPr txBox="1"/>
          <p:nvPr/>
        </p:nvSpPr>
        <p:spPr>
          <a:xfrm>
            <a:off x="363814" y="1289672"/>
            <a:ext cx="36958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수요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On-device AI 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중요성 증가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9AB017D-AFD1-4D8A-640F-F61F8B63A772}"/>
              </a:ext>
            </a:extLst>
          </p:cNvPr>
          <p:cNvSpPr/>
          <p:nvPr/>
        </p:nvSpPr>
        <p:spPr>
          <a:xfrm>
            <a:off x="4180353" y="1647109"/>
            <a:ext cx="3695839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E5611-F9EF-72C8-B0CA-13500C880FF5}"/>
              </a:ext>
            </a:extLst>
          </p:cNvPr>
          <p:cNvSpPr txBox="1"/>
          <p:nvPr/>
        </p:nvSpPr>
        <p:spPr>
          <a:xfrm>
            <a:off x="4338100" y="1289672"/>
            <a:ext cx="3302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워크로드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AI 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모델의 폭발적 증가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7EE2A72-84DC-B382-964B-C59870D0F682}"/>
              </a:ext>
            </a:extLst>
          </p:cNvPr>
          <p:cNvSpPr/>
          <p:nvPr/>
        </p:nvSpPr>
        <p:spPr>
          <a:xfrm>
            <a:off x="8113609" y="1647109"/>
            <a:ext cx="3695839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44B985-53CC-B89C-2C74-EE786425DE18}"/>
              </a:ext>
            </a:extLst>
          </p:cNvPr>
          <p:cNvSpPr txBox="1"/>
          <p:nvPr/>
        </p:nvSpPr>
        <p:spPr>
          <a:xfrm>
            <a:off x="8271356" y="1289672"/>
            <a:ext cx="3302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방법론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Agentic AI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의 성숙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3403BF-F118-0577-AF9D-6657B4388A26}"/>
              </a:ext>
            </a:extLst>
          </p:cNvPr>
          <p:cNvSpPr txBox="1"/>
          <p:nvPr/>
        </p:nvSpPr>
        <p:spPr>
          <a:xfrm>
            <a:off x="529596" y="1795643"/>
            <a:ext cx="3396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/>
              <a:t>AI</a:t>
            </a:r>
            <a:r>
              <a:rPr kumimoji="1" lang="ko-KR" altLang="en-US" sz="1400"/>
              <a:t>가 </a:t>
            </a:r>
            <a:r>
              <a:rPr kumimoji="1" lang="en-US" altLang="ko-KR" sz="1400"/>
              <a:t>Cloud</a:t>
            </a:r>
            <a:r>
              <a:rPr kumimoji="1" lang="ko-KR" altLang="en-US" sz="1400"/>
              <a:t> → </a:t>
            </a:r>
            <a:r>
              <a:rPr kumimoji="1" lang="en-US" altLang="ko-KR" sz="1400"/>
              <a:t>Edge/On-device</a:t>
            </a:r>
            <a:r>
              <a:rPr kumimoji="1" lang="ko-KR" altLang="en-US" sz="1400"/>
              <a:t>로 확산</a:t>
            </a:r>
            <a:endParaRPr kumimoji="1" lang="en-US" altLang="ko-KR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9A68F-C5A0-013B-D24B-5B698C3F8E45}"/>
              </a:ext>
            </a:extLst>
          </p:cNvPr>
          <p:cNvSpPr txBox="1"/>
          <p:nvPr/>
        </p:nvSpPr>
        <p:spPr>
          <a:xfrm>
            <a:off x="4284260" y="1866102"/>
            <a:ext cx="35594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/>
              <a:t>처리해야 할 절대량이 기하급수적으로 증가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Foundation/LLM</a:t>
            </a:r>
            <a:r>
              <a:rPr lang="ko-KR" altLang="en-US" sz="1400"/>
              <a:t>의 </a:t>
            </a:r>
            <a:r>
              <a:rPr lang="ko-KR" altLang="en-US" sz="1400" err="1"/>
              <a:t>엣지화</a:t>
            </a:r>
            <a:endParaRPr lang="en-US" altLang="ko-KR" sz="1400"/>
          </a:p>
          <a:p>
            <a:r>
              <a:rPr lang="en-US" altLang="ko-KR" sz="1400"/>
              <a:t>(</a:t>
            </a:r>
            <a:r>
              <a:rPr lang="ko-KR" altLang="en-US" sz="1400"/>
              <a:t>거대 모델이 디바이스로 내려오며 워크로드 복잡도 증가</a:t>
            </a:r>
            <a:r>
              <a:rPr lang="en-US" altLang="ko-KR" sz="1400"/>
              <a:t>)</a:t>
            </a:r>
            <a:r>
              <a:rPr lang="ko-KR" altLang="en-US" sz="1400"/>
              <a:t> </a:t>
            </a:r>
            <a:endParaRPr lang="en-US" altLang="ko-KR" sz="1400"/>
          </a:p>
          <a:p>
            <a:endParaRPr lang="ko-KR" alt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1F11C-FF3B-41BA-88F4-9BB1EB61E6AF}"/>
              </a:ext>
            </a:extLst>
          </p:cNvPr>
          <p:cNvSpPr txBox="1"/>
          <p:nvPr/>
        </p:nvSpPr>
        <p:spPr>
          <a:xfrm>
            <a:off x="8020739" y="4413779"/>
            <a:ext cx="2672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err="1"/>
              <a:t>LLM이</a:t>
            </a:r>
            <a:r>
              <a:rPr lang="ko-KR" altLang="ko-KR" sz="1400"/>
              <a:t> 도구 </a:t>
            </a:r>
            <a:r>
              <a:rPr lang="ko-KR" altLang="ko-KR" sz="1400" err="1"/>
              <a:t>사용·계획·실행</a:t>
            </a:r>
            <a:r>
              <a:rPr lang="ko-KR" altLang="ko-KR" sz="1400"/>
              <a:t> 가능한 수준 도달</a:t>
            </a:r>
            <a:endParaRPr lang="ko-KR" alt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CD63DB-E8AA-49B9-F6DE-3EF361D7CDEB}"/>
              </a:ext>
            </a:extLst>
          </p:cNvPr>
          <p:cNvSpPr txBox="1"/>
          <p:nvPr/>
        </p:nvSpPr>
        <p:spPr>
          <a:xfrm>
            <a:off x="620009" y="5135202"/>
            <a:ext cx="29356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/>
              <a:t>Edge </a:t>
            </a:r>
          </a:p>
          <a:p>
            <a:r>
              <a:rPr kumimoji="1" lang="en" altLang="ko-KR" sz="1400"/>
              <a:t>NPU</a:t>
            </a:r>
            <a:r>
              <a:rPr kumimoji="1" lang="ko-KR" altLang="en-US" sz="1400"/>
              <a:t>가 제품 경쟁력의 핵심 자산이 됨</a:t>
            </a:r>
            <a:endParaRPr lang="ko-KR" altLang="en-US" sz="140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C326FF15-F1FF-0529-1A2B-B03F4438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24" y="-6439811"/>
            <a:ext cx="12765624" cy="7846897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E61E69DC-69BC-C9A7-312F-9F09A215A2A0}"/>
              </a:ext>
            </a:extLst>
          </p:cNvPr>
          <p:cNvGrpSpPr/>
          <p:nvPr/>
        </p:nvGrpSpPr>
        <p:grpSpPr>
          <a:xfrm>
            <a:off x="708661" y="2296547"/>
            <a:ext cx="3006144" cy="2084996"/>
            <a:chOff x="743886" y="2704902"/>
            <a:chExt cx="3006144" cy="208499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5C53B43-8A94-9C59-5FB2-59F5596A1070}"/>
                </a:ext>
              </a:extLst>
            </p:cNvPr>
            <p:cNvGrpSpPr/>
            <p:nvPr/>
          </p:nvGrpSpPr>
          <p:grpSpPr>
            <a:xfrm>
              <a:off x="743886" y="2704902"/>
              <a:ext cx="3006144" cy="1898781"/>
              <a:chOff x="743886" y="2704902"/>
              <a:chExt cx="3006144" cy="1898781"/>
            </a:xfrm>
          </p:grpSpPr>
          <p:sp>
            <p:nvSpPr>
              <p:cNvPr id="33" name="양쪽 모서리가 둥근 사각형 32">
                <a:extLst>
                  <a:ext uri="{FF2B5EF4-FFF2-40B4-BE49-F238E27FC236}">
                    <a16:creationId xmlns:a16="http://schemas.microsoft.com/office/drawing/2014/main" id="{7C13A325-87D9-5C8E-D1A9-7E2A39E8A138}"/>
                  </a:ext>
                </a:extLst>
              </p:cNvPr>
              <p:cNvSpPr/>
              <p:nvPr/>
            </p:nvSpPr>
            <p:spPr>
              <a:xfrm>
                <a:off x="1054608" y="3833837"/>
                <a:ext cx="670560" cy="437684"/>
              </a:xfrm>
              <a:prstGeom prst="round2SameRect">
                <a:avLst/>
              </a:prstGeom>
              <a:solidFill>
                <a:srgbClr val="1960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FF220DD-724D-D53D-5800-AC73C4BB5B0C}"/>
                  </a:ext>
                </a:extLst>
              </p:cNvPr>
              <p:cNvSpPr txBox="1"/>
              <p:nvPr/>
            </p:nvSpPr>
            <p:spPr>
              <a:xfrm>
                <a:off x="1250525" y="2704902"/>
                <a:ext cx="24995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200"/>
                  <a:t>Edge AI Acc.</a:t>
                </a:r>
                <a:r>
                  <a:rPr kumimoji="1" lang="ko-KR" altLang="en-US" sz="1200"/>
                  <a:t> </a:t>
                </a:r>
                <a:r>
                  <a:rPr kumimoji="1" lang="en-US" altLang="ko-KR" sz="1200"/>
                  <a:t>Market</a:t>
                </a:r>
                <a:r>
                  <a:rPr kumimoji="1" lang="ko-KR" altLang="en-US" sz="1200"/>
                  <a:t> </a:t>
                </a:r>
                <a:r>
                  <a:rPr kumimoji="1" lang="en-US" altLang="ko-KR" sz="1200"/>
                  <a:t>(USD)</a:t>
                </a:r>
                <a:r>
                  <a:rPr kumimoji="1" lang="ko-KR" altLang="en-US" sz="1200" baseline="30000"/>
                  <a:t>*</a:t>
                </a:r>
                <a:endParaRPr lang="ko-KR" altLang="en-US" sz="1200" baseline="300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55332B-2C0F-4E3A-15D8-A3A53204E228}"/>
                  </a:ext>
                </a:extLst>
              </p:cNvPr>
              <p:cNvSpPr txBox="1"/>
              <p:nvPr/>
            </p:nvSpPr>
            <p:spPr>
              <a:xfrm>
                <a:off x="1044759" y="4293331"/>
                <a:ext cx="6902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ko-KR" sz="1400"/>
                  <a:t>2024</a:t>
                </a:r>
                <a:endParaRPr lang="ko-KR" altLang="en-US" sz="1400"/>
              </a:p>
            </p:txBody>
          </p:sp>
          <p:sp>
            <p:nvSpPr>
              <p:cNvPr id="38" name="양쪽 모서리가 둥근 사각형 37">
                <a:extLst>
                  <a:ext uri="{FF2B5EF4-FFF2-40B4-BE49-F238E27FC236}">
                    <a16:creationId xmlns:a16="http://schemas.microsoft.com/office/drawing/2014/main" id="{A81430AF-D9A3-E978-EF13-F6F045443DA2}"/>
                  </a:ext>
                </a:extLst>
              </p:cNvPr>
              <p:cNvSpPr/>
              <p:nvPr/>
            </p:nvSpPr>
            <p:spPr>
              <a:xfrm>
                <a:off x="2534746" y="3255071"/>
                <a:ext cx="670560" cy="1025351"/>
              </a:xfrm>
              <a:prstGeom prst="round2SameRect">
                <a:avLst/>
              </a:prstGeom>
              <a:solidFill>
                <a:srgbClr val="26CCB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78DDDC3-BD49-7070-4C8A-B4745CFE527F}"/>
                  </a:ext>
                </a:extLst>
              </p:cNvPr>
              <p:cNvSpPr txBox="1"/>
              <p:nvPr/>
            </p:nvSpPr>
            <p:spPr>
              <a:xfrm>
                <a:off x="2524897" y="4295906"/>
                <a:ext cx="6902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ko-KR" sz="1400"/>
                  <a:t>2030</a:t>
                </a:r>
                <a:endParaRPr lang="ko-KR" altLang="en-US" sz="1400"/>
              </a:p>
            </p:txBody>
          </p:sp>
          <p:cxnSp>
            <p:nvCxnSpPr>
              <p:cNvPr id="32" name="직선 연결선[R] 31">
                <a:extLst>
                  <a:ext uri="{FF2B5EF4-FFF2-40B4-BE49-F238E27FC236}">
                    <a16:creationId xmlns:a16="http://schemas.microsoft.com/office/drawing/2014/main" id="{4BE3520B-39AA-BA0F-CCAE-DFFE20E83970}"/>
                  </a:ext>
                </a:extLst>
              </p:cNvPr>
              <p:cNvCxnSpPr/>
              <p:nvPr/>
            </p:nvCxnSpPr>
            <p:spPr>
              <a:xfrm>
                <a:off x="743886" y="4283713"/>
                <a:ext cx="290635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8DF7AD-EAD8-DBB8-8740-8A6C4A06203C}"/>
                  </a:ext>
                </a:extLst>
              </p:cNvPr>
              <p:cNvSpPr txBox="1"/>
              <p:nvPr/>
            </p:nvSpPr>
            <p:spPr>
              <a:xfrm>
                <a:off x="2500278" y="3260119"/>
                <a:ext cx="8248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>
                    <a:solidFill>
                      <a:schemeClr val="bg1"/>
                    </a:solidFill>
                  </a:rPr>
                  <a:t>$35.8B</a:t>
                </a:r>
                <a:endParaRPr lang="ko-KR" alt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FD69F5-6A19-AF5B-161C-8824F14DCD14}"/>
                  </a:ext>
                </a:extLst>
              </p:cNvPr>
              <p:cNvSpPr txBox="1"/>
              <p:nvPr/>
            </p:nvSpPr>
            <p:spPr>
              <a:xfrm>
                <a:off x="1054372" y="3845014"/>
                <a:ext cx="82484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>
                    <a:solidFill>
                      <a:schemeClr val="bg1"/>
                    </a:solidFill>
                  </a:rPr>
                  <a:t>$7.5B</a:t>
                </a:r>
                <a:endParaRPr lang="ko-KR" altLang="en-US" sz="140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426DF69B-DB77-10A7-668E-72825D6C0B68}"/>
                  </a:ext>
                </a:extLst>
              </p:cNvPr>
              <p:cNvCxnSpPr/>
              <p:nvPr/>
            </p:nvCxnSpPr>
            <p:spPr>
              <a:xfrm flipV="1">
                <a:off x="1694688" y="3208972"/>
                <a:ext cx="805590" cy="473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D2FAA72-DBAA-DE5A-967D-E01A9C0903EB}"/>
                  </a:ext>
                </a:extLst>
              </p:cNvPr>
              <p:cNvSpPr txBox="1"/>
              <p:nvPr/>
            </p:nvSpPr>
            <p:spPr>
              <a:xfrm>
                <a:off x="1438021" y="3047362"/>
                <a:ext cx="8248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>
                    <a:solidFill>
                      <a:srgbClr val="26CCB8"/>
                    </a:solidFill>
                  </a:rPr>
                  <a:t>CAGR 31%</a:t>
                </a:r>
                <a:endParaRPr lang="ko-KR" altLang="en-US" sz="1400">
                  <a:solidFill>
                    <a:srgbClr val="26CCB8"/>
                  </a:solidFill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731580C-50D4-33F4-03BA-F703E69431C1}"/>
                </a:ext>
              </a:extLst>
            </p:cNvPr>
            <p:cNvSpPr txBox="1"/>
            <p:nvPr/>
          </p:nvSpPr>
          <p:spPr>
            <a:xfrm>
              <a:off x="743886" y="4543677"/>
              <a:ext cx="24995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ko-KR" altLang="en-US" sz="1000" i="1"/>
                <a:t>* </a:t>
              </a:r>
              <a:r>
                <a:rPr kumimoji="1" lang="en-US" altLang="ko-KR" sz="1000" i="1"/>
                <a:t>Mordor Intelligence</a:t>
              </a:r>
              <a:endParaRPr lang="ko-KR" altLang="en-US" sz="1000" i="1"/>
            </a:p>
          </p:txBody>
        </p:sp>
      </p:grpSp>
    </p:spTree>
    <p:extLst>
      <p:ext uri="{BB962C8B-B14F-4D97-AF65-F5344CB8AC3E}">
        <p14:creationId xmlns:p14="http://schemas.microsoft.com/office/powerpoint/2010/main" val="12507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9FA1-5103-12D5-B038-B1824653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1F423-733F-1A50-03B3-79B39B43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배경</a:t>
            </a:r>
            <a:r>
              <a:rPr kumimoji="1" lang="en-US" altLang="ko-KR" sz="2800" b="1"/>
              <a:t>| Business Needs</a:t>
            </a:r>
            <a:r>
              <a:rPr kumimoji="1" lang="ko-KR" altLang="en-US" sz="2800" b="1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182F0-5D9F-A63B-0610-BFDFCAD98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1502080"/>
            <a:ext cx="10515600" cy="4351338"/>
          </a:xfrm>
        </p:spPr>
        <p:txBody>
          <a:bodyPr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(</a:t>
            </a:r>
            <a:r>
              <a:rPr kumimoji="1" lang="ko-KR" altLang="en-US" sz="2000"/>
              <a:t>수요</a:t>
            </a:r>
            <a:r>
              <a:rPr kumimoji="1" lang="en-US" altLang="ko-KR" sz="2000"/>
              <a:t>)</a:t>
            </a:r>
            <a:r>
              <a:rPr kumimoji="1" lang="ko-KR" altLang="en-US" sz="2000"/>
              <a:t> </a:t>
            </a:r>
            <a:r>
              <a:rPr kumimoji="1" lang="en-US" altLang="ko-KR" sz="2000"/>
              <a:t>On-device AI </a:t>
            </a:r>
            <a:r>
              <a:rPr kumimoji="1" lang="ko-KR" altLang="en-US" sz="2000"/>
              <a:t>중요성 증가</a:t>
            </a:r>
            <a:r>
              <a:rPr kumimoji="1" lang="en-US" altLang="ko-KR" sz="2000"/>
              <a:t>:</a:t>
            </a:r>
            <a:r>
              <a:rPr kumimoji="1" lang="ko-KR" altLang="en-US" sz="2000"/>
              <a:t> 추론이 클라우드에서 </a:t>
            </a:r>
            <a:r>
              <a:rPr kumimoji="1" lang="ko-KR" altLang="en-US" sz="2000" err="1"/>
              <a:t>엣지</a:t>
            </a:r>
            <a:r>
              <a:rPr kumimoji="1" lang="en-US" altLang="ko-KR" sz="2000"/>
              <a:t>/</a:t>
            </a:r>
            <a:r>
              <a:rPr kumimoji="1" lang="ko-KR" altLang="en-US" sz="2000" err="1"/>
              <a:t>온디바이스로</a:t>
            </a:r>
            <a:r>
              <a:rPr kumimoji="1" lang="ko-KR" altLang="en-US" sz="2000"/>
              <a:t> 이동 </a:t>
            </a:r>
            <a:r>
              <a:rPr kumimoji="1" lang="en-US" altLang="ko-KR" sz="2000"/>
              <a:t>— </a:t>
            </a:r>
            <a:r>
              <a:rPr kumimoji="1" lang="en" altLang="ko-KR" sz="2000"/>
              <a:t>NPU</a:t>
            </a:r>
            <a:r>
              <a:rPr kumimoji="1" lang="ko-KR" altLang="en-US" sz="2000"/>
              <a:t>가 제품 경쟁력의 핵심 자산이 됨</a:t>
            </a:r>
            <a:r>
              <a:rPr kumimoji="1" lang="en-US" altLang="ko-KR" sz="2000"/>
              <a:t>. </a:t>
            </a:r>
            <a:r>
              <a:rPr kumimoji="1" lang="en" altLang="ko-KR" sz="2000"/>
              <a:t>SDK</a:t>
            </a:r>
            <a:r>
              <a:rPr kumimoji="1" lang="ko-KR" altLang="en-US" sz="2000"/>
              <a:t>는 그 가치를 실현하는 </a:t>
            </a:r>
            <a:r>
              <a:rPr kumimoji="1" lang="ko-KR" altLang="en-US" sz="2000" err="1"/>
              <a:t>게이트키퍼로</a:t>
            </a:r>
            <a:r>
              <a:rPr kumimoji="1" lang="ko-KR" altLang="en-US" sz="2000"/>
              <a:t> 격상</a:t>
            </a: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(</a:t>
            </a:r>
            <a:r>
              <a:rPr kumimoji="1" lang="ko-KR" altLang="en-US" sz="2000"/>
              <a:t>워크로드</a:t>
            </a:r>
            <a:r>
              <a:rPr kumimoji="1" lang="en-US" altLang="ko-KR" sz="2000"/>
              <a:t>)</a:t>
            </a:r>
            <a:r>
              <a:rPr kumimoji="1" lang="ko-KR" altLang="en-US" sz="2000"/>
              <a:t> </a:t>
            </a:r>
            <a:r>
              <a:rPr lang="en" altLang="ko-KR" sz="2000"/>
              <a:t>AI </a:t>
            </a:r>
            <a:r>
              <a:rPr lang="ko-KR" altLang="en-US" sz="2000"/>
              <a:t>모델의 폭발적 증가 </a:t>
            </a:r>
            <a:r>
              <a:rPr lang="en-US" altLang="ko-KR" sz="2000"/>
              <a:t>-</a:t>
            </a:r>
            <a:r>
              <a:rPr lang="ko-KR" altLang="en-US" sz="2000"/>
              <a:t> 처리해야 할 절대량이 기하급수적으로 증가 → 수작업</a:t>
            </a:r>
            <a:r>
              <a:rPr lang="en-US" altLang="ko-KR" sz="2000"/>
              <a:t>·</a:t>
            </a:r>
            <a:r>
              <a:rPr lang="ko-KR" altLang="en-US" sz="2000"/>
              <a:t>선형 인력으로는 감당 불가</a:t>
            </a:r>
            <a:endParaRPr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(</a:t>
            </a:r>
            <a:r>
              <a:rPr kumimoji="1" lang="ko-KR" altLang="en-US" sz="2000"/>
              <a:t>방법론</a:t>
            </a:r>
            <a:r>
              <a:rPr kumimoji="1" lang="en-US" altLang="ko-KR" sz="2000"/>
              <a:t>)</a:t>
            </a:r>
            <a:r>
              <a:rPr kumimoji="1" lang="ko-KR" altLang="en-US" sz="2000"/>
              <a:t> </a:t>
            </a:r>
            <a:r>
              <a:rPr lang="ko-KR" altLang="ko-KR" sz="2000" err="1"/>
              <a:t>Agentic</a:t>
            </a:r>
            <a:r>
              <a:rPr lang="ko-KR" altLang="ko-KR" sz="2000"/>
              <a:t> </a:t>
            </a:r>
            <a:r>
              <a:rPr lang="ko-KR" altLang="ko-KR" sz="2000" err="1"/>
              <a:t>AI의</a:t>
            </a:r>
            <a:r>
              <a:rPr lang="ko-KR" altLang="ko-KR" sz="2000"/>
              <a:t> 성숙 — </a:t>
            </a:r>
            <a:r>
              <a:rPr lang="ko-KR" altLang="ko-KR" sz="2000" err="1"/>
              <a:t>LLM이</a:t>
            </a:r>
            <a:r>
              <a:rPr lang="ko-KR" altLang="ko-KR" sz="2000"/>
              <a:t> 도구 </a:t>
            </a:r>
            <a:r>
              <a:rPr lang="ko-KR" altLang="ko-KR" sz="2000" err="1"/>
              <a:t>사용·계획·실행</a:t>
            </a:r>
            <a:r>
              <a:rPr lang="ko-KR" altLang="ko-KR" sz="2000"/>
              <a:t> 가능한 수준 도달</a:t>
            </a:r>
            <a:endParaRPr kumimoji="1" lang="en-US" altLang="ko-KR" sz="20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E48AEA-449B-45D8-9A3D-A2AC76DE8320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9F0E907-EE62-5D18-1D63-6FA3FB4A16E5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229CB24-7C8D-5A4D-FD78-4EF1F64259D5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DD56B8-B641-EBD8-5949-1F5B8531F2D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B1992F2-1ACC-FF07-B5E0-FC19C4075CE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731A50-ACBB-FB22-4963-5D217B65C495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DAFCF2F-B9FC-CEE9-4801-185969AC281A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409814E-A40C-91B9-16F1-D7BA18AB84C9}"/>
              </a:ext>
            </a:extLst>
          </p:cNvPr>
          <p:cNvSpPr txBox="1"/>
          <p:nvPr/>
        </p:nvSpPr>
        <p:spPr>
          <a:xfrm>
            <a:off x="741948" y="4583562"/>
            <a:ext cx="101292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[</a:t>
            </a:r>
            <a:r>
              <a:rPr lang="ko-KR" altLang="en-US" sz="1200" err="1"/>
              <a:t>A</a:t>
            </a:r>
            <a:r>
              <a:rPr lang="ko-KR" altLang="en-US" sz="1200"/>
              <a:t>] </a:t>
            </a:r>
            <a:r>
              <a:rPr lang="ko-KR" altLang="en-US" sz="1200" err="1"/>
              <a:t>온디바이스</a:t>
            </a:r>
            <a:r>
              <a:rPr lang="ko-KR" altLang="en-US" sz="1200"/>
              <a:t> AI 전환  ─┐</a:t>
            </a:r>
          </a:p>
          <a:p>
            <a:r>
              <a:rPr lang="ko-KR" altLang="en-US" sz="1200"/>
              <a:t>                                 ├─→ NPU 가치 실현 압박 ─→ </a:t>
            </a:r>
            <a:r>
              <a:rPr lang="ko-KR" altLang="en-US" sz="1200" err="1"/>
              <a:t>SDK가</a:t>
            </a:r>
            <a:r>
              <a:rPr lang="ko-KR" altLang="en-US" sz="1200"/>
              <a:t> </a:t>
            </a:r>
            <a:r>
              <a:rPr lang="ko-KR" altLang="en-US" sz="1200" err="1"/>
              <a:t>critical</a:t>
            </a:r>
            <a:r>
              <a:rPr lang="ko-KR" altLang="en-US" sz="1200"/>
              <a:t> </a:t>
            </a:r>
            <a:r>
              <a:rPr lang="ko-KR" altLang="en-US" sz="1200" err="1"/>
              <a:t>path</a:t>
            </a:r>
            <a:endParaRPr lang="ko-KR" altLang="en-US" sz="1200"/>
          </a:p>
          <a:p>
            <a:r>
              <a:rPr lang="ko-KR" altLang="en-US" sz="1200"/>
              <a:t>[</a:t>
            </a:r>
            <a:r>
              <a:rPr lang="ko-KR" altLang="en-US" sz="1200" err="1"/>
              <a:t>B</a:t>
            </a:r>
            <a:r>
              <a:rPr lang="ko-KR" altLang="en-US" sz="1200"/>
              <a:t>] </a:t>
            </a:r>
            <a:r>
              <a:rPr lang="en-US" altLang="ko-KR" sz="1200"/>
              <a:t>AI App.</a:t>
            </a:r>
            <a:r>
              <a:rPr lang="ko-KR" altLang="en-US" sz="1200"/>
              <a:t> 폭증 </a:t>
            </a:r>
            <a:r>
              <a:rPr lang="en-US" altLang="ko-KR" sz="1200"/>
              <a:t>        </a:t>
            </a:r>
            <a:r>
              <a:rPr lang="ko-KR" altLang="en-US" sz="1200"/>
              <a:t> ─┘                    │</a:t>
            </a:r>
          </a:p>
          <a:p>
            <a:r>
              <a:rPr lang="ko-KR" altLang="en-US" sz="1200"/>
              <a:t>                                                        ▼</a:t>
            </a:r>
          </a:p>
          <a:p>
            <a:r>
              <a:rPr lang="ko-KR" altLang="en-US" sz="1200"/>
              <a:t>[C] </a:t>
            </a:r>
            <a:r>
              <a:rPr lang="ko-KR" altLang="en-US" sz="1200" err="1"/>
              <a:t>Agentic</a:t>
            </a:r>
            <a:r>
              <a:rPr lang="ko-KR" altLang="en-US" sz="1200"/>
              <a:t> AI 성숙 ────────────────→ 개발 프로세스 자동화</a:t>
            </a:r>
            <a:r>
              <a:rPr lang="en-US" altLang="ko-KR" sz="1200"/>
              <a:t> </a:t>
            </a:r>
            <a:r>
              <a:rPr lang="ko-KR" altLang="en-US" sz="1200"/>
              <a:t>가능</a:t>
            </a:r>
          </a:p>
          <a:p>
            <a:r>
              <a:rPr lang="en-US" altLang="ko-KR" sz="1200"/>
              <a:t>                          </a:t>
            </a:r>
            <a:r>
              <a:rPr lang="ko-KR" altLang="en-US" sz="1200"/>
              <a:t>                                                        │</a:t>
            </a:r>
          </a:p>
          <a:p>
            <a:r>
              <a:rPr lang="ko-KR" altLang="en-US" sz="1200"/>
              <a:t>                                          ┌─────────────┴─────────────┐</a:t>
            </a:r>
          </a:p>
          <a:p>
            <a:r>
              <a:rPr lang="ko-KR" altLang="en-US" sz="1200"/>
              <a:t>                                          ▼                    </a:t>
            </a:r>
            <a:r>
              <a:rPr lang="en-US" altLang="ko-KR" sz="1200"/>
              <a:t>				</a:t>
            </a:r>
            <a:r>
              <a:rPr lang="ko-KR" altLang="en-US" sz="1200"/>
              <a:t>   ▼</a:t>
            </a:r>
          </a:p>
          <a:p>
            <a:r>
              <a:rPr lang="ko-KR" altLang="en-US" sz="1200"/>
              <a:t>                                 결정적 파이프라인 자동화     </a:t>
            </a:r>
            <a:r>
              <a:rPr lang="en-US" altLang="ko-KR" sz="1200"/>
              <a:t>		  </a:t>
            </a:r>
            <a:r>
              <a:rPr lang="ko-KR" altLang="en-US" sz="1200"/>
              <a:t> 비결정적 판단 = </a:t>
            </a:r>
            <a:r>
              <a:rPr lang="ko-KR" altLang="en-US" sz="1200" err="1"/>
              <a:t>Agent</a:t>
            </a:r>
            <a:endParaRPr lang="en-US" altLang="ko-KR" sz="1200"/>
          </a:p>
          <a:p>
            <a:r>
              <a:rPr lang="ko-KR" altLang="en-US" sz="1200"/>
              <a:t>                    </a:t>
            </a:r>
            <a:r>
              <a:rPr lang="en-US" altLang="ko-KR" sz="1200"/>
              <a:t>					</a:t>
            </a:r>
            <a:r>
              <a:rPr lang="ko-KR" altLang="en-US" sz="1200"/>
              <a:t>* </a:t>
            </a:r>
            <a:r>
              <a:rPr lang="ko-KR" altLang="ko-KR" sz="1200"/>
              <a:t>에러 </a:t>
            </a:r>
            <a:r>
              <a:rPr lang="ko-KR" altLang="ko-KR" sz="1200" err="1"/>
              <a:t>라우팅·변경</a:t>
            </a:r>
            <a:r>
              <a:rPr lang="ko-KR" altLang="ko-KR" sz="1200"/>
              <a:t> 영향도 </a:t>
            </a:r>
            <a:r>
              <a:rPr lang="ko-KR" altLang="ko-KR" sz="1200" err="1"/>
              <a:t>예측·재검증</a:t>
            </a:r>
            <a:r>
              <a:rPr lang="ko-KR" altLang="ko-KR" sz="1200"/>
              <a:t> </a:t>
            </a:r>
            <a:r>
              <a:rPr lang="ko-KR" altLang="ko-KR" sz="1200" err="1"/>
              <a:t>우선순위·Jira</a:t>
            </a:r>
            <a:r>
              <a:rPr lang="ko-KR" altLang="ko-KR" sz="1200"/>
              <a:t> 워크플로</a:t>
            </a:r>
            <a:endParaRPr lang="ko-KR" alt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73616-A760-0834-7C65-F421D447630B}"/>
              </a:ext>
            </a:extLst>
          </p:cNvPr>
          <p:cNvSpPr txBox="1"/>
          <p:nvPr/>
        </p:nvSpPr>
        <p:spPr>
          <a:xfrm>
            <a:off x="741948" y="653298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[수요]   </a:t>
            </a:r>
            <a:r>
              <a:rPr lang="ko-KR" altLang="en-US" sz="1200" err="1"/>
              <a:t>On-Device</a:t>
            </a:r>
            <a:r>
              <a:rPr lang="ko-KR" altLang="en-US" sz="1200"/>
              <a:t> AI 모델 요구사항 급증</a:t>
            </a:r>
          </a:p>
          <a:p>
            <a:r>
              <a:rPr lang="ko-KR" altLang="en-US" sz="1200"/>
              <a:t>   │      (</a:t>
            </a:r>
            <a:r>
              <a:rPr lang="ko-KR" altLang="en-US" sz="1200" err="1"/>
              <a:t>프라이버시·레이턴시·비용·오프라인</a:t>
            </a:r>
            <a:r>
              <a:rPr lang="ko-KR" altLang="en-US" sz="1200"/>
              <a:t> 동작)</a:t>
            </a:r>
          </a:p>
          <a:p>
            <a:r>
              <a:rPr lang="ko-KR" altLang="en-US" sz="1200"/>
              <a:t>   ▼</a:t>
            </a:r>
          </a:p>
          <a:p>
            <a:r>
              <a:rPr lang="ko-KR" altLang="en-US" sz="1200"/>
              <a:t>[자산]   </a:t>
            </a:r>
            <a:r>
              <a:rPr lang="ko-KR" altLang="en-US" sz="1200" err="1"/>
              <a:t>Exynos</a:t>
            </a:r>
            <a:r>
              <a:rPr lang="ko-KR" altLang="en-US" sz="1200"/>
              <a:t> </a:t>
            </a:r>
            <a:r>
              <a:rPr lang="ko-KR" altLang="en-US" sz="1200" err="1"/>
              <a:t>SoC에서</a:t>
            </a:r>
            <a:r>
              <a:rPr lang="ko-KR" altLang="en-US" sz="1200"/>
              <a:t> </a:t>
            </a:r>
            <a:r>
              <a:rPr lang="ko-KR" altLang="en-US" sz="1200" err="1"/>
              <a:t>NPU가</a:t>
            </a:r>
            <a:r>
              <a:rPr lang="ko-KR" altLang="en-US" sz="1200"/>
              <a:t> 핵심 차별화 자산으로 부상</a:t>
            </a:r>
          </a:p>
          <a:p>
            <a:r>
              <a:rPr lang="ko-KR" altLang="en-US" sz="1200"/>
              <a:t>   │</a:t>
            </a:r>
          </a:p>
          <a:p>
            <a:r>
              <a:rPr lang="ko-KR" altLang="en-US" sz="1200"/>
              <a:t>   ▼</a:t>
            </a:r>
          </a:p>
          <a:p>
            <a:r>
              <a:rPr lang="ko-KR" altLang="en-US" sz="1200"/>
              <a:t>[병목]   NPU 성능을 실현하는 </a:t>
            </a:r>
            <a:r>
              <a:rPr lang="ko-KR" altLang="en-US" sz="1200" err="1"/>
              <a:t>On-Device</a:t>
            </a:r>
            <a:r>
              <a:rPr lang="ko-KR" altLang="en-US" sz="1200"/>
              <a:t> AI </a:t>
            </a:r>
            <a:r>
              <a:rPr lang="ko-KR" altLang="en-US" sz="1200" err="1"/>
              <a:t>SDK가</a:t>
            </a:r>
            <a:r>
              <a:rPr lang="ko-KR" altLang="en-US" sz="1200"/>
              <a:t> 제품 출시 </a:t>
            </a:r>
            <a:r>
              <a:rPr lang="ko-KR" altLang="en-US" sz="1200" err="1"/>
              <a:t>Critical</a:t>
            </a:r>
            <a:r>
              <a:rPr lang="ko-KR" altLang="en-US" sz="1200"/>
              <a:t> </a:t>
            </a:r>
            <a:r>
              <a:rPr lang="ko-KR" altLang="en-US" sz="1200" err="1"/>
              <a:t>Path에</a:t>
            </a:r>
            <a:r>
              <a:rPr lang="ko-KR" altLang="en-US" sz="1200"/>
              <a:t> 위치</a:t>
            </a:r>
          </a:p>
          <a:p>
            <a:r>
              <a:rPr lang="ko-KR" altLang="en-US" sz="1200"/>
              <a:t>   │</a:t>
            </a:r>
          </a:p>
          <a:p>
            <a:r>
              <a:rPr lang="ko-KR" altLang="en-US" sz="1200"/>
              <a:t>   ▼</a:t>
            </a:r>
          </a:p>
          <a:p>
            <a:r>
              <a:rPr lang="ko-KR" altLang="en-US" sz="1200"/>
              <a:t>[기능]   SDK = AI 모델을 NPU 구동 가능 형태로 </a:t>
            </a:r>
            <a:r>
              <a:rPr lang="ko-KR" altLang="en-US" sz="1200" err="1"/>
              <a:t>최적화·양자화·컴파일</a:t>
            </a:r>
            <a:endParaRPr lang="ko-KR" altLang="en-US" sz="1200"/>
          </a:p>
          <a:p>
            <a:r>
              <a:rPr lang="ko-KR" altLang="en-US" sz="1200"/>
              <a:t>   │      (IR → </a:t>
            </a:r>
            <a:r>
              <a:rPr lang="ko-KR" altLang="en-US" sz="1200" err="1"/>
              <a:t>Graph</a:t>
            </a:r>
            <a:r>
              <a:rPr lang="ko-KR" altLang="en-US" sz="1200"/>
              <a:t> </a:t>
            </a:r>
            <a:r>
              <a:rPr lang="ko-KR" altLang="en-US" sz="1200" err="1"/>
              <a:t>Optimizer</a:t>
            </a:r>
            <a:r>
              <a:rPr lang="ko-KR" altLang="en-US" sz="1200"/>
              <a:t> → </a:t>
            </a:r>
            <a:r>
              <a:rPr lang="ko-KR" altLang="en-US" sz="1200" err="1"/>
              <a:t>Quantizer</a:t>
            </a:r>
            <a:r>
              <a:rPr lang="ko-KR" altLang="en-US" sz="1200"/>
              <a:t> → </a:t>
            </a:r>
            <a:r>
              <a:rPr lang="ko-KR" altLang="en-US" sz="1200" err="1"/>
              <a:t>Compiler</a:t>
            </a:r>
            <a:r>
              <a:rPr lang="ko-KR" altLang="en-US" sz="1200"/>
              <a:t> → NPU </a:t>
            </a:r>
            <a:r>
              <a:rPr lang="ko-KR" altLang="en-US" sz="1200" err="1"/>
              <a:t>Binary</a:t>
            </a:r>
            <a:r>
              <a:rPr lang="ko-KR" altLang="en-US" sz="1200"/>
              <a:t>)</a:t>
            </a:r>
          </a:p>
          <a:p>
            <a:r>
              <a:rPr lang="ko-KR" altLang="en-US" sz="1200"/>
              <a:t>   ▼</a:t>
            </a:r>
          </a:p>
          <a:p>
            <a:r>
              <a:rPr lang="ko-KR" altLang="en-US" sz="1200"/>
              <a:t>[부하]   지원 모델 수 급증 + 단계별 개발 복잡도 상승 → 수작업 핸드오프가 병목</a:t>
            </a:r>
          </a:p>
          <a:p>
            <a:r>
              <a:rPr lang="ko-KR" altLang="en-US" sz="1200"/>
              <a:t>   │</a:t>
            </a:r>
          </a:p>
          <a:p>
            <a:r>
              <a:rPr lang="ko-KR" altLang="en-US" sz="1200"/>
              <a:t>   ▼</a:t>
            </a:r>
          </a:p>
          <a:p>
            <a:r>
              <a:rPr lang="ko-KR" altLang="en-US" sz="1200"/>
              <a:t>[과제]   </a:t>
            </a:r>
            <a:r>
              <a:rPr lang="ko-KR" altLang="en-US" sz="1200" err="1"/>
              <a:t>Agentic</a:t>
            </a:r>
            <a:r>
              <a:rPr lang="ko-KR" altLang="en-US" sz="1200"/>
              <a:t> AI 기반 </a:t>
            </a:r>
            <a:r>
              <a:rPr lang="ko-KR" altLang="en-US" sz="1200" err="1"/>
              <a:t>Workflow</a:t>
            </a:r>
            <a:r>
              <a:rPr lang="ko-KR" altLang="en-US" sz="1200"/>
              <a:t> 자동화로 SDK 개발 프로세스를 확장(</a:t>
            </a:r>
            <a:r>
              <a:rPr lang="ko-KR" altLang="en-US" sz="1200" err="1"/>
              <a:t>scale</a:t>
            </a:r>
            <a:r>
              <a:rPr lang="ko-KR" altLang="en-US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140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4C90-D13A-4CE3-EC6C-C0354510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F6502-E247-9F01-A420-9E821FC4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필요성</a:t>
            </a:r>
            <a:r>
              <a:rPr kumimoji="1" lang="en-US" altLang="ko-KR" sz="2800" b="1"/>
              <a:t>| Business Needs</a:t>
            </a:r>
            <a:r>
              <a:rPr kumimoji="1" lang="ko-KR" altLang="en-US" sz="2800" b="1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724047-00EA-3F21-B3D9-6BA04A1E2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1502080"/>
            <a:ext cx="10515600" cy="4351338"/>
          </a:xfrm>
        </p:spPr>
        <p:txBody>
          <a:bodyPr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lang="en-US" altLang="ko-KR" sz="2000"/>
              <a:t>NPU</a:t>
            </a:r>
            <a:r>
              <a:rPr lang="ko-KR" altLang="en-US" sz="2000"/>
              <a:t>는 세대마다 수백 개 모델을 처리 → </a:t>
            </a:r>
            <a:r>
              <a:rPr lang="en-US" altLang="ko-KR" sz="2000"/>
              <a:t>Time to Market </a:t>
            </a:r>
            <a:r>
              <a:rPr lang="ko-KR" altLang="en-US" sz="2000"/>
              <a:t>압박</a:t>
            </a:r>
            <a:endParaRPr lang="en-US" altLang="ko-KR" sz="2000"/>
          </a:p>
          <a:p>
            <a:pPr marL="768350" lvl="1" indent="-311150">
              <a:lnSpc>
                <a:spcPct val="150000"/>
              </a:lnSpc>
            </a:pPr>
            <a:r>
              <a:rPr lang="ko-KR" altLang="en-US" sz="1600" err="1"/>
              <a:t>조합수</a:t>
            </a:r>
            <a:r>
              <a:rPr lang="ko-KR" altLang="en-US" sz="1600"/>
              <a:t> 폭발</a:t>
            </a:r>
            <a:r>
              <a:rPr lang="en-US" altLang="ko-KR" sz="1600"/>
              <a:t>:</a:t>
            </a:r>
            <a:r>
              <a:rPr lang="ko-KR" altLang="en-US" sz="1600"/>
              <a:t> </a:t>
            </a:r>
            <a:r>
              <a:rPr lang="ko-KR" altLang="ko-KR" sz="1600"/>
              <a:t>모델 수 × 세대 수 × 파이프라인 단계</a:t>
            </a:r>
            <a:r>
              <a:rPr lang="ko-KR" altLang="en-US" sz="1600"/>
              <a:t> </a:t>
            </a:r>
            <a:endParaRPr lang="en-US" altLang="ko-KR" sz="1600"/>
          </a:p>
          <a:p>
            <a:pPr marL="311150" indent="-311150">
              <a:lnSpc>
                <a:spcPct val="150000"/>
              </a:lnSpc>
            </a:pP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2000"/>
              <a:t>지원 모델 수 급증</a:t>
            </a:r>
            <a:r>
              <a:rPr kumimoji="1" lang="en-US" altLang="ko-KR" sz="2000"/>
              <a:t>,</a:t>
            </a:r>
            <a:r>
              <a:rPr kumimoji="1" lang="ko-KR" altLang="en-US" sz="2000"/>
              <a:t> 개발 복잡도 높아지고 있음</a:t>
            </a: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Agentic AI</a:t>
            </a:r>
            <a:r>
              <a:rPr kumimoji="1" lang="ko-KR" altLang="en-US" sz="2000"/>
              <a:t> 활용한 </a:t>
            </a:r>
            <a:r>
              <a:rPr kumimoji="1" lang="en-US" altLang="ko-KR" sz="2000"/>
              <a:t>Workflow </a:t>
            </a:r>
            <a:r>
              <a:rPr kumimoji="1" lang="ko-KR" altLang="en-US" sz="2000"/>
              <a:t>기반 </a:t>
            </a:r>
            <a:r>
              <a:rPr kumimoji="1" lang="en-US" altLang="ko-KR" sz="2000"/>
              <a:t>SDK </a:t>
            </a:r>
            <a:r>
              <a:rPr kumimoji="1" lang="ko-KR" altLang="en-US" sz="2000"/>
              <a:t>개발 프로세스 자동화 시스템 개발 필요</a:t>
            </a:r>
            <a:endParaRPr kumimoji="1" lang="en-US" altLang="ko-KR" sz="2000"/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600"/>
              <a:t>Configurable Workflow,</a:t>
            </a:r>
            <a:r>
              <a:rPr kumimoji="1" lang="ko-KR" altLang="en-US" sz="1600"/>
              <a:t> 신뢰할 수 있는 환경에서 개발 검증 수행</a:t>
            </a:r>
            <a:endParaRPr kumimoji="1" lang="en-US" altLang="ko-KR" sz="1600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600"/>
              <a:t>산출물을 체계적으로 관리하고</a:t>
            </a:r>
            <a:r>
              <a:rPr kumimoji="1" lang="en-US" altLang="ko-KR" sz="1600"/>
              <a:t>,</a:t>
            </a:r>
            <a:r>
              <a:rPr kumimoji="1" lang="ko-KR" altLang="en-US" sz="1600"/>
              <a:t> 이슈 재현 가능한 </a:t>
            </a:r>
            <a:r>
              <a:rPr kumimoji="1" lang="en-US" altLang="ko-KR" sz="1600"/>
              <a:t>SDK </a:t>
            </a:r>
            <a:r>
              <a:rPr kumimoji="1" lang="ko-KR" altLang="en-US" sz="1600"/>
              <a:t>개발 환경 제공 </a:t>
            </a:r>
            <a:endParaRPr kumimoji="1" lang="en-US" altLang="ko-KR" sz="1600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600"/>
              <a:t>다양한 문제 해결 위한 </a:t>
            </a:r>
            <a:r>
              <a:rPr kumimoji="1" lang="en-US" altLang="ko-KR" sz="1600"/>
              <a:t>Multi-Agent</a:t>
            </a:r>
          </a:p>
          <a:p>
            <a:pPr marL="311150" indent="-311150">
              <a:lnSpc>
                <a:spcPct val="150000"/>
              </a:lnSpc>
            </a:pP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On-Device</a:t>
            </a:r>
            <a:r>
              <a:rPr kumimoji="1" lang="ko-KR" altLang="en-US" sz="2000"/>
              <a:t> </a:t>
            </a:r>
            <a:r>
              <a:rPr kumimoji="1" lang="en-US" altLang="ko-KR" sz="2000"/>
              <a:t>AI</a:t>
            </a:r>
            <a:r>
              <a:rPr kumimoji="1" lang="ko-KR" altLang="en-US" sz="2000"/>
              <a:t> </a:t>
            </a:r>
            <a:r>
              <a:rPr kumimoji="1" lang="en-US" altLang="ko-KR" sz="2000"/>
              <a:t>SDK:</a:t>
            </a:r>
            <a:r>
              <a:rPr kumimoji="1" lang="ko-KR" altLang="en-US" sz="2000"/>
              <a:t> </a:t>
            </a:r>
            <a:r>
              <a:rPr kumimoji="1" lang="en-US" altLang="ko-KR" sz="2000"/>
              <a:t>NPU </a:t>
            </a:r>
            <a:r>
              <a:rPr kumimoji="1" lang="ko-KR" altLang="en-US" sz="2000"/>
              <a:t>구동을 위한 </a:t>
            </a:r>
            <a:r>
              <a:rPr kumimoji="1" lang="en-US" altLang="ko-KR" sz="2000"/>
              <a:t>AI </a:t>
            </a:r>
            <a:r>
              <a:rPr kumimoji="1" lang="ko-KR" altLang="en-US" sz="2000"/>
              <a:t>모델 최적화</a:t>
            </a:r>
            <a:r>
              <a:rPr kumimoji="1" lang="en-US" altLang="ko-KR" sz="2000"/>
              <a:t>,</a:t>
            </a:r>
            <a:r>
              <a:rPr kumimoji="1" lang="ko-KR" altLang="en-US" sz="2000"/>
              <a:t> 양자화</a:t>
            </a:r>
            <a:r>
              <a:rPr kumimoji="1" lang="en-US" altLang="ko-KR" sz="2000"/>
              <a:t>,</a:t>
            </a:r>
            <a:r>
              <a:rPr kumimoji="1" lang="ko-KR" altLang="en-US" sz="2000"/>
              <a:t> 컴파일 기능 제공</a:t>
            </a:r>
            <a:endParaRPr kumimoji="1" lang="en-US" altLang="ko-KR" sz="2000"/>
          </a:p>
          <a:p>
            <a:pPr marL="311150" indent="-311150">
              <a:lnSpc>
                <a:spcPct val="150000"/>
              </a:lnSpc>
            </a:pPr>
            <a:endParaRPr kumimoji="1" lang="en-US" altLang="ko-KR" sz="20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376086-1EB8-D074-E15B-3197282CC48B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B475C2-ECEF-589F-45C7-3F4FC536FE33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1BCA6B4-0AE5-CC1C-2AF9-49003FAB4E9A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6961E03-510E-3FC9-D207-E6860B48FDE2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161DB42-17E2-31BB-415C-94228B92E1EF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5065DCD-9CD4-47C9-2689-852D654D6C01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5F271F0-DB8C-0872-B92F-7FADF862AC2C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61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4FC1-5455-D15E-5F0F-EA920AE7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06E21-6DF5-038D-72CD-47E552F6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개요</a:t>
            </a:r>
            <a:r>
              <a:rPr kumimoji="1" lang="en-US" altLang="ko-KR" sz="2800" b="1"/>
              <a:t>| Business Needs</a:t>
            </a:r>
            <a:r>
              <a:rPr kumimoji="1" lang="ko-KR" altLang="en-US" sz="2800" b="1"/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112FC9-F24E-7766-61A5-C72F75FE2DE0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FD0A8E-FE90-8414-AB89-28CDCCE24EB1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6389944-C001-33DE-7071-C1B31136BAEA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4409853-5BCF-9B80-E953-C1410277F27A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FC7AC6C-7DC3-1EE3-B0F9-E605E692AAC7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448A45D-2866-A544-E3A5-05115172EEFB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339E134-85CA-8419-0FDF-D03152B7DE2B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41262BC1-8537-5F18-E62C-8E3DC0804A06}"/>
              </a:ext>
            </a:extLst>
          </p:cNvPr>
          <p:cNvSpPr/>
          <p:nvPr/>
        </p:nvSpPr>
        <p:spPr>
          <a:xfrm>
            <a:off x="755511" y="1601797"/>
            <a:ext cx="4748643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Stakeholder 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선정 및 역할 정의</a:t>
            </a: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FE5D-D8F0-75BA-3DCE-71977D5886A7}"/>
              </a:ext>
            </a:extLst>
          </p:cNvPr>
          <p:cNvSpPr txBox="1"/>
          <p:nvPr/>
        </p:nvSpPr>
        <p:spPr>
          <a:xfrm>
            <a:off x="4872048" y="1187053"/>
            <a:ext cx="6555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과제 범위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–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Agentic AI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기반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SDK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개발 자동화 시스템 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70898-36A0-7F0A-5EB4-78A4B2521814}"/>
              </a:ext>
            </a:extLst>
          </p:cNvPr>
          <p:cNvSpPr txBox="1"/>
          <p:nvPr/>
        </p:nvSpPr>
        <p:spPr>
          <a:xfrm>
            <a:off x="1187683" y="1190932"/>
            <a:ext cx="252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과제 개요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083DA19-7548-6784-1B51-B9882F0BD9C9}"/>
              </a:ext>
            </a:extLst>
          </p:cNvPr>
          <p:cNvSpPr/>
          <p:nvPr/>
        </p:nvSpPr>
        <p:spPr>
          <a:xfrm>
            <a:off x="5757944" y="1601797"/>
            <a:ext cx="5809659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16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C248-7049-0AC8-C071-61785617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27223-EFF6-4E7E-8B35-A5CDF179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용어 설명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Workflow Hierarchy</a:t>
            </a:r>
            <a:endParaRPr kumimoji="1" lang="ko-KR" altLang="en-US" sz="28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286FAF-0AC4-40E8-C1EE-D888A98E9DBF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097E08B-D9C3-A08F-FFED-3F967377E667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DB91E59-5213-5DE9-1D41-3A8DDCEB872A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E493169-C707-9946-FC41-BBD1790872BD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9090B68-6AC9-6B97-AFC7-799B39552972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6D487B0-E73C-2D05-C086-39647DE71970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F949101-5E3F-863B-91D6-FA50B4D60D56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97" name="그림 196">
            <a:extLst>
              <a:ext uri="{FF2B5EF4-FFF2-40B4-BE49-F238E27FC236}">
                <a16:creationId xmlns:a16="http://schemas.microsoft.com/office/drawing/2014/main" id="{7EB2DB72-1794-A8BD-DF57-33F8C545E82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9739584" y="5798804"/>
            <a:ext cx="808496" cy="808496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E9D816E3-3F60-051F-B0EA-BCA8F871A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3048" y="5748742"/>
            <a:ext cx="857928" cy="875086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1402120-14AC-C685-BE21-272A9DB23EF4}"/>
              </a:ext>
            </a:extLst>
          </p:cNvPr>
          <p:cNvGrpSpPr/>
          <p:nvPr/>
        </p:nvGrpSpPr>
        <p:grpSpPr>
          <a:xfrm>
            <a:off x="9348012" y="2096133"/>
            <a:ext cx="2627926" cy="2377203"/>
            <a:chOff x="9378472" y="1072815"/>
            <a:chExt cx="2627926" cy="2377203"/>
          </a:xfrm>
        </p:grpSpPr>
        <p:sp>
          <p:nvSpPr>
            <p:cNvPr id="77" name="순서도: 대체 처리 76">
              <a:extLst>
                <a:ext uri="{FF2B5EF4-FFF2-40B4-BE49-F238E27FC236}">
                  <a16:creationId xmlns:a16="http://schemas.microsoft.com/office/drawing/2014/main" id="{40FD98CD-CE6E-A7D6-F029-AFD5858E0665}"/>
                </a:ext>
              </a:extLst>
            </p:cNvPr>
            <p:cNvSpPr/>
            <p:nvPr/>
          </p:nvSpPr>
          <p:spPr>
            <a:xfrm>
              <a:off x="9378472" y="1726774"/>
              <a:ext cx="651353" cy="368726"/>
            </a:xfrm>
            <a:prstGeom prst="flowChartAlternateProcess">
              <a:avLst/>
            </a:prstGeom>
            <a:solidFill>
              <a:srgbClr val="BFD0E5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2BC1E0-470C-EC79-C357-12986B11DDF1}"/>
                </a:ext>
              </a:extLst>
            </p:cNvPr>
            <p:cNvSpPr txBox="1"/>
            <p:nvPr/>
          </p:nvSpPr>
          <p:spPr>
            <a:xfrm>
              <a:off x="10022028" y="1723391"/>
              <a:ext cx="1206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Workflow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순서도: 대체 처리 83">
              <a:extLst>
                <a:ext uri="{FF2B5EF4-FFF2-40B4-BE49-F238E27FC236}">
                  <a16:creationId xmlns:a16="http://schemas.microsoft.com/office/drawing/2014/main" id="{06D8CB19-B605-DF98-39BE-9BCFA7D7D37E}"/>
                </a:ext>
              </a:extLst>
            </p:cNvPr>
            <p:cNvSpPr/>
            <p:nvPr/>
          </p:nvSpPr>
          <p:spPr>
            <a:xfrm>
              <a:off x="9378472" y="2407113"/>
              <a:ext cx="651353" cy="368726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A92C51F-FF12-0641-BED4-799E4024040E}"/>
                </a:ext>
              </a:extLst>
            </p:cNvPr>
            <p:cNvSpPr txBox="1"/>
            <p:nvPr/>
          </p:nvSpPr>
          <p:spPr>
            <a:xfrm>
              <a:off x="10022028" y="2403730"/>
              <a:ext cx="1206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Node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순서도: 대체 처리 91">
              <a:extLst>
                <a:ext uri="{FF2B5EF4-FFF2-40B4-BE49-F238E27FC236}">
                  <a16:creationId xmlns:a16="http://schemas.microsoft.com/office/drawing/2014/main" id="{F406DBD6-5DF8-E5D6-0079-512569ABF161}"/>
                </a:ext>
              </a:extLst>
            </p:cNvPr>
            <p:cNvSpPr/>
            <p:nvPr/>
          </p:nvSpPr>
          <p:spPr>
            <a:xfrm>
              <a:off x="9378472" y="3081292"/>
              <a:ext cx="651353" cy="368726"/>
            </a:xfrm>
            <a:prstGeom prst="flowChartAlternateProcess">
              <a:avLst/>
            </a:prstGeom>
            <a:solidFill>
              <a:srgbClr val="F9ECEB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A74697-38E7-779F-9189-246D6853FCE0}"/>
                </a:ext>
              </a:extLst>
            </p:cNvPr>
            <p:cNvSpPr txBox="1"/>
            <p:nvPr/>
          </p:nvSpPr>
          <p:spPr>
            <a:xfrm>
              <a:off x="10022027" y="3077909"/>
              <a:ext cx="19843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SDK Config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순서도: 대체 처리 105">
              <a:extLst>
                <a:ext uri="{FF2B5EF4-FFF2-40B4-BE49-F238E27FC236}">
                  <a16:creationId xmlns:a16="http://schemas.microsoft.com/office/drawing/2014/main" id="{6ADA92C3-BFF3-25A4-3974-034014B3C011}"/>
                </a:ext>
              </a:extLst>
            </p:cNvPr>
            <p:cNvSpPr/>
            <p:nvPr/>
          </p:nvSpPr>
          <p:spPr>
            <a:xfrm>
              <a:off x="9386269" y="1076198"/>
              <a:ext cx="651353" cy="368726"/>
            </a:xfrm>
            <a:prstGeom prst="flowChartAlternateProcess">
              <a:avLst/>
            </a:prstGeom>
            <a:solidFill>
              <a:schemeClr val="accent6">
                <a:lumMod val="20000"/>
                <a:lumOff val="80000"/>
                <a:alpha val="61000"/>
              </a:schemeClr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F773465-488C-8D20-B009-271F17DB940C}"/>
                </a:ext>
              </a:extLst>
            </p:cNvPr>
            <p:cNvSpPr txBox="1"/>
            <p:nvPr/>
          </p:nvSpPr>
          <p:spPr>
            <a:xfrm>
              <a:off x="10029825" y="1072815"/>
              <a:ext cx="12060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Model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C1C67E3-B93C-1CE1-6746-81129304E4B6}"/>
              </a:ext>
            </a:extLst>
          </p:cNvPr>
          <p:cNvGrpSpPr/>
          <p:nvPr/>
        </p:nvGrpSpPr>
        <p:grpSpPr>
          <a:xfrm>
            <a:off x="2473854" y="1809846"/>
            <a:ext cx="6258803" cy="4646934"/>
            <a:chOff x="567258" y="1704341"/>
            <a:chExt cx="6258803" cy="4646934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C74CE766-8D56-A42A-36AA-28DE51C7BF1B}"/>
                </a:ext>
              </a:extLst>
            </p:cNvPr>
            <p:cNvGrpSpPr/>
            <p:nvPr/>
          </p:nvGrpSpPr>
          <p:grpSpPr>
            <a:xfrm>
              <a:off x="567258" y="1704341"/>
              <a:ext cx="3858627" cy="4646934"/>
              <a:chOff x="881583" y="1723391"/>
              <a:chExt cx="3858627" cy="4646934"/>
            </a:xfrm>
          </p:grpSpPr>
          <p:sp>
            <p:nvSpPr>
              <p:cNvPr id="60" name="순서도: 대체 처리 59">
                <a:extLst>
                  <a:ext uri="{FF2B5EF4-FFF2-40B4-BE49-F238E27FC236}">
                    <a16:creationId xmlns:a16="http://schemas.microsoft.com/office/drawing/2014/main" id="{75EAC025-C179-CB5B-ACE1-DF2F087FB7F8}"/>
                  </a:ext>
                </a:extLst>
              </p:cNvPr>
              <p:cNvSpPr/>
              <p:nvPr/>
            </p:nvSpPr>
            <p:spPr>
              <a:xfrm>
                <a:off x="881583" y="1742441"/>
                <a:ext cx="1594917" cy="572574"/>
              </a:xfrm>
              <a:prstGeom prst="flowChartAlternateProcess">
                <a:avLst/>
              </a:prstGeom>
              <a:solidFill>
                <a:srgbClr val="BFD0E5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Workflow 1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순서도: 대체 처리 60">
                <a:extLst>
                  <a:ext uri="{FF2B5EF4-FFF2-40B4-BE49-F238E27FC236}">
                    <a16:creationId xmlns:a16="http://schemas.microsoft.com/office/drawing/2014/main" id="{9A56042C-4EBC-9464-0E20-E5B79EB40802}"/>
                  </a:ext>
                </a:extLst>
              </p:cNvPr>
              <p:cNvSpPr/>
              <p:nvPr/>
            </p:nvSpPr>
            <p:spPr>
              <a:xfrm>
                <a:off x="3145293" y="1723391"/>
                <a:ext cx="1594917" cy="572574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Run</a:t>
                </a:r>
                <a:r>
                  <a:rPr lang="ko-KR" altLang="en-US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IR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D5339959-8FF4-BD29-C0E3-4736C5F30DB1}"/>
                  </a:ext>
                </a:extLst>
              </p:cNvPr>
              <p:cNvSpPr/>
              <p:nvPr/>
            </p:nvSpPr>
            <p:spPr>
              <a:xfrm>
                <a:off x="3145293" y="2713991"/>
                <a:ext cx="1594917" cy="572574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Run Graph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순서도: 대체 처리 62">
                <a:extLst>
                  <a:ext uri="{FF2B5EF4-FFF2-40B4-BE49-F238E27FC236}">
                    <a16:creationId xmlns:a16="http://schemas.microsoft.com/office/drawing/2014/main" id="{66437AEF-3260-AD79-3D0A-2AD4B673F0B6}"/>
                  </a:ext>
                </a:extLst>
              </p:cNvPr>
              <p:cNvSpPr/>
              <p:nvPr/>
            </p:nvSpPr>
            <p:spPr>
              <a:xfrm>
                <a:off x="3145293" y="3704591"/>
                <a:ext cx="1594917" cy="572574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Run Quant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순서도: 대체 처리 63">
                <a:extLst>
                  <a:ext uri="{FF2B5EF4-FFF2-40B4-BE49-F238E27FC236}">
                    <a16:creationId xmlns:a16="http://schemas.microsoft.com/office/drawing/2014/main" id="{1890F54C-1420-3F19-1658-327E72F95DF5}"/>
                  </a:ext>
                </a:extLst>
              </p:cNvPr>
              <p:cNvSpPr/>
              <p:nvPr/>
            </p:nvSpPr>
            <p:spPr>
              <a:xfrm>
                <a:off x="3145293" y="4751171"/>
                <a:ext cx="1594917" cy="572574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Store Artifact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순서도: 대체 처리 64">
                <a:extLst>
                  <a:ext uri="{FF2B5EF4-FFF2-40B4-BE49-F238E27FC236}">
                    <a16:creationId xmlns:a16="http://schemas.microsoft.com/office/drawing/2014/main" id="{4A52EC98-26F1-A767-FA6D-78A604ACA3EA}"/>
                  </a:ext>
                </a:extLst>
              </p:cNvPr>
              <p:cNvSpPr/>
              <p:nvPr/>
            </p:nvSpPr>
            <p:spPr>
              <a:xfrm>
                <a:off x="3145292" y="5797751"/>
                <a:ext cx="1594917" cy="572574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>
                    <a:solidFill>
                      <a:prstClr val="black"/>
                    </a:solidFill>
                    <a:latin typeface="Calibri" panose="020F0502020204030204"/>
                  </a:rPr>
                  <a:t>Run Compiler</a:t>
                </a:r>
                <a:endParaRPr lang="ko-KR" alt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B0737F8B-79B0-4885-B76C-D5E19C15DB43}"/>
                  </a:ext>
                </a:extLst>
              </p:cNvPr>
              <p:cNvCxnSpPr>
                <a:stCxn id="61" idx="2"/>
                <a:endCxn id="62" idx="0"/>
              </p:cNvCxnSpPr>
              <p:nvPr/>
            </p:nvCxnSpPr>
            <p:spPr>
              <a:xfrm>
                <a:off x="3942752" y="2295965"/>
                <a:ext cx="0" cy="41802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3547B4FC-A82A-C233-BEA6-6F9968972FF3}"/>
                  </a:ext>
                </a:extLst>
              </p:cNvPr>
              <p:cNvCxnSpPr>
                <a:cxnSpLocks/>
                <a:stCxn id="62" idx="2"/>
                <a:endCxn id="63" idx="0"/>
              </p:cNvCxnSpPr>
              <p:nvPr/>
            </p:nvCxnSpPr>
            <p:spPr>
              <a:xfrm>
                <a:off x="3942752" y="3286565"/>
                <a:ext cx="0" cy="41802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>
                <a:extLst>
                  <a:ext uri="{FF2B5EF4-FFF2-40B4-BE49-F238E27FC236}">
                    <a16:creationId xmlns:a16="http://schemas.microsoft.com/office/drawing/2014/main" id="{4B28019C-0E98-0171-3C70-CEA5C7DC8CCC}"/>
                  </a:ext>
                </a:extLst>
              </p:cNvPr>
              <p:cNvCxnSpPr>
                <a:cxnSpLocks/>
                <a:stCxn id="63" idx="2"/>
                <a:endCxn id="64" idx="0"/>
              </p:cNvCxnSpPr>
              <p:nvPr/>
            </p:nvCxnSpPr>
            <p:spPr>
              <a:xfrm>
                <a:off x="3942752" y="4277165"/>
                <a:ext cx="0" cy="47400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D9D1D901-7B7F-A847-0A51-B3C8A4436D76}"/>
                  </a:ext>
                </a:extLst>
              </p:cNvPr>
              <p:cNvCxnSpPr>
                <a:cxnSpLocks/>
                <a:stCxn id="65" idx="0"/>
                <a:endCxn id="64" idx="2"/>
              </p:cNvCxnSpPr>
              <p:nvPr/>
            </p:nvCxnSpPr>
            <p:spPr>
              <a:xfrm flipV="1">
                <a:off x="3942751" y="5323745"/>
                <a:ext cx="1" cy="47400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왼쪽 중괄호 87">
                <a:extLst>
                  <a:ext uri="{FF2B5EF4-FFF2-40B4-BE49-F238E27FC236}">
                    <a16:creationId xmlns:a16="http://schemas.microsoft.com/office/drawing/2014/main" id="{347720DC-2399-B22E-D879-EB7DE51626C4}"/>
                  </a:ext>
                </a:extLst>
              </p:cNvPr>
              <p:cNvSpPr/>
              <p:nvPr/>
            </p:nvSpPr>
            <p:spPr>
              <a:xfrm>
                <a:off x="2600330" y="1742441"/>
                <a:ext cx="338510" cy="4627884"/>
              </a:xfrm>
              <a:prstGeom prst="leftBrace">
                <a:avLst>
                  <a:gd name="adj1" fmla="val 8333"/>
                  <a:gd name="adj2" fmla="val 637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0" name="순서도: 대체 처리 89">
              <a:extLst>
                <a:ext uri="{FF2B5EF4-FFF2-40B4-BE49-F238E27FC236}">
                  <a16:creationId xmlns:a16="http://schemas.microsoft.com/office/drawing/2014/main" id="{E5E357C0-9CC8-0345-BD89-7C70C9616C45}"/>
                </a:ext>
              </a:extLst>
            </p:cNvPr>
            <p:cNvSpPr/>
            <p:nvPr/>
          </p:nvSpPr>
          <p:spPr>
            <a:xfrm>
              <a:off x="5231144" y="2276915"/>
              <a:ext cx="1594917" cy="572574"/>
            </a:xfrm>
            <a:prstGeom prst="flowChartAlternateProcess">
              <a:avLst/>
            </a:prstGeom>
            <a:solidFill>
              <a:srgbClr val="F9ECEB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>
                  <a:solidFill>
                    <a:prstClr val="black"/>
                  </a:solidFill>
                  <a:latin typeface="Calibri" panose="020F0502020204030204"/>
                </a:rPr>
                <a:t>Graph Version</a:t>
              </a:r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1" name="순서도: 대체 처리 90">
              <a:extLst>
                <a:ext uri="{FF2B5EF4-FFF2-40B4-BE49-F238E27FC236}">
                  <a16:creationId xmlns:a16="http://schemas.microsoft.com/office/drawing/2014/main" id="{E6D01F1E-DB8A-4627-E192-AB23C2EE6A72}"/>
                </a:ext>
              </a:extLst>
            </p:cNvPr>
            <p:cNvSpPr/>
            <p:nvPr/>
          </p:nvSpPr>
          <p:spPr>
            <a:xfrm>
              <a:off x="5231144" y="2997813"/>
              <a:ext cx="1594917" cy="572574"/>
            </a:xfrm>
            <a:prstGeom prst="flowChartAlternateProcess">
              <a:avLst/>
            </a:prstGeom>
            <a:solidFill>
              <a:srgbClr val="F9ECEB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>
                  <a:solidFill>
                    <a:prstClr val="black"/>
                  </a:solidFill>
                  <a:latin typeface="Calibri" panose="020F0502020204030204"/>
                </a:rPr>
                <a:t>Config</a:t>
              </a:r>
              <a:endParaRPr lang="ko-KR" alt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95" name="연결선: 구부러짐 94">
              <a:extLst>
                <a:ext uri="{FF2B5EF4-FFF2-40B4-BE49-F238E27FC236}">
                  <a16:creationId xmlns:a16="http://schemas.microsoft.com/office/drawing/2014/main" id="{1EE6B46F-4A8C-993B-A3AD-B821B004E2C1}"/>
                </a:ext>
              </a:extLst>
            </p:cNvPr>
            <p:cNvCxnSpPr>
              <a:cxnSpLocks/>
              <a:stCxn id="62" idx="3"/>
              <a:endCxn id="90" idx="1"/>
            </p:cNvCxnSpPr>
            <p:nvPr/>
          </p:nvCxnSpPr>
          <p:spPr>
            <a:xfrm flipV="1">
              <a:off x="4425885" y="2563202"/>
              <a:ext cx="805259" cy="418026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연결선: 구부러짐 95">
              <a:extLst>
                <a:ext uri="{FF2B5EF4-FFF2-40B4-BE49-F238E27FC236}">
                  <a16:creationId xmlns:a16="http://schemas.microsoft.com/office/drawing/2014/main" id="{AF0CDCFA-2C11-5B7E-2909-A26FB9DE6FDC}"/>
                </a:ext>
              </a:extLst>
            </p:cNvPr>
            <p:cNvCxnSpPr>
              <a:cxnSpLocks/>
              <a:stCxn id="62" idx="3"/>
              <a:endCxn id="91" idx="1"/>
            </p:cNvCxnSpPr>
            <p:nvPr/>
          </p:nvCxnSpPr>
          <p:spPr>
            <a:xfrm>
              <a:off x="4425885" y="2981228"/>
              <a:ext cx="805259" cy="302872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순서도: 대체 처리 103">
            <a:extLst>
              <a:ext uri="{FF2B5EF4-FFF2-40B4-BE49-F238E27FC236}">
                <a16:creationId xmlns:a16="http://schemas.microsoft.com/office/drawing/2014/main" id="{2D6BCF97-A1FB-5875-7942-B1E70C1A1037}"/>
              </a:ext>
            </a:extLst>
          </p:cNvPr>
          <p:cNvSpPr/>
          <p:nvPr/>
        </p:nvSpPr>
        <p:spPr>
          <a:xfrm>
            <a:off x="268338" y="1800761"/>
            <a:ext cx="1594917" cy="572574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1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LLM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Model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순서도: 대체 처리 104">
            <a:extLst>
              <a:ext uri="{FF2B5EF4-FFF2-40B4-BE49-F238E27FC236}">
                <a16:creationId xmlns:a16="http://schemas.microsoft.com/office/drawing/2014/main" id="{2A8FAFEE-1A83-BFD0-26DA-FBC19DFB689E}"/>
              </a:ext>
            </a:extLst>
          </p:cNvPr>
          <p:cNvSpPr/>
          <p:nvPr/>
        </p:nvSpPr>
        <p:spPr>
          <a:xfrm>
            <a:off x="2473854" y="3238169"/>
            <a:ext cx="1594917" cy="57257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Workflow 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왼쪽 중괄호 107">
            <a:extLst>
              <a:ext uri="{FF2B5EF4-FFF2-40B4-BE49-F238E27FC236}">
                <a16:creationId xmlns:a16="http://schemas.microsoft.com/office/drawing/2014/main" id="{E8A309AC-981A-2AE6-8738-8938F2E66744}"/>
              </a:ext>
            </a:extLst>
          </p:cNvPr>
          <p:cNvSpPr/>
          <p:nvPr/>
        </p:nvSpPr>
        <p:spPr>
          <a:xfrm>
            <a:off x="2032118" y="1895492"/>
            <a:ext cx="338510" cy="1780400"/>
          </a:xfrm>
          <a:prstGeom prst="leftBrace">
            <a:avLst>
              <a:gd name="adj1" fmla="val 8333"/>
              <a:gd name="adj2" fmla="val 133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대체 처리 103">
            <a:extLst>
              <a:ext uri="{FF2B5EF4-FFF2-40B4-BE49-F238E27FC236}">
                <a16:creationId xmlns:a16="http://schemas.microsoft.com/office/drawing/2014/main" id="{42E9673B-13CC-BD90-93F8-AEE3C80070D8}"/>
              </a:ext>
            </a:extLst>
          </p:cNvPr>
          <p:cNvSpPr/>
          <p:nvPr/>
        </p:nvSpPr>
        <p:spPr>
          <a:xfrm>
            <a:off x="292460" y="3238169"/>
            <a:ext cx="1594917" cy="572574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1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LLM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Model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순서도: 대체 처리 104">
            <a:extLst>
              <a:ext uri="{FF2B5EF4-FFF2-40B4-BE49-F238E27FC236}">
                <a16:creationId xmlns:a16="http://schemas.microsoft.com/office/drawing/2014/main" id="{78314BCF-C0D8-7259-7BB1-DA5ECD68D57C}"/>
              </a:ext>
            </a:extLst>
          </p:cNvPr>
          <p:cNvSpPr/>
          <p:nvPr/>
        </p:nvSpPr>
        <p:spPr>
          <a:xfrm>
            <a:off x="2473853" y="4551339"/>
            <a:ext cx="1594917" cy="57257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Workflow 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왼쪽 중괄호 107">
            <a:extLst>
              <a:ext uri="{FF2B5EF4-FFF2-40B4-BE49-F238E27FC236}">
                <a16:creationId xmlns:a16="http://schemas.microsoft.com/office/drawing/2014/main" id="{80DC9A25-56CC-A598-0B51-91E1A8E17571}"/>
              </a:ext>
            </a:extLst>
          </p:cNvPr>
          <p:cNvSpPr/>
          <p:nvPr/>
        </p:nvSpPr>
        <p:spPr>
          <a:xfrm>
            <a:off x="1981184" y="3291556"/>
            <a:ext cx="338510" cy="1780400"/>
          </a:xfrm>
          <a:prstGeom prst="leftBrace">
            <a:avLst>
              <a:gd name="adj1" fmla="val 8333"/>
              <a:gd name="adj2" fmla="val 133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4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3F09-8547-9AB2-2B21-66099E06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1E14A-FBD5-F4BB-94BE-346AC9750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배경</a:t>
            </a:r>
            <a:r>
              <a:rPr kumimoji="1" lang="en-US" altLang="ko-KR" sz="2800" b="1"/>
              <a:t>| </a:t>
            </a:r>
            <a:r>
              <a:rPr kumimoji="1" lang="ko-KR" altLang="en-US" sz="2800" b="1"/>
              <a:t>개선 시나리오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0F333F-0041-E45F-6416-64EC9D52535E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D73F6A0-13F8-8302-0570-FFDC586AA3F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BDFD9D0-6CC2-ABC6-7446-CB798D82872E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07DEFE-EA6C-27F6-1C88-5CAF1871E56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02FB30-EC6D-039D-25E7-A52E2253368F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29C3656-5912-8C87-2AC2-B6F257F13C87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4263CFC-0C01-5E5D-0021-CA4855633577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1BABD9C-A6BB-FAA3-0780-78FCB864E619}"/>
              </a:ext>
            </a:extLst>
          </p:cNvPr>
          <p:cNvSpPr txBox="1"/>
          <p:nvPr/>
        </p:nvSpPr>
        <p:spPr>
          <a:xfrm>
            <a:off x="1600366" y="1265744"/>
            <a:ext cx="2885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As-Is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개발자 직접 관리 </a:t>
            </a: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+ </a:t>
            </a:r>
            <a:r>
              <a:rPr lang="ko-KR" altLang="en-US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분리된 시스템 </a:t>
            </a: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]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832E7-D80A-6442-C911-22C0EEB5AE75}"/>
              </a:ext>
            </a:extLst>
          </p:cNvPr>
          <p:cNvSpPr txBox="1"/>
          <p:nvPr/>
        </p:nvSpPr>
        <p:spPr>
          <a:xfrm>
            <a:off x="8068794" y="1295401"/>
            <a:ext cx="2414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To-Be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[Agentic DevOps]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43E1078-1165-78A3-5752-F3B2F866A222}"/>
              </a:ext>
            </a:extLst>
          </p:cNvPr>
          <p:cNvCxnSpPr>
            <a:cxnSpLocks/>
          </p:cNvCxnSpPr>
          <p:nvPr/>
        </p:nvCxnSpPr>
        <p:spPr>
          <a:xfrm>
            <a:off x="1260704" y="3371850"/>
            <a:ext cx="0" cy="310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B08895B-453F-5797-D77A-AACA30A750BF}"/>
              </a:ext>
            </a:extLst>
          </p:cNvPr>
          <p:cNvCxnSpPr>
            <a:cxnSpLocks/>
          </p:cNvCxnSpPr>
          <p:nvPr/>
        </p:nvCxnSpPr>
        <p:spPr>
          <a:xfrm>
            <a:off x="4727233" y="3371850"/>
            <a:ext cx="0" cy="310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2BCB81C-8A55-4D7A-3EAA-D8F9B397401E}"/>
              </a:ext>
            </a:extLst>
          </p:cNvPr>
          <p:cNvSpPr txBox="1"/>
          <p:nvPr/>
        </p:nvSpPr>
        <p:spPr>
          <a:xfrm>
            <a:off x="1264369" y="3705764"/>
            <a:ext cx="3075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①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Quantizer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(Version, Config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관리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② 중간 산출물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생성 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③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Artifact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업로드 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(Quantized Model, TV-in/-Out, 20GB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이상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④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Notify to Compiler Developer (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⑤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JIRA Update (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E30055-9414-F33E-D36E-3188ADB3E97C}"/>
              </a:ext>
            </a:extLst>
          </p:cNvPr>
          <p:cNvSpPr txBox="1"/>
          <p:nvPr/>
        </p:nvSpPr>
        <p:spPr>
          <a:xfrm>
            <a:off x="1669674" y="5180458"/>
            <a:ext cx="3075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①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Artifact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다운로드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②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Compiler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(Version, Config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관리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③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NPU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Binary Loading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④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Verification (TV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정합성 검증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 IF Pass ]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⑤ 종료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latinLnBrk="0"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[ IF Fail   ]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</a:rPr>
              <a:t>⑥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 Quantizer Developer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</a:rPr>
              <a:t>에 전달 </a:t>
            </a:r>
            <a:endParaRPr lang="en-US" altLang="ko-KR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B0EE8AA-AFCB-B681-94A2-A965428F6CC7}"/>
              </a:ext>
            </a:extLst>
          </p:cNvPr>
          <p:cNvCxnSpPr/>
          <p:nvPr/>
        </p:nvCxnSpPr>
        <p:spPr>
          <a:xfrm>
            <a:off x="1334115" y="3657600"/>
            <a:ext cx="33420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0DBAB5F-4165-3443-3723-8FF08C6C3CDE}"/>
              </a:ext>
            </a:extLst>
          </p:cNvPr>
          <p:cNvCxnSpPr/>
          <p:nvPr/>
        </p:nvCxnSpPr>
        <p:spPr>
          <a:xfrm>
            <a:off x="1362690" y="5137578"/>
            <a:ext cx="334208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0E532AF-2DD6-230E-48B7-6BEB6CB42A78}"/>
              </a:ext>
            </a:extLst>
          </p:cNvPr>
          <p:cNvSpPr/>
          <p:nvPr/>
        </p:nvSpPr>
        <p:spPr>
          <a:xfrm>
            <a:off x="5823828" y="3104819"/>
            <a:ext cx="386906" cy="202274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BA87855-C644-F158-1E95-FA6B4F89FB5E}"/>
              </a:ext>
            </a:extLst>
          </p:cNvPr>
          <p:cNvSpPr/>
          <p:nvPr/>
        </p:nvSpPr>
        <p:spPr>
          <a:xfrm>
            <a:off x="6696910" y="1869726"/>
            <a:ext cx="5050590" cy="4853407"/>
          </a:xfrm>
          <a:prstGeom prst="rect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sz="1200" b="1">
                <a:latin typeface="Calibri" panose="020F0502020204030204"/>
              </a:rPr>
              <a:t>Agentic</a:t>
            </a:r>
            <a:r>
              <a:rPr lang="ko-KR" altLang="en-US" sz="1200" b="1">
                <a:latin typeface="Calibri" panose="020F0502020204030204"/>
              </a:rPr>
              <a:t> </a:t>
            </a:r>
            <a:r>
              <a:rPr lang="en-US" altLang="ko-KR" sz="1200" b="1">
                <a:latin typeface="Calibri" panose="020F0502020204030204"/>
              </a:rPr>
              <a:t>DevOps</a:t>
            </a:r>
            <a:r>
              <a:rPr lang="ko-KR" altLang="en-US" sz="1200" b="1">
                <a:latin typeface="Calibri" panose="020F0502020204030204"/>
              </a:rPr>
              <a:t> </a:t>
            </a:r>
            <a:r>
              <a:rPr lang="en-US" altLang="ko-KR" sz="1200" b="1">
                <a:latin typeface="Calibri" panose="020F0502020204030204"/>
              </a:rPr>
              <a:t>System</a:t>
            </a:r>
            <a:endParaRPr lang="ko-KR" altLang="en-US" sz="1200" b="1">
              <a:latin typeface="Calibri" panose="020F0502020204030204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81BB7D0-DB3E-44D9-991C-2C3C65F2118A}"/>
              </a:ext>
            </a:extLst>
          </p:cNvPr>
          <p:cNvGrpSpPr/>
          <p:nvPr/>
        </p:nvGrpSpPr>
        <p:grpSpPr>
          <a:xfrm>
            <a:off x="6874937" y="2157533"/>
            <a:ext cx="4713910" cy="664358"/>
            <a:chOff x="6773904" y="2172998"/>
            <a:chExt cx="4713910" cy="664358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1B57F50-03DA-510B-DB4C-3324668C4206}"/>
                </a:ext>
              </a:extLst>
            </p:cNvPr>
            <p:cNvSpPr/>
            <p:nvPr/>
          </p:nvSpPr>
          <p:spPr>
            <a:xfrm>
              <a:off x="6773904" y="2172998"/>
              <a:ext cx="4713910" cy="6643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D825DB3-BC5B-863C-9A21-4F665CE55DFA}"/>
                </a:ext>
              </a:extLst>
            </p:cNvPr>
            <p:cNvGrpSpPr/>
            <p:nvPr/>
          </p:nvGrpSpPr>
          <p:grpSpPr>
            <a:xfrm>
              <a:off x="6826361" y="2283074"/>
              <a:ext cx="4542279" cy="391076"/>
              <a:chOff x="1079173" y="2012889"/>
              <a:chExt cx="4542279" cy="391076"/>
            </a:xfrm>
          </p:grpSpPr>
          <p:sp>
            <p:nvSpPr>
              <p:cNvPr id="86" name="순서도: 대체 처리 85">
                <a:extLst>
                  <a:ext uri="{FF2B5EF4-FFF2-40B4-BE49-F238E27FC236}">
                    <a16:creationId xmlns:a16="http://schemas.microsoft.com/office/drawing/2014/main" id="{326805A2-444F-3E40-2A02-F0D1D950E43E}"/>
                  </a:ext>
                </a:extLst>
              </p:cNvPr>
              <p:cNvSpPr/>
              <p:nvPr/>
            </p:nvSpPr>
            <p:spPr>
              <a:xfrm>
                <a:off x="1079173" y="2012889"/>
                <a:ext cx="1198285" cy="391076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 sz="1200">
                    <a:solidFill>
                      <a:prstClr val="black"/>
                    </a:solidFill>
                    <a:latin typeface="Calibri" panose="020F0502020204030204"/>
                  </a:rPr>
                  <a:t>Run Quant</a:t>
                </a:r>
                <a:endParaRPr lang="ko-KR" altLang="en-US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7" name="순서도: 대체 처리 86">
                <a:extLst>
                  <a:ext uri="{FF2B5EF4-FFF2-40B4-BE49-F238E27FC236}">
                    <a16:creationId xmlns:a16="http://schemas.microsoft.com/office/drawing/2014/main" id="{D51C5ACB-F13D-BF4C-4498-DE632BAAC0DD}"/>
                  </a:ext>
                </a:extLst>
              </p:cNvPr>
              <p:cNvSpPr/>
              <p:nvPr/>
            </p:nvSpPr>
            <p:spPr>
              <a:xfrm>
                <a:off x="2784755" y="2012889"/>
                <a:ext cx="1198285" cy="391076"/>
              </a:xfrm>
              <a:prstGeom prst="flowChartAlternateProcess">
                <a:avLst/>
              </a:prstGeom>
              <a:solidFill>
                <a:srgbClr val="1E2761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 sz="1200">
                    <a:solidFill>
                      <a:schemeClr val="bg1"/>
                    </a:solidFill>
                    <a:latin typeface="Calibri" panose="020F0502020204030204"/>
                  </a:rPr>
                  <a:t>Run Compiler</a:t>
                </a:r>
                <a:endParaRPr lang="ko-KR" altLang="en-US" sz="120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A4E66E64-BAFD-DB60-7870-4A160A32734C}"/>
                  </a:ext>
                </a:extLst>
              </p:cNvPr>
              <p:cNvCxnSpPr>
                <a:stCxn id="86" idx="3"/>
                <a:endCxn id="87" idx="1"/>
              </p:cNvCxnSpPr>
              <p:nvPr/>
            </p:nvCxnSpPr>
            <p:spPr>
              <a:xfrm>
                <a:off x="2277458" y="2208427"/>
                <a:ext cx="50729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순서도: 대체 처리 88">
                <a:extLst>
                  <a:ext uri="{FF2B5EF4-FFF2-40B4-BE49-F238E27FC236}">
                    <a16:creationId xmlns:a16="http://schemas.microsoft.com/office/drawing/2014/main" id="{83462DFA-36FC-2237-FA84-DC05C0B7546C}"/>
                  </a:ext>
                </a:extLst>
              </p:cNvPr>
              <p:cNvSpPr/>
              <p:nvPr/>
            </p:nvSpPr>
            <p:spPr>
              <a:xfrm>
                <a:off x="4423167" y="2012889"/>
                <a:ext cx="1198285" cy="391076"/>
              </a:xfrm>
              <a:prstGeom prst="flowChartAlternateProcess">
                <a:avLst/>
              </a:prstGeom>
              <a:solidFill>
                <a:srgbClr val="1E2761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r>
                  <a:rPr lang="en-US" altLang="ko-KR" sz="1200">
                    <a:solidFill>
                      <a:schemeClr val="bg1"/>
                    </a:solidFill>
                    <a:latin typeface="Calibri" panose="020F0502020204030204"/>
                  </a:rPr>
                  <a:t>Verify Results</a:t>
                </a:r>
                <a:endParaRPr lang="ko-KR" altLang="en-US" sz="120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90" name="직선 화살표 연결선 89">
                <a:extLst>
                  <a:ext uri="{FF2B5EF4-FFF2-40B4-BE49-F238E27FC236}">
                    <a16:creationId xmlns:a16="http://schemas.microsoft.com/office/drawing/2014/main" id="{CA327727-130C-214A-27E0-9C0D6492965F}"/>
                  </a:ext>
                </a:extLst>
              </p:cNvPr>
              <p:cNvCxnSpPr>
                <a:cxnSpLocks/>
                <a:stCxn id="87" idx="3"/>
                <a:endCxn id="89" idx="1"/>
              </p:cNvCxnSpPr>
              <p:nvPr/>
            </p:nvCxnSpPr>
            <p:spPr>
              <a:xfrm>
                <a:off x="3983040" y="2208427"/>
                <a:ext cx="44012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F08F989-EB9A-6A6E-954B-E685A92EAFE2}"/>
              </a:ext>
            </a:extLst>
          </p:cNvPr>
          <p:cNvGrpSpPr/>
          <p:nvPr/>
        </p:nvGrpSpPr>
        <p:grpSpPr>
          <a:xfrm>
            <a:off x="6601636" y="3898303"/>
            <a:ext cx="903375" cy="636810"/>
            <a:chOff x="2978043" y="2852584"/>
            <a:chExt cx="903375" cy="636810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4B99C162-76DA-7C66-8355-938692906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7F79FBC-0CB2-9594-7E27-988E278189C5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  <p:sp>
        <p:nvSpPr>
          <p:cNvPr id="74" name="말풍선: 모서리가 둥근 사각형 73">
            <a:extLst>
              <a:ext uri="{FF2B5EF4-FFF2-40B4-BE49-F238E27FC236}">
                <a16:creationId xmlns:a16="http://schemas.microsoft.com/office/drawing/2014/main" id="{B3B48FB5-A5AE-DF27-87B9-554C22EFB5DC}"/>
              </a:ext>
            </a:extLst>
          </p:cNvPr>
          <p:cNvSpPr/>
          <p:nvPr/>
        </p:nvSpPr>
        <p:spPr>
          <a:xfrm>
            <a:off x="9057305" y="3104819"/>
            <a:ext cx="1712192" cy="391076"/>
          </a:xfrm>
          <a:prstGeom prst="wedgeRoundRectCallout">
            <a:avLst>
              <a:gd name="adj1" fmla="val 60439"/>
              <a:gd name="adj2" fmla="val 357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Compiler_v0.1</a:t>
            </a:r>
            <a:r>
              <a:rPr lang="ko-KR" altLang="en-US" sz="1050"/>
              <a:t>을 돌려줘</a:t>
            </a:r>
          </a:p>
        </p:txBody>
      </p:sp>
      <p:sp>
        <p:nvSpPr>
          <p:cNvPr id="75" name="말풍선: 모서리가 둥근 사각형 74">
            <a:extLst>
              <a:ext uri="{FF2B5EF4-FFF2-40B4-BE49-F238E27FC236}">
                <a16:creationId xmlns:a16="http://schemas.microsoft.com/office/drawing/2014/main" id="{C0AADC8B-DE65-BF4B-E9FE-7D5771BCBF95}"/>
              </a:ext>
            </a:extLst>
          </p:cNvPr>
          <p:cNvSpPr/>
          <p:nvPr/>
        </p:nvSpPr>
        <p:spPr>
          <a:xfrm>
            <a:off x="7765490" y="3679805"/>
            <a:ext cx="2967470" cy="582856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/>
              <a:t>해당 </a:t>
            </a:r>
            <a:r>
              <a:rPr lang="en-US" altLang="ko-KR" sz="1050"/>
              <a:t>Version</a:t>
            </a:r>
            <a:r>
              <a:rPr lang="ko-KR" altLang="en-US" sz="1050"/>
              <a:t>을 </a:t>
            </a:r>
            <a:r>
              <a:rPr lang="en-US" altLang="ko-KR" sz="1050"/>
              <a:t>Git Clone </a:t>
            </a:r>
            <a:r>
              <a:rPr lang="ko-KR" altLang="en-US" sz="1050"/>
              <a:t>하겠습니다</a:t>
            </a:r>
            <a:r>
              <a:rPr lang="en-US" altLang="ko-KR" sz="1050"/>
              <a:t>. </a:t>
            </a:r>
          </a:p>
          <a:p>
            <a:r>
              <a:rPr lang="ko-KR" altLang="en-US" sz="1050"/>
              <a:t>수행에 필요한 </a:t>
            </a:r>
            <a:r>
              <a:rPr lang="en-US" altLang="ko-KR" sz="1050"/>
              <a:t>Artifact</a:t>
            </a:r>
            <a:r>
              <a:rPr lang="ko-KR" altLang="en-US" sz="1050" err="1"/>
              <a:t>를</a:t>
            </a:r>
            <a:r>
              <a:rPr lang="ko-KR" altLang="en-US" sz="1050"/>
              <a:t> 기존 </a:t>
            </a:r>
            <a:r>
              <a:rPr lang="en-US" altLang="ko-KR" sz="1050"/>
              <a:t>History</a:t>
            </a:r>
            <a:r>
              <a:rPr lang="ko-KR" altLang="en-US" sz="1050" err="1"/>
              <a:t>를</a:t>
            </a:r>
            <a:r>
              <a:rPr lang="ko-KR" altLang="en-US" sz="1050"/>
              <a:t> 참고해서 다운 받겠습니다</a:t>
            </a:r>
            <a:r>
              <a:rPr lang="en-US" altLang="ko-KR" sz="1050"/>
              <a:t>.</a:t>
            </a:r>
          </a:p>
        </p:txBody>
      </p:sp>
      <p:sp>
        <p:nvSpPr>
          <p:cNvPr id="76" name="말풍선: 모서리가 둥근 사각형 75">
            <a:extLst>
              <a:ext uri="{FF2B5EF4-FFF2-40B4-BE49-F238E27FC236}">
                <a16:creationId xmlns:a16="http://schemas.microsoft.com/office/drawing/2014/main" id="{0071CAAD-B441-607F-4FD7-D47EDBF1DA3C}"/>
              </a:ext>
            </a:extLst>
          </p:cNvPr>
          <p:cNvSpPr/>
          <p:nvPr/>
        </p:nvSpPr>
        <p:spPr>
          <a:xfrm>
            <a:off x="7774940" y="4351867"/>
            <a:ext cx="2967470" cy="595661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Compiler</a:t>
            </a:r>
            <a:r>
              <a:rPr lang="ko-KR" altLang="en-US" sz="1050" err="1"/>
              <a:t>를</a:t>
            </a:r>
            <a:r>
              <a:rPr lang="ko-KR" altLang="en-US" sz="1050"/>
              <a:t> 수행하여 </a:t>
            </a:r>
            <a:r>
              <a:rPr lang="en-US" altLang="ko-KR" sz="1050"/>
              <a:t>Binary</a:t>
            </a:r>
            <a:r>
              <a:rPr lang="ko-KR" altLang="en-US" sz="1050" err="1"/>
              <a:t>를</a:t>
            </a:r>
            <a:r>
              <a:rPr lang="ko-KR" altLang="en-US" sz="1050"/>
              <a:t> 생성합니다</a:t>
            </a:r>
            <a:r>
              <a:rPr lang="en-US" altLang="ko-KR" sz="1050"/>
              <a:t>.</a:t>
            </a:r>
          </a:p>
          <a:p>
            <a:r>
              <a:rPr lang="ko-KR" altLang="en-US" sz="1050"/>
              <a:t>수행 버전은 </a:t>
            </a:r>
            <a:r>
              <a:rPr lang="en-US" altLang="ko-KR" sz="1050"/>
              <a:t>v0.1</a:t>
            </a:r>
            <a:r>
              <a:rPr lang="ko-KR" altLang="en-US" sz="1050"/>
              <a:t>이고</a:t>
            </a:r>
            <a:r>
              <a:rPr lang="en-US" altLang="ko-KR" sz="1050"/>
              <a:t>, Config_1.JSON </a:t>
            </a:r>
            <a:r>
              <a:rPr lang="ko-KR" altLang="en-US" sz="1050"/>
              <a:t>사용하였습니다</a:t>
            </a:r>
            <a:r>
              <a:rPr lang="en-US" altLang="ko-KR" sz="1050"/>
              <a:t>. </a:t>
            </a:r>
            <a:endParaRPr lang="ko-KR" altLang="en-US" sz="105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12C8E50-4F6D-75F9-629F-963366FE07CF}"/>
              </a:ext>
            </a:extLst>
          </p:cNvPr>
          <p:cNvGrpSpPr/>
          <p:nvPr/>
        </p:nvGrpSpPr>
        <p:grpSpPr>
          <a:xfrm>
            <a:off x="6601636" y="4876112"/>
            <a:ext cx="903375" cy="636810"/>
            <a:chOff x="2978043" y="2852584"/>
            <a:chExt cx="903375" cy="636810"/>
          </a:xfrm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2117D2E4-217C-FED3-F767-BDC2554D0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A4E880E-F93A-F648-F1EF-2E45B52B1AAC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6E795A6-5D0D-4CF9-ABF9-CE7CE8191153}"/>
              </a:ext>
            </a:extLst>
          </p:cNvPr>
          <p:cNvGrpSpPr/>
          <p:nvPr/>
        </p:nvGrpSpPr>
        <p:grpSpPr>
          <a:xfrm>
            <a:off x="6611833" y="5944693"/>
            <a:ext cx="903375" cy="636810"/>
            <a:chOff x="2978043" y="2852584"/>
            <a:chExt cx="903375" cy="63681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CD0A1E8-47F2-58B9-D21B-83E227645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A8B3006-9ED0-45AA-DC56-0321CB609AC3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A851049F-FAD3-AFE2-AEED-12E9D2704DB8}"/>
              </a:ext>
            </a:extLst>
          </p:cNvPr>
          <p:cNvSpPr/>
          <p:nvPr/>
        </p:nvSpPr>
        <p:spPr>
          <a:xfrm>
            <a:off x="7760474" y="5024003"/>
            <a:ext cx="2967470" cy="377169"/>
          </a:xfrm>
          <a:prstGeom prst="wedgeRoundRectCallout">
            <a:avLst>
              <a:gd name="adj1" fmla="val -60055"/>
              <a:gd name="adj2" fmla="val 748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/>
              <a:t>이제 </a:t>
            </a:r>
            <a:r>
              <a:rPr lang="en-US" altLang="ko-KR" sz="1050"/>
              <a:t>NPU</a:t>
            </a:r>
            <a:r>
              <a:rPr lang="ko-KR" altLang="en-US" sz="1050"/>
              <a:t>에서 </a:t>
            </a:r>
            <a:r>
              <a:rPr lang="en-US" altLang="ko-KR" sz="1050"/>
              <a:t>Verification </a:t>
            </a:r>
            <a:r>
              <a:rPr lang="ko-KR" altLang="en-US" sz="1050"/>
              <a:t>수행하겠습니다</a:t>
            </a:r>
            <a:r>
              <a:rPr lang="en-US" altLang="ko-KR" sz="1050"/>
              <a:t>,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4653A9AB-D0B8-D6E2-954E-25B4F3D620AA}"/>
              </a:ext>
            </a:extLst>
          </p:cNvPr>
          <p:cNvSpPr/>
          <p:nvPr/>
        </p:nvSpPr>
        <p:spPr>
          <a:xfrm>
            <a:off x="7760474" y="5466843"/>
            <a:ext cx="2967470" cy="582856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Verification</a:t>
            </a:r>
            <a:r>
              <a:rPr lang="ko-KR" altLang="en-US" sz="1050"/>
              <a:t> 중 </a:t>
            </a:r>
            <a:r>
              <a:rPr lang="en-US" altLang="ko-KR" sz="1050"/>
              <a:t>TV </a:t>
            </a:r>
            <a:r>
              <a:rPr lang="ko-KR" altLang="en-US" sz="1050"/>
              <a:t>불일치하였습니다</a:t>
            </a:r>
            <a:r>
              <a:rPr lang="en-US" altLang="ko-KR" sz="1050"/>
              <a:t>. </a:t>
            </a:r>
          </a:p>
          <a:p>
            <a:r>
              <a:rPr lang="ko-KR" altLang="en-US" sz="1050"/>
              <a:t>원인 초기 분석하겠습니다</a:t>
            </a:r>
            <a:r>
              <a:rPr lang="en-US" altLang="ko-KR" sz="1050"/>
              <a:t>.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CE98D0B6-28E8-D922-D5FA-FE6D54E26D87}"/>
              </a:ext>
            </a:extLst>
          </p:cNvPr>
          <p:cNvSpPr/>
          <p:nvPr/>
        </p:nvSpPr>
        <p:spPr>
          <a:xfrm>
            <a:off x="7742075" y="6094988"/>
            <a:ext cx="2967470" cy="582856"/>
          </a:xfrm>
          <a:prstGeom prst="wedgeRoundRectCallout">
            <a:avLst>
              <a:gd name="adj1" fmla="val -60055"/>
              <a:gd name="adj2" fmla="val -3411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/>
              <a:t>분석 결과</a:t>
            </a:r>
            <a:r>
              <a:rPr lang="en-US" altLang="ko-KR" sz="1050"/>
              <a:t>, </a:t>
            </a:r>
            <a:r>
              <a:rPr lang="en-US" altLang="ko-KR" sz="1050" err="1"/>
              <a:t>xxxx</a:t>
            </a:r>
            <a:r>
              <a:rPr lang="ko-KR" altLang="en-US" sz="1050"/>
              <a:t>로 밝혀졌습니다</a:t>
            </a:r>
            <a:r>
              <a:rPr lang="en-US" altLang="ko-KR" sz="1050"/>
              <a:t>.</a:t>
            </a:r>
          </a:p>
          <a:p>
            <a:r>
              <a:rPr lang="en-US" altLang="ko-KR" sz="1050"/>
              <a:t>JIRA</a:t>
            </a:r>
            <a:r>
              <a:rPr lang="ko-KR" altLang="en-US" sz="1050"/>
              <a:t> 업데이트하고</a:t>
            </a:r>
            <a:r>
              <a:rPr lang="en-US" altLang="ko-KR" sz="1050"/>
              <a:t>, </a:t>
            </a:r>
            <a:r>
              <a:rPr lang="ko-KR" altLang="en-US" sz="1050"/>
              <a:t>관련 개발자분들에게 </a:t>
            </a:r>
            <a:r>
              <a:rPr lang="en-US" altLang="ko-KR" sz="1050"/>
              <a:t>NOTI</a:t>
            </a:r>
            <a:r>
              <a:rPr lang="ko-KR" altLang="en-US" sz="1050"/>
              <a:t>하겠습니다</a:t>
            </a:r>
            <a:r>
              <a:rPr lang="en-US" altLang="ko-KR" sz="1050"/>
              <a:t>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11A953-FA2B-73A0-8298-BD9DC09889EE}"/>
              </a:ext>
            </a:extLst>
          </p:cNvPr>
          <p:cNvGrpSpPr/>
          <p:nvPr/>
        </p:nvGrpSpPr>
        <p:grpSpPr>
          <a:xfrm>
            <a:off x="704186" y="2038200"/>
            <a:ext cx="4542279" cy="391076"/>
            <a:chOff x="1079173" y="2012889"/>
            <a:chExt cx="4542279" cy="391076"/>
          </a:xfrm>
        </p:grpSpPr>
        <p:sp>
          <p:nvSpPr>
            <p:cNvPr id="17" name="순서도: 대체 처리 16">
              <a:extLst>
                <a:ext uri="{FF2B5EF4-FFF2-40B4-BE49-F238E27FC236}">
                  <a16:creationId xmlns:a16="http://schemas.microsoft.com/office/drawing/2014/main" id="{F0A91E7F-CFD2-EE32-74C6-74B6F23D8D24}"/>
                </a:ext>
              </a:extLst>
            </p:cNvPr>
            <p:cNvSpPr/>
            <p:nvPr/>
          </p:nvSpPr>
          <p:spPr>
            <a:xfrm>
              <a:off x="1079173" y="2012889"/>
              <a:ext cx="1198285" cy="391076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prstClr val="black"/>
                  </a:solidFill>
                  <a:latin typeface="Calibri" panose="020F0502020204030204"/>
                </a:rPr>
                <a:t>Run Quant</a:t>
              </a:r>
              <a:endParaRPr lang="ko-KR" alt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순서도: 대체 처리 25">
              <a:extLst>
                <a:ext uri="{FF2B5EF4-FFF2-40B4-BE49-F238E27FC236}">
                  <a16:creationId xmlns:a16="http://schemas.microsoft.com/office/drawing/2014/main" id="{90471AA2-7ADF-E2E9-CB0F-F473E7FECFAC}"/>
                </a:ext>
              </a:extLst>
            </p:cNvPr>
            <p:cNvSpPr/>
            <p:nvPr/>
          </p:nvSpPr>
          <p:spPr>
            <a:xfrm>
              <a:off x="2784755" y="2012889"/>
              <a:ext cx="1198285" cy="391076"/>
            </a:xfrm>
            <a:prstGeom prst="flowChartAlternateProcess">
              <a:avLst/>
            </a:prstGeom>
            <a:solidFill>
              <a:srgbClr val="1E2761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schemeClr val="bg1"/>
                  </a:solidFill>
                  <a:latin typeface="Calibri" panose="020F0502020204030204"/>
                </a:rPr>
                <a:t>Run Compiler</a:t>
              </a:r>
              <a:endParaRPr lang="ko-KR" altLang="en-US" sz="120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CBC4266C-94C0-B5C6-6721-C224A466F46C}"/>
                </a:ext>
              </a:extLst>
            </p:cNvPr>
            <p:cNvCxnSpPr>
              <a:stCxn id="17" idx="3"/>
              <a:endCxn id="26" idx="1"/>
            </p:cNvCxnSpPr>
            <p:nvPr/>
          </p:nvCxnSpPr>
          <p:spPr>
            <a:xfrm>
              <a:off x="2277458" y="2208427"/>
              <a:ext cx="507297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순서도: 대체 처리 36">
              <a:extLst>
                <a:ext uri="{FF2B5EF4-FFF2-40B4-BE49-F238E27FC236}">
                  <a16:creationId xmlns:a16="http://schemas.microsoft.com/office/drawing/2014/main" id="{1610F64D-6C3C-383A-011F-29252CB1C7EE}"/>
                </a:ext>
              </a:extLst>
            </p:cNvPr>
            <p:cNvSpPr/>
            <p:nvPr/>
          </p:nvSpPr>
          <p:spPr>
            <a:xfrm>
              <a:off x="4423167" y="2012889"/>
              <a:ext cx="1198285" cy="391076"/>
            </a:xfrm>
            <a:prstGeom prst="flowChartAlternateProcess">
              <a:avLst/>
            </a:prstGeom>
            <a:solidFill>
              <a:srgbClr val="1E2761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schemeClr val="bg1"/>
                  </a:solidFill>
                  <a:latin typeface="Calibri" panose="020F0502020204030204"/>
                </a:rPr>
                <a:t>Verify Results</a:t>
              </a:r>
              <a:endParaRPr lang="ko-KR" altLang="en-US" sz="120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5AAED6D1-F317-20E6-0D68-2F6818DB4E11}"/>
                </a:ext>
              </a:extLst>
            </p:cNvPr>
            <p:cNvCxnSpPr>
              <a:cxnSpLocks/>
              <a:stCxn id="26" idx="3"/>
              <a:endCxn id="37" idx="1"/>
            </p:cNvCxnSpPr>
            <p:nvPr/>
          </p:nvCxnSpPr>
          <p:spPr>
            <a:xfrm>
              <a:off x="3983040" y="2208427"/>
              <a:ext cx="440127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4554095-302C-CB33-78CD-C0192459BDEC}"/>
              </a:ext>
            </a:extLst>
          </p:cNvPr>
          <p:cNvGrpSpPr/>
          <p:nvPr/>
        </p:nvGrpSpPr>
        <p:grpSpPr>
          <a:xfrm>
            <a:off x="4293946" y="2533045"/>
            <a:ext cx="903375" cy="879698"/>
            <a:chOff x="4293946" y="2494945"/>
            <a:chExt cx="903375" cy="87969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2F76A-5C87-42EF-66FA-2A0290072BE5}"/>
                </a:ext>
              </a:extLst>
            </p:cNvPr>
            <p:cNvSpPr txBox="1"/>
            <p:nvPr/>
          </p:nvSpPr>
          <p:spPr>
            <a:xfrm>
              <a:off x="4293946" y="2974533"/>
              <a:ext cx="9033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Compiler</a:t>
              </a:r>
              <a:br>
                <a:rPr lang="en-US" altLang="ko-KR" sz="100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Developer</a:t>
              </a:r>
              <a:endParaRPr lang="ko-KR" altLang="en-US" sz="1000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4E40135B-17F7-CBDF-6B0A-987D1FBD9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30491" y="2494945"/>
              <a:ext cx="484278" cy="493963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3204F4A-C4D7-0F23-301E-AAF3713FAF8B}"/>
              </a:ext>
            </a:extLst>
          </p:cNvPr>
          <p:cNvGrpSpPr/>
          <p:nvPr/>
        </p:nvGrpSpPr>
        <p:grpSpPr>
          <a:xfrm>
            <a:off x="10970721" y="3020933"/>
            <a:ext cx="823756" cy="733883"/>
            <a:chOff x="10970721" y="3020933"/>
            <a:chExt cx="823756" cy="733883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AF9D1D8F-27AD-F192-A4C9-00C1AF461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112696" y="3020933"/>
              <a:ext cx="484278" cy="49396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6F4B628-C567-31BD-EB7A-229EF2124A31}"/>
                </a:ext>
              </a:extLst>
            </p:cNvPr>
            <p:cNvSpPr txBox="1"/>
            <p:nvPr/>
          </p:nvSpPr>
          <p:spPr>
            <a:xfrm>
              <a:off x="10970721" y="3508595"/>
              <a:ext cx="8237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Developer</a:t>
              </a:r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F853711-C908-AE83-0DD8-BD357D21CD55}"/>
              </a:ext>
            </a:extLst>
          </p:cNvPr>
          <p:cNvGrpSpPr/>
          <p:nvPr/>
        </p:nvGrpSpPr>
        <p:grpSpPr>
          <a:xfrm>
            <a:off x="796316" y="2533717"/>
            <a:ext cx="903375" cy="879698"/>
            <a:chOff x="4293946" y="2494945"/>
            <a:chExt cx="903375" cy="8796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4ABC9C2-4221-2BB8-8743-5AB26229933C}"/>
                </a:ext>
              </a:extLst>
            </p:cNvPr>
            <p:cNvSpPr txBox="1"/>
            <p:nvPr/>
          </p:nvSpPr>
          <p:spPr>
            <a:xfrm>
              <a:off x="4293946" y="2974533"/>
              <a:ext cx="90337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Quantizer</a:t>
              </a:r>
              <a:br>
                <a:rPr lang="en-US" altLang="ko-KR" sz="100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Developer</a:t>
              </a:r>
              <a:endParaRPr lang="ko-KR" altLang="en-US" sz="1000"/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1153DE96-F98F-4C0A-87F0-459727FA9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30491" y="2494945"/>
              <a:ext cx="484278" cy="493963"/>
            </a:xfrm>
            <a:prstGeom prst="rect">
              <a:avLst/>
            </a:prstGeom>
          </p:spPr>
        </p:pic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FEEA42-C219-6CEC-8346-44151C2D618E}"/>
              </a:ext>
            </a:extLst>
          </p:cNvPr>
          <p:cNvSpPr/>
          <p:nvPr/>
        </p:nvSpPr>
        <p:spPr>
          <a:xfrm>
            <a:off x="3646554" y="812972"/>
            <a:ext cx="4541675" cy="1743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/>
              <a:t>As-Is</a:t>
            </a:r>
            <a:r>
              <a:rPr kumimoji="1" lang="ko-KR" altLang="en-US"/>
              <a:t>는 </a:t>
            </a:r>
            <a:r>
              <a:rPr kumimoji="1" lang="en-US" altLang="ko-KR"/>
              <a:t>CI</a:t>
            </a:r>
            <a:r>
              <a:rPr kumimoji="1" lang="ko-KR" altLang="en-US"/>
              <a:t> 확보</a:t>
            </a:r>
            <a:endParaRPr kumimoji="1" lang="en-US" altLang="ko-KR"/>
          </a:p>
          <a:p>
            <a:pPr algn="ctr"/>
            <a:r>
              <a:rPr kumimoji="1" lang="en-US" altLang="ko-KR"/>
              <a:t>(</a:t>
            </a:r>
            <a:r>
              <a:rPr kumimoji="1" lang="ko-KR" altLang="en-US"/>
              <a:t>그러나 에러를 보고만하고 끝</a:t>
            </a:r>
            <a:r>
              <a:rPr kumimoji="1" lang="en-US" altLang="ko-KR"/>
              <a:t>)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546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41F0-67C7-5A3B-76D2-81A09E21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16E26-923C-BF46-73CC-DFDBCCC0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배경</a:t>
            </a:r>
            <a:r>
              <a:rPr kumimoji="1" lang="en-US" altLang="ko-KR" sz="2800" b="1"/>
              <a:t>| Business Needs</a:t>
            </a:r>
            <a:r>
              <a:rPr kumimoji="1" lang="ko-KR" altLang="en-US" sz="2800" b="1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69A6A-B578-A10F-3F18-EF4090BD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1502080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kumimoji="1" lang="ko-KR" altLang="en-US" sz="1800" b="1">
                <a:ea typeface="맑은 고딕"/>
              </a:rPr>
              <a:t>현재 </a:t>
            </a:r>
            <a:r>
              <a:rPr kumimoji="1" lang="en-US" altLang="ko-KR" sz="1800" b="1">
                <a:ea typeface="맑은 고딕"/>
              </a:rPr>
              <a:t>Pain Point </a:t>
            </a:r>
            <a:r>
              <a:rPr kumimoji="1" lang="en-US" altLang="ko-KR" sz="1800" b="1">
                <a:solidFill>
                  <a:srgbClr val="000000"/>
                </a:solidFill>
                <a:ea typeface="맑은 고딕"/>
              </a:rPr>
              <a:t>(Agent </a:t>
            </a:r>
            <a:r>
              <a:rPr kumimoji="1" lang="en-US" altLang="ko-KR" sz="1800" b="1" err="1">
                <a:solidFill>
                  <a:srgbClr val="000000"/>
                </a:solidFill>
                <a:ea typeface="맑은 고딕"/>
              </a:rPr>
              <a:t>관리</a:t>
            </a:r>
            <a:r>
              <a:rPr kumimoji="1" lang="en-US" altLang="ko-KR" sz="1800" b="1">
                <a:solidFill>
                  <a:srgbClr val="000000"/>
                </a:solidFill>
                <a:ea typeface="맑은 고딕"/>
              </a:rPr>
              <a:t> </a:t>
            </a:r>
            <a:r>
              <a:rPr kumimoji="1" lang="en-US" altLang="ko-KR" sz="1800" b="1" err="1">
                <a:solidFill>
                  <a:srgbClr val="000000"/>
                </a:solidFill>
                <a:ea typeface="맑은 고딕"/>
              </a:rPr>
              <a:t>후보</a:t>
            </a:r>
            <a:r>
              <a:rPr kumimoji="1" lang="en-US" altLang="ko-KR" sz="1800" b="1">
                <a:solidFill>
                  <a:srgbClr val="000000"/>
                </a:solidFill>
                <a:ea typeface="맑은 고딕"/>
              </a:rPr>
              <a:t>: </a:t>
            </a:r>
            <a:r>
              <a:rPr kumimoji="1" lang="en-US" altLang="ko-KR" sz="1800" b="1">
                <a:solidFill>
                  <a:srgbClr val="FF0000"/>
                </a:solidFill>
                <a:ea typeface="맑은 고딕"/>
              </a:rPr>
              <a:t>workflow, node, config, </a:t>
            </a:r>
            <a:r>
              <a:rPr kumimoji="1" lang="en-US" altLang="ko-KR" sz="1800" b="1" err="1">
                <a:solidFill>
                  <a:srgbClr val="FF0000"/>
                </a:solidFill>
                <a:ea typeface="맑은 고딕"/>
              </a:rPr>
              <a:t>모델</a:t>
            </a:r>
            <a:r>
              <a:rPr kumimoji="1" lang="en-US" altLang="ko-KR" sz="1800" b="1">
                <a:solidFill>
                  <a:srgbClr val="FF0000"/>
                </a:solidFill>
                <a:ea typeface="맑은 고딕"/>
              </a:rPr>
              <a:t>, </a:t>
            </a:r>
            <a:r>
              <a:rPr kumimoji="1" lang="en-US" altLang="ko-KR" sz="1800" b="1" err="1">
                <a:solidFill>
                  <a:srgbClr val="FF0000"/>
                </a:solidFill>
                <a:ea typeface="맑은 고딕"/>
              </a:rPr>
              <a:t>산출물</a:t>
            </a:r>
            <a:r>
              <a:rPr kumimoji="1" lang="en-US" altLang="ko-KR" sz="1800" b="1">
                <a:solidFill>
                  <a:srgbClr val="FF0000"/>
                </a:solidFill>
                <a:ea typeface="맑은 고딕"/>
              </a:rPr>
              <a:t>, </a:t>
            </a:r>
            <a:r>
              <a:rPr kumimoji="1" lang="en-US" altLang="ko-KR" sz="1800" b="1" err="1">
                <a:solidFill>
                  <a:srgbClr val="FF0000"/>
                </a:solidFill>
                <a:ea typeface="맑은 고딕"/>
              </a:rPr>
              <a:t>jira</a:t>
            </a:r>
            <a:r>
              <a:rPr kumimoji="1" lang="en-US" altLang="ko-KR" sz="1800" b="1">
                <a:solidFill>
                  <a:srgbClr val="000000"/>
                </a:solidFill>
                <a:ea typeface="맑은 고딕"/>
              </a:rPr>
              <a:t>)</a:t>
            </a:r>
            <a:endParaRPr lang="en-US" altLang="ko-KR" sz="1400" b="1">
              <a:solidFill>
                <a:srgbClr val="000000"/>
              </a:solidFill>
              <a:ea typeface="맑은 고딕"/>
            </a:endParaRP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파일</a:t>
            </a:r>
            <a:r>
              <a:rPr kumimoji="1" lang="en-US" altLang="ko-KR" sz="1400"/>
              <a:t>, </a:t>
            </a:r>
            <a:r>
              <a:rPr kumimoji="1" lang="ko-KR" altLang="en-US" sz="1400"/>
              <a:t>산출물 공유 </a:t>
            </a:r>
            <a:r>
              <a:rPr kumimoji="1" lang="en-US" altLang="ko-KR" sz="1400"/>
              <a:t>(20GB)</a:t>
            </a:r>
            <a:r>
              <a:rPr kumimoji="1" lang="ko-KR" altLang="en-US" sz="1400"/>
              <a:t>가 필요하며</a:t>
            </a:r>
            <a:r>
              <a:rPr kumimoji="1" lang="en-US" altLang="ko-KR" sz="1400"/>
              <a:t>, </a:t>
            </a:r>
            <a:r>
              <a:rPr kumimoji="1" lang="ko-KR" altLang="en-US" sz="1400"/>
              <a:t>이 과정에서 파일 </a:t>
            </a:r>
            <a:r>
              <a:rPr kumimoji="1" lang="en-US" altLang="ko-KR" sz="1400"/>
              <a:t>Loss </a:t>
            </a:r>
            <a:r>
              <a:rPr kumimoji="1" lang="ko-KR" altLang="en-US" sz="1400"/>
              <a:t>등 신뢰성 이슈 발생 </a:t>
            </a:r>
            <a:endParaRPr kumimoji="1" lang="en-US" altLang="ko-KR" sz="1400"/>
          </a:p>
          <a:p>
            <a:pPr marL="1225550" lvl="2" indent="-311150">
              <a:lnSpc>
                <a:spcPct val="150000"/>
              </a:lnSpc>
            </a:pPr>
            <a:r>
              <a:rPr kumimoji="1" lang="ko-KR" altLang="en-US" sz="1000">
                <a:solidFill>
                  <a:srgbClr val="0066FF"/>
                </a:solidFill>
              </a:rPr>
              <a:t>→ 파일</a:t>
            </a:r>
            <a:r>
              <a:rPr kumimoji="1" lang="en-US" altLang="ko-KR" sz="1000">
                <a:solidFill>
                  <a:srgbClr val="0066FF"/>
                </a:solidFill>
              </a:rPr>
              <a:t>, </a:t>
            </a:r>
            <a:r>
              <a:rPr kumimoji="1" lang="ko-KR" altLang="en-US" sz="1000">
                <a:solidFill>
                  <a:srgbClr val="0066FF"/>
                </a:solidFill>
              </a:rPr>
              <a:t>산출물 공유는 </a:t>
            </a:r>
            <a:r>
              <a:rPr kumimoji="1" lang="en-US" altLang="ko-KR" sz="1000">
                <a:solidFill>
                  <a:srgbClr val="0066FF"/>
                </a:solidFill>
              </a:rPr>
              <a:t>Git Action</a:t>
            </a:r>
            <a:r>
              <a:rPr kumimoji="1" lang="ko-KR" altLang="en-US" sz="1000">
                <a:solidFill>
                  <a:srgbClr val="0066FF"/>
                </a:solidFill>
              </a:rPr>
              <a:t>으로 해결</a:t>
            </a:r>
            <a:r>
              <a:rPr kumimoji="1" lang="en-US" altLang="ko-KR" sz="1000">
                <a:solidFill>
                  <a:srgbClr val="FF0000"/>
                </a:solidFill>
              </a:rPr>
              <a:t>, </a:t>
            </a:r>
            <a:r>
              <a:rPr kumimoji="1" lang="ko-KR" altLang="en-US" sz="1000">
                <a:solidFill>
                  <a:srgbClr val="FF0000"/>
                </a:solidFill>
              </a:rPr>
              <a:t>→ </a:t>
            </a:r>
            <a:r>
              <a:rPr kumimoji="1" lang="en-US" altLang="ko-KR" sz="1000">
                <a:solidFill>
                  <a:srgbClr val="FF0000"/>
                </a:solidFill>
              </a:rPr>
              <a:t>Agent</a:t>
            </a:r>
            <a:r>
              <a:rPr kumimoji="1" lang="ko-KR" altLang="en-US" sz="1000">
                <a:solidFill>
                  <a:srgbClr val="FF0000"/>
                </a:solidFill>
              </a:rPr>
              <a:t>를 통한 </a:t>
            </a:r>
            <a:r>
              <a:rPr kumimoji="1" lang="en-US" altLang="ko-KR" sz="1000">
                <a:solidFill>
                  <a:srgbClr val="FF0000"/>
                </a:solidFill>
              </a:rPr>
              <a:t>Storage </a:t>
            </a:r>
            <a:r>
              <a:rPr kumimoji="1" lang="ko-KR" altLang="en-US" sz="1000">
                <a:solidFill>
                  <a:srgbClr val="FF0000"/>
                </a:solidFill>
              </a:rPr>
              <a:t>용량 관리 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Tool Version, Config</a:t>
            </a:r>
            <a:r>
              <a:rPr kumimoji="1" lang="ko-KR" altLang="en-US" sz="1400"/>
              <a:t>가 개발자 개인별 관리되고 있어</a:t>
            </a:r>
            <a:r>
              <a:rPr kumimoji="1" lang="en-US" altLang="ko-KR" sz="1400"/>
              <a:t>, </a:t>
            </a:r>
            <a:r>
              <a:rPr kumimoji="1" lang="ko-KR" altLang="en-US" sz="1400"/>
              <a:t>추적성 </a:t>
            </a:r>
            <a:r>
              <a:rPr kumimoji="1" lang="ko-KR" altLang="en-US" sz="1400">
                <a:solidFill>
                  <a:srgbClr val="0066FF"/>
                </a:solidFill>
              </a:rPr>
              <a:t>→ </a:t>
            </a:r>
            <a:r>
              <a:rPr kumimoji="1" lang="en-US" altLang="ko-KR" sz="1400">
                <a:solidFill>
                  <a:srgbClr val="0066FF"/>
                </a:solidFill>
              </a:rPr>
              <a:t>Git Action</a:t>
            </a:r>
            <a:r>
              <a:rPr kumimoji="1" lang="ko-KR" altLang="en-US" sz="1400">
                <a:solidFill>
                  <a:srgbClr val="0066FF"/>
                </a:solidFill>
              </a:rPr>
              <a:t>으로 해결</a:t>
            </a:r>
            <a:endParaRPr kumimoji="1" lang="en-US" altLang="ko-KR" sz="1400">
              <a:solidFill>
                <a:srgbClr val="0066FF"/>
              </a:solidFill>
            </a:endParaRP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Regression </a:t>
            </a:r>
            <a:r>
              <a:rPr kumimoji="1" lang="ko-KR" altLang="en-US" sz="1400"/>
              <a:t>확보가 어려움 </a:t>
            </a:r>
            <a:r>
              <a:rPr kumimoji="1" lang="ko-KR" altLang="en-US" sz="1400">
                <a:solidFill>
                  <a:srgbClr val="FF0000"/>
                </a:solidFill>
              </a:rPr>
              <a:t>→ </a:t>
            </a:r>
            <a:r>
              <a:rPr kumimoji="1" lang="en-US" altLang="ko-KR" sz="1400">
                <a:solidFill>
                  <a:srgbClr val="FF0000"/>
                </a:solidFill>
              </a:rPr>
              <a:t>Agent</a:t>
            </a:r>
            <a:r>
              <a:rPr kumimoji="1" lang="ko-KR" altLang="en-US" sz="1400">
                <a:solidFill>
                  <a:srgbClr val="FF0000"/>
                </a:solidFill>
              </a:rPr>
              <a:t>를 통한 영향 받는 </a:t>
            </a:r>
            <a:r>
              <a:rPr kumimoji="1" lang="en-US" altLang="ko-KR" sz="1400">
                <a:solidFill>
                  <a:srgbClr val="FF0000"/>
                </a:solidFill>
              </a:rPr>
              <a:t>Workflow </a:t>
            </a:r>
            <a:r>
              <a:rPr kumimoji="1" lang="ko-KR" altLang="en-US" sz="1400">
                <a:solidFill>
                  <a:srgbClr val="FF0000"/>
                </a:solidFill>
              </a:rPr>
              <a:t>판별 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>
                <a:ea typeface="맑은 고딕"/>
              </a:rPr>
              <a:t>Workflow</a:t>
            </a:r>
            <a:r>
              <a:rPr kumimoji="1" lang="ko-KR" altLang="en-US" sz="1400">
                <a:ea typeface="맑은 고딕"/>
              </a:rPr>
              <a:t>가 너무 세세함 </a:t>
            </a:r>
            <a:r>
              <a:rPr kumimoji="1" lang="en-US" altLang="ko-KR" sz="1400">
                <a:ea typeface="맑은 고딕"/>
              </a:rPr>
              <a:t>(Tool Version, Config </a:t>
            </a:r>
            <a:r>
              <a:rPr kumimoji="1" lang="ko-KR" altLang="en-US" sz="1400">
                <a:ea typeface="맑은 고딕"/>
              </a:rPr>
              <a:t>세팅이 어려움</a:t>
            </a:r>
            <a:r>
              <a:rPr kumimoji="1" lang="en-US" altLang="ko-KR" sz="1400">
                <a:ea typeface="맑은 고딕"/>
              </a:rPr>
              <a:t>)</a:t>
            </a:r>
            <a:r>
              <a:rPr kumimoji="1" lang="en-US" altLang="ko-KR" sz="1400">
                <a:solidFill>
                  <a:srgbClr val="FF0000"/>
                </a:solidFill>
                <a:ea typeface="맑은 고딕"/>
              </a:rPr>
              <a:t> 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→ 모델별로 </a:t>
            </a:r>
            <a:r>
              <a:rPr kumimoji="1" lang="en-US" altLang="ko-KR" sz="1400" err="1">
                <a:solidFill>
                  <a:srgbClr val="FF0000"/>
                </a:solidFill>
                <a:ea typeface="맑은 고딕"/>
              </a:rPr>
              <a:t>Config.JSON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를 다르게 관리해야 할 경우</a:t>
            </a:r>
            <a:r>
              <a:rPr kumimoji="1" lang="en-US" altLang="ko-KR" sz="1400">
                <a:solidFill>
                  <a:srgbClr val="FF0000"/>
                </a:solidFill>
                <a:ea typeface="맑은 고딕"/>
              </a:rPr>
              <a:t>, Agent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로 </a:t>
            </a:r>
            <a:r>
              <a:rPr kumimoji="1" lang="ko-KR" altLang="en-US" sz="1400" err="1">
                <a:solidFill>
                  <a:srgbClr val="FF0000"/>
                </a:solidFill>
                <a:ea typeface="맑은 고딕"/>
              </a:rPr>
              <a:t>알잘딱깔센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 세팅할 수 있나</a:t>
            </a:r>
            <a:r>
              <a:rPr kumimoji="1" lang="en-US" altLang="ko-KR" sz="1400">
                <a:solidFill>
                  <a:srgbClr val="FF0000"/>
                </a:solidFill>
                <a:ea typeface="맑은 고딕"/>
              </a:rPr>
              <a:t>?</a:t>
            </a:r>
            <a:endParaRPr kumimoji="1" lang="ko-KR" altLang="en-US" sz="1400">
              <a:solidFill>
                <a:srgbClr val="FF0000"/>
              </a:solidFill>
              <a:ea typeface="맑은 고딕"/>
            </a:endParaRP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>
                <a:ea typeface="맑은 고딕"/>
              </a:rPr>
              <a:t>Jira Status </a:t>
            </a:r>
            <a:r>
              <a:rPr kumimoji="1" lang="ko-KR" altLang="en-US" sz="1400">
                <a:ea typeface="맑은 고딕"/>
              </a:rPr>
              <a:t>업데이트를 개발자에 의존하여</a:t>
            </a:r>
            <a:r>
              <a:rPr kumimoji="1" lang="en-US" altLang="ko-KR" sz="1400">
                <a:ea typeface="맑은 고딕"/>
              </a:rPr>
              <a:t> </a:t>
            </a:r>
            <a:r>
              <a:rPr kumimoji="1" lang="ko-KR" altLang="en-US" sz="1400">
                <a:ea typeface="맑은 고딕"/>
              </a:rPr>
              <a:t>최신 </a:t>
            </a:r>
            <a:r>
              <a:rPr kumimoji="1" lang="en-US" altLang="ko-KR" sz="1400">
                <a:ea typeface="맑은 고딕"/>
              </a:rPr>
              <a:t>Status </a:t>
            </a:r>
            <a:r>
              <a:rPr kumimoji="1" lang="ko-KR" altLang="en-US" sz="1400">
                <a:ea typeface="맑은 고딕"/>
              </a:rPr>
              <a:t>파악 어려움 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→ </a:t>
            </a:r>
            <a:r>
              <a:rPr kumimoji="1" lang="en-US" altLang="ko-KR" sz="1400">
                <a:solidFill>
                  <a:srgbClr val="FF0000"/>
                </a:solidFill>
                <a:ea typeface="맑은 고딕"/>
              </a:rPr>
              <a:t>JIRA 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관리 </a:t>
            </a:r>
            <a:r>
              <a:rPr kumimoji="1" lang="en-US" altLang="ko-KR" sz="1400">
                <a:solidFill>
                  <a:srgbClr val="FF0000"/>
                </a:solidFill>
                <a:ea typeface="맑은 고딕"/>
              </a:rPr>
              <a:t>Agent</a:t>
            </a:r>
            <a:r>
              <a:rPr kumimoji="1" lang="ko-KR" altLang="en-US" sz="1400">
                <a:solidFill>
                  <a:srgbClr val="FF0000"/>
                </a:solidFill>
                <a:ea typeface="맑은 고딕"/>
              </a:rPr>
              <a:t> 도입 </a:t>
            </a:r>
            <a:endParaRPr kumimoji="1" lang="ko-KR" altLang="en-US" sz="1400">
              <a:ea typeface="맑은 고딕"/>
            </a:endParaRP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 strike="sngStrike"/>
              <a:t>팀이 많고</a:t>
            </a:r>
            <a:r>
              <a:rPr kumimoji="1" lang="en-US" altLang="ko-KR" sz="1400" strike="sngStrike"/>
              <a:t>, </a:t>
            </a:r>
            <a:r>
              <a:rPr kumimoji="1" lang="ko-KR" altLang="en-US" sz="1400" strike="sngStrike"/>
              <a:t>개발 속도가 빨라 </a:t>
            </a:r>
            <a:r>
              <a:rPr kumimoji="1" lang="en-US" altLang="ko-KR" sz="1400" strike="sngStrike"/>
              <a:t>Jira </a:t>
            </a:r>
            <a:r>
              <a:rPr kumimoji="1" lang="ko-KR" altLang="en-US" sz="1400" strike="sngStrike"/>
              <a:t>대신 채팅에 의존 </a:t>
            </a:r>
            <a:r>
              <a:rPr kumimoji="1" lang="en-US" altLang="ko-KR" sz="1400" strike="sngStrike"/>
              <a:t>(</a:t>
            </a:r>
            <a:r>
              <a:rPr kumimoji="1" lang="ko-KR" altLang="en-US" sz="1400" strike="sngStrike"/>
              <a:t>속도가 매우 빠르다</a:t>
            </a:r>
            <a:r>
              <a:rPr kumimoji="1" lang="en-US" altLang="ko-KR" sz="1400" strike="sngStrike"/>
              <a:t>.)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모델이 </a:t>
            </a:r>
            <a:r>
              <a:rPr kumimoji="1" lang="en-US" altLang="ko-KR" sz="1400"/>
              <a:t>140</a:t>
            </a:r>
            <a:r>
              <a:rPr kumimoji="1" lang="ko-KR" altLang="en-US" sz="1400"/>
              <a:t>개 이상이며</a:t>
            </a:r>
            <a:r>
              <a:rPr kumimoji="1" lang="en-US" altLang="ko-KR" sz="1400"/>
              <a:t>, </a:t>
            </a:r>
            <a:r>
              <a:rPr kumimoji="1" lang="ko-KR" altLang="en-US" sz="1400"/>
              <a:t>각 </a:t>
            </a:r>
            <a:r>
              <a:rPr kumimoji="1" lang="en-US" altLang="ko-KR" sz="1400"/>
              <a:t>Step</a:t>
            </a:r>
            <a:r>
              <a:rPr kumimoji="1" lang="ko-KR" altLang="en-US" sz="1400"/>
              <a:t>의 </a:t>
            </a:r>
            <a:r>
              <a:rPr kumimoji="1" lang="en-US" altLang="ko-KR" sz="1400"/>
              <a:t>Iteration</a:t>
            </a:r>
            <a:r>
              <a:rPr kumimoji="1" lang="ko-KR" altLang="en-US" sz="1400"/>
              <a:t>도 다수</a:t>
            </a:r>
            <a:endParaRPr kumimoji="1" lang="en-US" altLang="ko-KR" sz="18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1800" b="1"/>
              <a:t>현 분석 도구 한계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현재 </a:t>
            </a:r>
            <a:r>
              <a:rPr kumimoji="1" lang="en-US" altLang="ko-KR" sz="1400"/>
              <a:t>GUI</a:t>
            </a:r>
            <a:r>
              <a:rPr kumimoji="1" lang="ko-KR" altLang="en-US" sz="1400"/>
              <a:t>는 커스텀 뷰 기능이 없으며 </a:t>
            </a:r>
            <a:r>
              <a:rPr kumimoji="1" lang="en-US" altLang="ko-KR" sz="1400"/>
              <a:t>UI </a:t>
            </a:r>
            <a:r>
              <a:rPr kumimoji="1" lang="ko-KR" altLang="en-US" sz="1400"/>
              <a:t>변경 및 워크플로우 연동 필요 </a:t>
            </a:r>
            <a:r>
              <a:rPr kumimoji="1" lang="ko-KR" altLang="en-US" sz="1400">
                <a:solidFill>
                  <a:srgbClr val="FF0000"/>
                </a:solidFill>
              </a:rPr>
              <a:t>→ </a:t>
            </a:r>
            <a:r>
              <a:rPr kumimoji="1" lang="en-US" altLang="ko-KR" sz="1400">
                <a:solidFill>
                  <a:srgbClr val="FF0000"/>
                </a:solidFill>
              </a:rPr>
              <a:t>Agent-Interactive</a:t>
            </a:r>
            <a:r>
              <a:rPr kumimoji="1" lang="ko-KR" altLang="en-US" sz="1400">
                <a:solidFill>
                  <a:srgbClr val="FF0000"/>
                </a:solidFill>
              </a:rPr>
              <a:t> 가능한 노드 도입 </a:t>
            </a:r>
            <a:endParaRPr kumimoji="1" lang="en-US" altLang="ko-KR" sz="1400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기존 시각화 기능은 전체 보기만 제공</a:t>
            </a:r>
            <a:r>
              <a:rPr kumimoji="1" lang="en-US" altLang="ko-KR" sz="1400"/>
              <a:t>. A,B,C </a:t>
            </a:r>
            <a:r>
              <a:rPr kumimoji="1" lang="ko-KR" altLang="en-US" sz="1400"/>
              <a:t>등 세부 정보 선택 불가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별도 툴이 없어 프롬프트로 즉시 커스텀 </a:t>
            </a:r>
            <a:r>
              <a:rPr kumimoji="1" lang="en-US" altLang="ko-KR" sz="1400"/>
              <a:t>HTML </a:t>
            </a:r>
            <a:r>
              <a:rPr kumimoji="1" lang="ko-KR" altLang="en-US" sz="1400"/>
              <a:t>페이지를 생성해야 함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프롬프트 기반 커스텀 페이지 구현 방안</a:t>
            </a:r>
          </a:p>
          <a:p>
            <a:pPr marL="1225550" lvl="2" indent="-311150">
              <a:lnSpc>
                <a:spcPct val="150000"/>
              </a:lnSpc>
            </a:pPr>
            <a:r>
              <a:rPr kumimoji="1" lang="ko-KR" altLang="en-US" sz="1100"/>
              <a:t>프롬프트에 </a:t>
            </a:r>
            <a:r>
              <a:rPr kumimoji="1" lang="en-US" altLang="ko-KR" sz="1100"/>
              <a:t>A,B,C </a:t>
            </a:r>
            <a:r>
              <a:rPr kumimoji="1" lang="ko-KR" altLang="en-US" sz="1100"/>
              <a:t>지정 </a:t>
            </a:r>
            <a:r>
              <a:rPr kumimoji="1" lang="en-US" altLang="ko-KR" sz="1100"/>
              <a:t>-&gt; LLM</a:t>
            </a:r>
            <a:r>
              <a:rPr kumimoji="1" lang="ko-KR" altLang="en-US" sz="1100"/>
              <a:t>이 해당 데이터만 추출해 </a:t>
            </a:r>
            <a:r>
              <a:rPr kumimoji="1" lang="en-US" altLang="ko-KR" sz="1100"/>
              <a:t>HTML </a:t>
            </a:r>
            <a:r>
              <a:rPr kumimoji="1" lang="ko-KR" altLang="en-US" sz="1100"/>
              <a:t>페이지 출력</a:t>
            </a:r>
          </a:p>
          <a:p>
            <a:pPr marL="1225550" lvl="2" indent="-311150">
              <a:lnSpc>
                <a:spcPct val="150000"/>
              </a:lnSpc>
            </a:pPr>
            <a:r>
              <a:rPr kumimoji="1" lang="en-US" altLang="ko-KR" sz="1100">
                <a:ea typeface="맑은 고딕"/>
              </a:rPr>
              <a:t>"</a:t>
            </a:r>
            <a:r>
              <a:rPr kumimoji="1" lang="ko-KR" altLang="en-US" sz="1100" err="1">
                <a:ea typeface="맑은 고딕"/>
              </a:rPr>
              <a:t>퍼펙토</a:t>
            </a:r>
            <a:r>
              <a:rPr kumimoji="1" lang="en-US" altLang="ko-KR" sz="1100">
                <a:ea typeface="맑은 고딕"/>
              </a:rPr>
              <a:t>" </a:t>
            </a:r>
            <a:r>
              <a:rPr kumimoji="1" lang="ko-KR" altLang="en-US" sz="1100">
                <a:ea typeface="맑은 고딕"/>
              </a:rPr>
              <a:t>프로파일링 툴과 연계해 에이전트가 분석 결과를 자동 가공</a:t>
            </a:r>
            <a:endParaRPr lang="ko-KR" altLang="en-US" sz="1100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08FB7E-D48E-D395-5AA4-1C506066C30B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C7157A-128A-36CE-ACCD-28AAE41DEFEB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FB2B03A-31C4-4A72-F924-1342173ACEE6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12CC6B8-2E60-7D7A-4145-8DC306DE6AD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FEBA415-59E6-D41A-7E63-F12F70F859F7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29B6C5D-20F8-6990-9A5C-3E71CA065131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0F8BCED-722D-4FF2-FB1B-2CED1C4271B9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723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E9-DCE4-330B-07A9-6B310FB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196C5-03F9-77F4-6606-F4610972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>
                <a:ea typeface="맑은 고딕"/>
              </a:rPr>
              <a:t>요구사항 수집 및 분석</a:t>
            </a:r>
            <a:endParaRPr lang="ko-KR" altLang="en-US" sz="3600" b="1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7FA8B-AACC-3E24-37FC-94992AE5CDE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D6574B-D594-8956-2E3E-366667ED668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659710-4195-1B1C-2D09-09A9C7BBE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931907-5E62-5EE8-35D6-48DD83B0AD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E6D2E37-FB19-1366-2D86-B00B69D99DA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9EAB8F-D863-025D-35E3-42E792EFC40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3668ED-7958-FE9D-FC9E-47B4E172F6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8D8BEB07-26AE-042C-F1C0-E31753DDDA9F}"/>
              </a:ext>
            </a:extLst>
          </p:cNvPr>
          <p:cNvSpPr/>
          <p:nvPr/>
        </p:nvSpPr>
        <p:spPr>
          <a:xfrm>
            <a:off x="648013" y="1553355"/>
            <a:ext cx="3600000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Stakeholder 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선정 및 역할 정의</a:t>
            </a: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모델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PM </a:t>
            </a:r>
            <a:r>
              <a:rPr lang="en-US" altLang="ko-KR" sz="11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Project Manager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프로젝트 관리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SDK 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개발자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Tool 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개발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모델 실행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이슈처리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플랫폼 개발자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Workflow 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관리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Node-Agent 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매핑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latinLnBrk="0"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F4A37-E341-8B28-E3CA-06A0DB97FA06}"/>
              </a:ext>
            </a:extLst>
          </p:cNvPr>
          <p:cNvSpPr txBox="1"/>
          <p:nvPr/>
        </p:nvSpPr>
        <p:spPr>
          <a:xfrm>
            <a:off x="4872049" y="1187053"/>
            <a:ext cx="2831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요구사항 분석 및 정제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39B85-3AB9-3A0F-1FDB-84D56E430FA6}"/>
              </a:ext>
            </a:extLst>
          </p:cNvPr>
          <p:cNvSpPr txBox="1"/>
          <p:nvPr/>
        </p:nvSpPr>
        <p:spPr>
          <a:xfrm>
            <a:off x="1187683" y="1190932"/>
            <a:ext cx="2520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요구사항 수집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4E258-46F7-BE06-BC29-F4C5880C92C8}"/>
              </a:ext>
            </a:extLst>
          </p:cNvPr>
          <p:cNvSpPr txBox="1"/>
          <p:nvPr/>
        </p:nvSpPr>
        <p:spPr>
          <a:xfrm>
            <a:off x="8711812" y="1194420"/>
            <a:ext cx="2831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&lt;Architectural Driver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선정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35E0516-2CB8-8934-09C9-E63DCD0C7983}"/>
              </a:ext>
            </a:extLst>
          </p:cNvPr>
          <p:cNvSpPr/>
          <p:nvPr/>
        </p:nvSpPr>
        <p:spPr>
          <a:xfrm>
            <a:off x="4487777" y="1553355"/>
            <a:ext cx="3600000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Stakeholder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별 시나리오</a:t>
            </a: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요구사항 분석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요구사항 분류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중복 통합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과제 범위 정의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Utility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Tree</a:t>
            </a: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작성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중요도 평가</a:t>
            </a:r>
            <a:b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(H/M/L)</a:t>
            </a: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난이도 평가</a:t>
            </a:r>
            <a:b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(H/M/L)</a:t>
            </a:r>
          </a:p>
          <a:p>
            <a:pPr marL="742950" lvl="1" indent="-285750" latinLnBrk="0">
              <a:buFont typeface="Arial" panose="020B0604020202020204" pitchFamily="34" charset="0"/>
              <a:buChar char="•"/>
              <a:defRPr/>
            </a:pPr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우선순위 결정</a:t>
            </a:r>
            <a:endParaRPr lang="en-US" altLang="ko-KR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4809366C-279C-B37E-9281-A4298C2DF751}"/>
              </a:ext>
            </a:extLst>
          </p:cNvPr>
          <p:cNvSpPr/>
          <p:nvPr/>
        </p:nvSpPr>
        <p:spPr>
          <a:xfrm>
            <a:off x="8327540" y="1553355"/>
            <a:ext cx="3600000" cy="501255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Architecture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설계 영향을 주는 핵심 요구사항</a:t>
            </a:r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실행 단추: 앞으로 또는 다음으로 이동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99B040-D971-E4E3-A30D-1BB07660D43B}"/>
              </a:ext>
            </a:extLst>
          </p:cNvPr>
          <p:cNvSpPr/>
          <p:nvPr/>
        </p:nvSpPr>
        <p:spPr>
          <a:xfrm>
            <a:off x="7626584" y="6087448"/>
            <a:ext cx="369332" cy="369332"/>
          </a:xfrm>
          <a:prstGeom prst="actionButtonForwardNex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ABC9DD60-BBF7-A8DA-8D36-AD9412E35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647378"/>
              </p:ext>
            </p:extLst>
          </p:nvPr>
        </p:nvGraphicFramePr>
        <p:xfrm>
          <a:off x="8609931" y="2439038"/>
          <a:ext cx="3132000" cy="37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97">
                  <a:extLst>
                    <a:ext uri="{9D8B030D-6E8A-4147-A177-3AD203B41FA5}">
                      <a16:colId xmlns:a16="http://schemas.microsoft.com/office/drawing/2014/main" val="936231806"/>
                    </a:ext>
                  </a:extLst>
                </a:gridCol>
                <a:gridCol w="2265703">
                  <a:extLst>
                    <a:ext uri="{9D8B030D-6E8A-4147-A177-3AD203B41FA5}">
                      <a16:colId xmlns:a16="http://schemas.microsoft.com/office/drawing/2014/main" val="2716475491"/>
                    </a:ext>
                  </a:extLst>
                </a:gridCol>
              </a:tblGrid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FR01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Workflow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실행 인프라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865966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FR02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Artifact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362720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FR03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SDK Config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변경 추적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73207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FR04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관측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90119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FR05</a:t>
                      </a:r>
                      <a:endParaRPr lang="ko-KR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(?) </a:t>
                      </a:r>
                      <a:r>
                        <a:rPr lang="ko-KR" sz="12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시스템 운영·제어</a:t>
                      </a:r>
                      <a:endParaRPr lang="ko-KR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224432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sz="1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47595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C01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BFD0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표준 패키징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253572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C02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BFD0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배포 이식성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85215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sz="12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sz="12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144740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b="1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QA01</a:t>
                      </a:r>
                      <a:endParaRPr lang="ko-KR" sz="1200" b="1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Agent </a:t>
                      </a:r>
                      <a:r>
                        <a:rPr lang="ko-KR" altLang="en-US" sz="12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토큰 사용량</a:t>
                      </a:r>
                      <a:endParaRPr lang="ko-KR" sz="12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863872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QA02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시스템 확장성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36793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QA03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수행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327791"/>
                  </a:ext>
                </a:extLst>
              </a:tr>
              <a:tr h="28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QA04</a:t>
                      </a:r>
                      <a:endParaRPr lang="ko-KR" altLang="en-US" sz="1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안정적 운영 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9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29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E9-DCE4-330B-07A9-6B310FB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196C5-03F9-77F4-6606-F4610972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기능 요구사항</a:t>
            </a:r>
            <a:r>
              <a:rPr kumimoji="1" lang="en-US" altLang="ko-KR" sz="3600" b="1"/>
              <a:t>, </a:t>
            </a:r>
            <a:r>
              <a:rPr kumimoji="1" lang="ko-KR" altLang="en-US" sz="3600" b="1"/>
              <a:t>제약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7FA8B-AACC-3E24-37FC-94992AE5CDE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D6574B-D594-8956-2E3E-366667ED668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659710-4195-1B1C-2D09-09A9C7BBE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931907-5E62-5EE8-35D6-48DD83B0AD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E6D2E37-FB19-1366-2D86-B00B69D99DA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9EAB8F-D863-025D-35E3-42E792EFC40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3668ED-7958-FE9D-FC9E-47B4E172F6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FF5587-B371-BF11-1A7E-2D7974A6B507}"/>
              </a:ext>
            </a:extLst>
          </p:cNvPr>
          <p:cNvGraphicFramePr>
            <a:graphicFrameLocks noGrp="1"/>
          </p:cNvGraphicFramePr>
          <p:nvPr/>
        </p:nvGraphicFramePr>
        <p:xfrm>
          <a:off x="1381782" y="1361411"/>
          <a:ext cx="9905343" cy="320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276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7828067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요구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상세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/>
                        <a:t>Workflow </a:t>
                      </a:r>
                      <a:r>
                        <a:rPr lang="ko-KR" altLang="en-US" sz="1400" b="1"/>
                        <a:t>실행 인프라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노드 단위로 실행을 격리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재시도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복구할 수 있는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Workflow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인프라를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Artifact 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</a:t>
                      </a:r>
                      <a:endParaRPr lang="ko-KR" altLang="en-US" sz="14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대용량 산출물을 저장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전달하는 관리 인프라를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/>
                        <a:t>SDK Config </a:t>
                      </a:r>
                      <a:r>
                        <a:rPr lang="ko-KR" altLang="en-US" sz="1400" b="1"/>
                        <a:t>변경 추적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SDK Config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 버전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 파일 등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변경되었을 때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 범위를 자동 분석하고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 기능을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900946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</a:t>
                      </a:r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관측</a:t>
                      </a:r>
                      <a:endParaRPr lang="ko-KR" altLang="en-US" sz="14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동작을 제한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통제하고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이력과 추론 과정을 추적할 수 있는 운영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관측 기능을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5800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b="1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(?) </a:t>
                      </a:r>
                      <a:r>
                        <a:rPr lang="ko-KR" sz="1400" b="1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시스템 </a:t>
                      </a:r>
                      <a:r>
                        <a:rPr lang="ko-KR" sz="1400" b="1" i="0" u="none" strike="noStrike" kern="1200" noProof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운영·제어</a:t>
                      </a:r>
                      <a:endParaRPr lang="ko-KR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400" b="0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시스템은 전체 현황을 조회하고, </a:t>
                      </a:r>
                      <a:r>
                        <a:rPr lang="ko-KR" sz="1400" b="0" i="0" u="none" strike="noStrike" kern="1200" noProof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Workflow·Agent·Tool</a:t>
                      </a:r>
                      <a:r>
                        <a:rPr lang="ko-KR" sz="1400" b="0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구성을 변경할 수 있는 통합 제어 인터페이스를 제공한다.</a:t>
                      </a:r>
                      <a:endParaRPr lang="ko-KR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315520CC-2423-A973-7A73-938BC5959F41}"/>
              </a:ext>
            </a:extLst>
          </p:cNvPr>
          <p:cNvSpPr/>
          <p:nvPr/>
        </p:nvSpPr>
        <p:spPr>
          <a:xfrm>
            <a:off x="504000" y="1774142"/>
            <a:ext cx="648000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A868C4B4-3323-3DE3-2499-68F0756F45E8}"/>
              </a:ext>
            </a:extLst>
          </p:cNvPr>
          <p:cNvSpPr/>
          <p:nvPr/>
        </p:nvSpPr>
        <p:spPr>
          <a:xfrm>
            <a:off x="504000" y="2351678"/>
            <a:ext cx="648000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4FB85804-3D64-67B3-0CB8-1246FCD29CC1}"/>
              </a:ext>
            </a:extLst>
          </p:cNvPr>
          <p:cNvSpPr/>
          <p:nvPr/>
        </p:nvSpPr>
        <p:spPr>
          <a:xfrm>
            <a:off x="504000" y="2929214"/>
            <a:ext cx="648000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19077494-E0B4-F773-D1DD-A7E2EC5DE3E5}"/>
              </a:ext>
            </a:extLst>
          </p:cNvPr>
          <p:cNvSpPr/>
          <p:nvPr/>
        </p:nvSpPr>
        <p:spPr>
          <a:xfrm>
            <a:off x="504000" y="3506749"/>
            <a:ext cx="648000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4C9104C-4058-CDA4-FA5D-4117B0D50800}"/>
              </a:ext>
            </a:extLst>
          </p:cNvPr>
          <p:cNvGraphicFramePr>
            <a:graphicFrameLocks noGrp="1"/>
          </p:cNvGraphicFramePr>
          <p:nvPr/>
        </p:nvGraphicFramePr>
        <p:xfrm>
          <a:off x="1381781" y="4847561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276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7828067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제약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상세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/>
                        <a:t>표준 패키징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On-device SDK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Package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형태이며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Ubuntu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기반의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환경에서 구동 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/>
                        <a:t>배포 </a:t>
                      </a:r>
                      <a:r>
                        <a:rPr lang="ko-KR" altLang="en-US" sz="1400" b="1" err="1"/>
                        <a:t>이식성</a:t>
                      </a:r>
                      <a:endParaRPr lang="ko-KR" altLang="en-US" sz="1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클라우드 환경 이외에도 내부 개발 서버들에 직접 구축할 수 있어야 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endParaRPr lang="ko-KR" altLang="en-US" sz="1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Agent가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오동작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하더라도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기존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시스템(</a:t>
                      </a:r>
                      <a:r>
                        <a:rPr lang="ko-KR" altLang="en-US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Workflow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Jira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빌드 서버 등)에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영향이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없어야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한다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ko-K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664C2A21-8B86-62AE-F2AF-5771A2FEAE40}"/>
              </a:ext>
            </a:extLst>
          </p:cNvPr>
          <p:cNvSpPr/>
          <p:nvPr/>
        </p:nvSpPr>
        <p:spPr>
          <a:xfrm>
            <a:off x="504000" y="5263908"/>
            <a:ext cx="648000" cy="37370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C1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014CFA0D-8445-E01A-8FDE-00273AEE01E7}"/>
              </a:ext>
            </a:extLst>
          </p:cNvPr>
          <p:cNvSpPr/>
          <p:nvPr/>
        </p:nvSpPr>
        <p:spPr>
          <a:xfrm>
            <a:off x="504000" y="5841443"/>
            <a:ext cx="648000" cy="37370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C2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148A51E7-20B8-32BE-8A31-4E79AE6838F8}"/>
              </a:ext>
            </a:extLst>
          </p:cNvPr>
          <p:cNvSpPr/>
          <p:nvPr/>
        </p:nvSpPr>
        <p:spPr>
          <a:xfrm>
            <a:off x="504000" y="4084284"/>
            <a:ext cx="648000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FR5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9424A4-2A63-A7D8-B3CA-8FE533596044}"/>
              </a:ext>
            </a:extLst>
          </p:cNvPr>
          <p:cNvSpPr/>
          <p:nvPr/>
        </p:nvSpPr>
        <p:spPr>
          <a:xfrm>
            <a:off x="4744134" y="-1743572"/>
            <a:ext cx="4541675" cy="1743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/>
              <a:t>Agent </a:t>
            </a:r>
            <a:r>
              <a:rPr kumimoji="1" lang="ko-KR" altLang="en-US"/>
              <a:t>특화 </a:t>
            </a:r>
            <a:r>
              <a:rPr kumimoji="1" lang="en-US" altLang="ko-KR"/>
              <a:t>FR</a:t>
            </a:r>
            <a:r>
              <a:rPr kumimoji="1" lang="ko-KR" altLang="en-US"/>
              <a:t>은 표시</a:t>
            </a:r>
          </a:p>
        </p:txBody>
      </p:sp>
    </p:spTree>
    <p:extLst>
      <p:ext uri="{BB962C8B-B14F-4D97-AF65-F5344CB8AC3E}">
        <p14:creationId xmlns:p14="http://schemas.microsoft.com/office/powerpoint/2010/main" val="343790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A2A2C4C-F9BC-F038-F456-C04492126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687237"/>
              </p:ext>
            </p:extLst>
          </p:nvPr>
        </p:nvGraphicFramePr>
        <p:xfrm>
          <a:off x="1296480" y="1208564"/>
          <a:ext cx="10651515" cy="529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39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62744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Efficiency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Agent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토큰 사용량</a:t>
                      </a:r>
                      <a:endParaRPr lang="ko-KR" sz="11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는 업무를 수행하는데 토큰 사용량을 최소화해야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i="1">
                          <a:solidFill>
                            <a:srgbClr val="FF0000"/>
                          </a:solidFill>
                        </a:rPr>
                        <a:t>KPI: </a:t>
                      </a:r>
                      <a:r>
                        <a:rPr lang="ko-KR" altLang="en-US" sz="1100" b="0" i="1" u="none" strike="noStrike" noProof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단일 요청 총 토큰 </a:t>
                      </a:r>
                      <a:r>
                        <a:rPr lang="en-US" altLang="ko-KR" sz="1100" b="0" i="1" u="none" strike="noStrike" noProof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≤ 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9733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시스템 확장성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대상 모델과 수행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워크플로우 수 증가에 비례하여 처리 능력을 확장할 수 있어야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i="1">
                          <a:solidFill>
                            <a:srgbClr val="FF0000"/>
                          </a:solidFill>
                        </a:rPr>
                        <a:t>KPI: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시간당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수 ≥ N,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자원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활용률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≥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257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운영 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서버 오류나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오동작 등 시스템 부분 장애 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 서비스 연속성을 보장해야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MTTR (Mean Time To Recovery) &lt; 1분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7986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Controllability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 제어 용이성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Agent</a:t>
                      </a:r>
                      <a:r>
                        <a:rPr lang="ko-KR" altLang="en-US" sz="11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는 허용된 범위 내에서만 동작해야 한다</a:t>
                      </a:r>
                      <a:r>
                        <a:rPr lang="en-US" altLang="ko-KR" sz="11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.</a:t>
                      </a:r>
                      <a:endParaRPr lang="ko-KR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중단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명령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수용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≤ 5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초</a:t>
                      </a:r>
                      <a:endParaRPr lang="en-US" altLang="ko-KR" sz="1100" i="1" kern="1200" noProof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37388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Observability</a:t>
                      </a:r>
                      <a:endParaRPr lang="en-US" altLang="ko-KR" sz="1100" b="1" strike="noStrik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 작업 </a:t>
                      </a:r>
                      <a:endParaRPr lang="en-US" altLang="ko-KR" sz="1100" strike="noStrike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추적용이성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의 실행 과정과 판단 근거를 추적할 수 있어야 한다</a:t>
                      </a: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/>
                    </a:p>
                    <a:p>
                      <a:pPr marL="0" lvl="0" algn="l" rtl="0">
                        <a:buNone/>
                      </a:pP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</a:t>
                      </a:r>
                      <a:r>
                        <a:rPr lang="ko-KR" alt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의사결정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재구성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가능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비율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≥ 95%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7563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간 </a:t>
                      </a:r>
                      <a:endParaRPr lang="en-US" altLang="ko-KR" sz="110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독립성 보장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특정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장애가 다른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에 영향을 주지 않아야 한다.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 타 </a:t>
                      </a:r>
                      <a:r>
                        <a:rPr lang="ko-KR" altLang="en-US" sz="1100" i="1" kern="120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Workflow</a:t>
                      </a: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실행 중단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≤ 1%</a:t>
                      </a: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latency </a:t>
                      </a: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증가 </a:t>
                      </a: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10% </a:t>
                      </a: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이내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49981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수행 시간</a:t>
                      </a:r>
                      <a:endParaRPr lang="ko-KR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개발자가 직접 수행한 시간 대비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 수행 시간 단축을 최대화하여야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. </a:t>
                      </a:r>
                      <a:endParaRPr lang="ko-KR" altLang="en-US"/>
                    </a:p>
                    <a:p>
                      <a:pPr marL="0" lvl="0" algn="l" rtl="0">
                        <a:buNone/>
                      </a:pP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{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개발자 노드 수행 시간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– Agent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통한 자동 노드 수행 시간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} &gt;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최대화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(%%)</a:t>
                      </a:r>
                      <a:endParaRPr lang="en-US" altLang="ko-KR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1473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E2E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개발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시스템은 주요 동작의 응답 시간과 처리량이 정의된 목표를 충족해야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Artifact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전달 오버헤드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노드 간 데이터 전달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 ≤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전체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E2E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85878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Age</a:t>
                      </a:r>
                      <a:r>
                        <a:rPr lang="en-US" altLang="ko-KR" sz="1100" err="1">
                          <a:solidFill>
                            <a:schemeClr val="tx1"/>
                          </a:solidFill>
                        </a:rPr>
                        <a:t>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 결과 일관성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는 동일한 입력 조건에서 일관된 판단을 내려야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</a:t>
                      </a:r>
                      <a:r>
                        <a:rPr 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추론</a:t>
                      </a:r>
                      <a:r>
                        <a:rPr 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재현</a:t>
                      </a:r>
                      <a:r>
                        <a:rPr 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성공률</a:t>
                      </a:r>
                      <a:r>
                        <a:rPr 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≥ 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200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Maintainability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모듈 교체 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LLM, Agent, Tool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등의 구성 요소의 변경시 다른 구성 요소에 미치는 영향을 최소화해야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</a:t>
                      </a:r>
                      <a:r>
                        <a:rPr lang="ko-KR" altLang="en-US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평균 </a:t>
                      </a:r>
                      <a:r>
                        <a:rPr 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Change Impact Scope ≤ 2개 </a:t>
                      </a:r>
                      <a:r>
                        <a:rPr lang="en-US" sz="1100" i="1" kern="1200" noProof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컴포넌트</a:t>
                      </a:r>
                      <a:endParaRPr lang="en-US" altLang="ko-KR" sz="1100" i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158"/>
                  </a:ext>
                </a:extLst>
              </a:tr>
            </a:tbl>
          </a:graphicData>
        </a:graphic>
      </p:graphicFrame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2A8BF88F-4CF2-BF3B-7514-2037E86120DC}"/>
              </a:ext>
            </a:extLst>
          </p:cNvPr>
          <p:cNvSpPr/>
          <p:nvPr/>
        </p:nvSpPr>
        <p:spPr>
          <a:xfrm>
            <a:off x="504000" y="15093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00E123E3-09B9-4EDD-9706-8CF608B7FD45}"/>
              </a:ext>
            </a:extLst>
          </p:cNvPr>
          <p:cNvSpPr/>
          <p:nvPr/>
        </p:nvSpPr>
        <p:spPr>
          <a:xfrm>
            <a:off x="504000" y="201294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01B60882-7459-4809-66FC-3AA6E3CA1AD9}"/>
              </a:ext>
            </a:extLst>
          </p:cNvPr>
          <p:cNvSpPr/>
          <p:nvPr/>
        </p:nvSpPr>
        <p:spPr>
          <a:xfrm>
            <a:off x="504000" y="251652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852DDAB1-4804-99D8-81D8-A74F52DE4828}"/>
              </a:ext>
            </a:extLst>
          </p:cNvPr>
          <p:cNvSpPr/>
          <p:nvPr/>
        </p:nvSpPr>
        <p:spPr>
          <a:xfrm>
            <a:off x="504000" y="302010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653D3CF2-5564-B0C4-3213-646593578644}"/>
              </a:ext>
            </a:extLst>
          </p:cNvPr>
          <p:cNvSpPr/>
          <p:nvPr/>
        </p:nvSpPr>
        <p:spPr>
          <a:xfrm>
            <a:off x="504000" y="352368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QA05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8F5A19C8-F3D4-17AE-BFD7-9E9A3F2B6213}"/>
              </a:ext>
            </a:extLst>
          </p:cNvPr>
          <p:cNvSpPr/>
          <p:nvPr/>
        </p:nvSpPr>
        <p:spPr>
          <a:xfrm>
            <a:off x="504000" y="40272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QA06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9DE87AA6-1E34-F405-7B34-0DCD3EAD5F4A}"/>
              </a:ext>
            </a:extLst>
          </p:cNvPr>
          <p:cNvSpPr/>
          <p:nvPr/>
        </p:nvSpPr>
        <p:spPr>
          <a:xfrm>
            <a:off x="504000" y="453084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QA07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40B7FBC6-965E-810C-361E-F3068DDA94CC}"/>
              </a:ext>
            </a:extLst>
          </p:cNvPr>
          <p:cNvSpPr/>
          <p:nvPr/>
        </p:nvSpPr>
        <p:spPr>
          <a:xfrm>
            <a:off x="504000" y="503442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QA08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3216F56E-F797-CD96-12C0-130BD055740A}"/>
              </a:ext>
            </a:extLst>
          </p:cNvPr>
          <p:cNvSpPr/>
          <p:nvPr/>
        </p:nvSpPr>
        <p:spPr>
          <a:xfrm>
            <a:off x="504000" y="6041577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QA10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D48843CA-6024-7F0D-D87C-EDFCC789E8F9}"/>
              </a:ext>
            </a:extLst>
          </p:cNvPr>
          <p:cNvSpPr/>
          <p:nvPr/>
        </p:nvSpPr>
        <p:spPr>
          <a:xfrm>
            <a:off x="504000" y="553800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tIns="45720" rIns="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QA09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32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647C-AE51-3961-4B69-80FA296B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0BC8CE8-4A07-C51D-6CC7-1C39B4C5063E}"/>
              </a:ext>
            </a:extLst>
          </p:cNvPr>
          <p:cNvSpPr/>
          <p:nvPr/>
        </p:nvSpPr>
        <p:spPr>
          <a:xfrm>
            <a:off x="3425953" y="1296000"/>
            <a:ext cx="5089619" cy="5267952"/>
          </a:xfrm>
          <a:prstGeom prst="rect">
            <a:avLst/>
          </a:prstGeom>
          <a:solidFill>
            <a:srgbClr val="F8FAFC"/>
          </a:solidFill>
          <a:ln w="254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endParaRPr lang="ko-KR" altLang="en-US" sz="1050" b="1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95BFF0-C4D1-EE3A-9073-45CD0FAE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Context Diagram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46D008-A40A-6F8D-2980-E0C06E984C57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80220AF-327D-CB05-116A-62CFA8C4738B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EBFDFA6-4B1E-01F0-6A01-5459F58D4175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4A80605-6988-17C8-CF77-773080C34F1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8F65C2-4BDE-9F7F-D17E-B5E08D20AB7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988EF35-C964-D12C-D610-6BFA95A07612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17EA16-78EE-F7E6-12AF-E76A94BBED27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10" name="Shape 4">
            <a:extLst>
              <a:ext uri="{FF2B5EF4-FFF2-40B4-BE49-F238E27FC236}">
                <a16:creationId xmlns:a16="http://schemas.microsoft.com/office/drawing/2014/main" id="{D7FD79DD-A545-4579-7EB8-E22EE26EFCD6}"/>
              </a:ext>
            </a:extLst>
          </p:cNvPr>
          <p:cNvSpPr/>
          <p:nvPr/>
        </p:nvSpPr>
        <p:spPr>
          <a:xfrm>
            <a:off x="4091508" y="2745733"/>
            <a:ext cx="3718792" cy="183407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 b="1">
                <a:solidFill>
                  <a:schemeClr val="bg1"/>
                </a:solidFill>
                <a:latin typeface="Calibri" panose="020F0502020204030204"/>
                <a:ea typeface="맑은 고딕"/>
              </a:rPr>
              <a:t>&lt; Agentic DevOps </a:t>
            </a:r>
            <a:r>
              <a:rPr lang="ko-KR" altLang="en-US" b="1">
                <a:solidFill>
                  <a:schemeClr val="bg1"/>
                </a:solidFill>
                <a:latin typeface="Calibri" panose="020F0502020204030204"/>
                <a:ea typeface="맑은 고딕"/>
              </a:rPr>
              <a:t>시스템 </a:t>
            </a:r>
            <a:r>
              <a:rPr lang="en-US" altLang="ko-KR" b="1">
                <a:solidFill>
                  <a:schemeClr val="bg1"/>
                </a:solidFill>
                <a:latin typeface="Calibri" panose="020F0502020204030204"/>
                <a:ea typeface="맑은 고딕"/>
              </a:rPr>
              <a:t>&gt;</a:t>
            </a:r>
            <a:endParaRPr lang="ko-KR" altLang="en-US" b="1">
              <a:solidFill>
                <a:schemeClr val="bg1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44" name="원통형 43">
            <a:extLst>
              <a:ext uri="{FF2B5EF4-FFF2-40B4-BE49-F238E27FC236}">
                <a16:creationId xmlns:a16="http://schemas.microsoft.com/office/drawing/2014/main" id="{1AEB7CDC-29D7-2A43-8BA2-764D15C66ED9}"/>
              </a:ext>
            </a:extLst>
          </p:cNvPr>
          <p:cNvSpPr/>
          <p:nvPr/>
        </p:nvSpPr>
        <p:spPr>
          <a:xfrm>
            <a:off x="6176161" y="5438342"/>
            <a:ext cx="1829316" cy="938098"/>
          </a:xfrm>
          <a:prstGeom prst="can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NFS Storage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1254D69-456C-E5DE-1CED-175A1634EDA2}"/>
              </a:ext>
            </a:extLst>
          </p:cNvPr>
          <p:cNvGrpSpPr/>
          <p:nvPr/>
        </p:nvGrpSpPr>
        <p:grpSpPr>
          <a:xfrm>
            <a:off x="9768173" y="4886421"/>
            <a:ext cx="1263039" cy="1154605"/>
            <a:chOff x="5846387" y="5928869"/>
            <a:chExt cx="1263039" cy="954219"/>
          </a:xfrm>
        </p:grpSpPr>
        <p:sp>
          <p:nvSpPr>
            <p:cNvPr id="47" name="순서도: 대체 처리 46">
              <a:extLst>
                <a:ext uri="{FF2B5EF4-FFF2-40B4-BE49-F238E27FC236}">
                  <a16:creationId xmlns:a16="http://schemas.microsoft.com/office/drawing/2014/main" id="{FFC642CF-BCD5-36F2-B0EB-834669DAECC0}"/>
                </a:ext>
              </a:extLst>
            </p:cNvPr>
            <p:cNvSpPr/>
            <p:nvPr/>
          </p:nvSpPr>
          <p:spPr>
            <a:xfrm>
              <a:off x="6121947" y="6152299"/>
              <a:ext cx="741067" cy="520522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600">
                  <a:solidFill>
                    <a:prstClr val="black"/>
                  </a:solidFill>
                  <a:latin typeface="Calibri" panose="020F0502020204030204"/>
                </a:rPr>
                <a:t>NPU</a:t>
              </a:r>
              <a:endParaRPr lang="ko-KR" altLang="en-US" sz="16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18F0857-5097-8477-AD4B-D84C8B4CA01A}"/>
                </a:ext>
              </a:extLst>
            </p:cNvPr>
            <p:cNvGrpSpPr/>
            <p:nvPr/>
          </p:nvGrpSpPr>
          <p:grpSpPr>
            <a:xfrm>
              <a:off x="6911451" y="6247615"/>
              <a:ext cx="197975" cy="329885"/>
              <a:chOff x="6278710" y="6265159"/>
              <a:chExt cx="385797" cy="584411"/>
            </a:xfrm>
          </p:grpSpPr>
          <p:sp>
            <p:nvSpPr>
              <p:cNvPr id="48" name="순서도: 대체 처리 47">
                <a:extLst>
                  <a:ext uri="{FF2B5EF4-FFF2-40B4-BE49-F238E27FC236}">
                    <a16:creationId xmlns:a16="http://schemas.microsoft.com/office/drawing/2014/main" id="{A6125B30-9ADC-D10D-725B-2EBDA19C0D13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순서도: 대체 처리 48">
                <a:extLst>
                  <a:ext uri="{FF2B5EF4-FFF2-40B4-BE49-F238E27FC236}">
                    <a16:creationId xmlns:a16="http://schemas.microsoft.com/office/drawing/2014/main" id="{04E3A844-B5B6-F53E-3A5C-97D4756AE93E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8129600E-0265-DECD-11F8-95C6533D32D8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83619C5-FDE0-17F5-5D93-2EED3FB3177F}"/>
                </a:ext>
              </a:extLst>
            </p:cNvPr>
            <p:cNvGrpSpPr/>
            <p:nvPr/>
          </p:nvGrpSpPr>
          <p:grpSpPr>
            <a:xfrm>
              <a:off x="5846387" y="6239901"/>
              <a:ext cx="197975" cy="362872"/>
              <a:chOff x="6278710" y="6265159"/>
              <a:chExt cx="385797" cy="584411"/>
            </a:xfrm>
          </p:grpSpPr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6EBFDE7D-72D1-2210-7D70-04C8C6C4662D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4" name="순서도: 대체 처리 53">
                <a:extLst>
                  <a:ext uri="{FF2B5EF4-FFF2-40B4-BE49-F238E27FC236}">
                    <a16:creationId xmlns:a16="http://schemas.microsoft.com/office/drawing/2014/main" id="{6265792F-E865-4194-C8DE-B70917B81721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순서도: 대체 처리 54">
                <a:extLst>
                  <a:ext uri="{FF2B5EF4-FFF2-40B4-BE49-F238E27FC236}">
                    <a16:creationId xmlns:a16="http://schemas.microsoft.com/office/drawing/2014/main" id="{38A88A66-7AD4-F71E-B032-CC4562AA1ABF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354F980-11A3-415E-39F0-6A2D11666E89}"/>
                </a:ext>
              </a:extLst>
            </p:cNvPr>
            <p:cNvGrpSpPr/>
            <p:nvPr/>
          </p:nvGrpSpPr>
          <p:grpSpPr>
            <a:xfrm rot="5400000">
              <a:off x="6410694" y="5791139"/>
              <a:ext cx="163615" cy="439075"/>
              <a:chOff x="6278710" y="6265159"/>
              <a:chExt cx="385797" cy="584411"/>
            </a:xfrm>
          </p:grpSpPr>
          <p:sp>
            <p:nvSpPr>
              <p:cNvPr id="57" name="순서도: 대체 처리 56">
                <a:extLst>
                  <a:ext uri="{FF2B5EF4-FFF2-40B4-BE49-F238E27FC236}">
                    <a16:creationId xmlns:a16="http://schemas.microsoft.com/office/drawing/2014/main" id="{C0A7B9DE-A5D7-9074-34C5-03DAD61F4D7E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순서도: 대체 처리 57">
                <a:extLst>
                  <a:ext uri="{FF2B5EF4-FFF2-40B4-BE49-F238E27FC236}">
                    <a16:creationId xmlns:a16="http://schemas.microsoft.com/office/drawing/2014/main" id="{5DE0E5D3-92FF-3442-DC01-5F47C7620F56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025188A4-73E4-A400-B116-2B75142D1188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601895FD-2154-1518-06E2-1A73B40F433A}"/>
                </a:ext>
              </a:extLst>
            </p:cNvPr>
            <p:cNvGrpSpPr/>
            <p:nvPr/>
          </p:nvGrpSpPr>
          <p:grpSpPr>
            <a:xfrm rot="5400000">
              <a:off x="6422240" y="6581743"/>
              <a:ext cx="163615" cy="439075"/>
              <a:chOff x="6278710" y="6265159"/>
              <a:chExt cx="385797" cy="584411"/>
            </a:xfrm>
          </p:grpSpPr>
          <p:sp>
            <p:nvSpPr>
              <p:cNvPr id="61" name="순서도: 대체 처리 60">
                <a:extLst>
                  <a:ext uri="{FF2B5EF4-FFF2-40B4-BE49-F238E27FC236}">
                    <a16:creationId xmlns:a16="http://schemas.microsoft.com/office/drawing/2014/main" id="{2920D205-F4FF-AA47-B235-EE8178A7BDC2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EFF3945F-945A-1589-8A4B-4C3E90FE83E4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순서도: 대체 처리 62">
                <a:extLst>
                  <a:ext uri="{FF2B5EF4-FFF2-40B4-BE49-F238E27FC236}">
                    <a16:creationId xmlns:a16="http://schemas.microsoft.com/office/drawing/2014/main" id="{A7116901-A2E7-664A-95EB-B7911582F31A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6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C7990B2A-5965-45BC-09AF-F2EFAAD53C1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35954" y="1915997"/>
            <a:ext cx="2555554" cy="1746771"/>
          </a:xfrm>
          <a:prstGeom prst="curvedConnector3">
            <a:avLst/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F6EFABC9-E256-323C-DAFD-54A6783397F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35954" y="3650678"/>
            <a:ext cx="2649499" cy="22529"/>
          </a:xfrm>
          <a:prstGeom prst="curvedConnector3">
            <a:avLst/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구부러짐 81">
            <a:extLst>
              <a:ext uri="{FF2B5EF4-FFF2-40B4-BE49-F238E27FC236}">
                <a16:creationId xmlns:a16="http://schemas.microsoft.com/office/drawing/2014/main" id="{1A8F392F-21F0-428D-E5ED-FC2A253D6C1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535954" y="3662768"/>
            <a:ext cx="2555554" cy="1559111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45EFCA-F792-267F-9DAF-D324E4E7DC68}"/>
              </a:ext>
            </a:extLst>
          </p:cNvPr>
          <p:cNvGrpSpPr/>
          <p:nvPr/>
        </p:nvGrpSpPr>
        <p:grpSpPr>
          <a:xfrm>
            <a:off x="216278" y="3134538"/>
            <a:ext cx="1936462" cy="1061496"/>
            <a:chOff x="216278" y="1554391"/>
            <a:chExt cx="1936462" cy="10614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02FF25-4B0C-FA2D-592C-59894B5430BF}"/>
                </a:ext>
              </a:extLst>
            </p:cNvPr>
            <p:cNvSpPr txBox="1"/>
            <p:nvPr/>
          </p:nvSpPr>
          <p:spPr>
            <a:xfrm>
              <a:off x="216278" y="2277333"/>
              <a:ext cx="19364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SDK Developer</a:t>
              </a:r>
              <a:endParaRPr lang="ko-KR" altLang="en-US" sz="160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2B3692-9D88-6D8A-4968-E62BFF52D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921" y="1554391"/>
              <a:ext cx="709033" cy="72321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68CDD51-B572-0825-BBDC-E054CEBB4F10}"/>
              </a:ext>
            </a:extLst>
          </p:cNvPr>
          <p:cNvGrpSpPr/>
          <p:nvPr/>
        </p:nvGrpSpPr>
        <p:grpSpPr>
          <a:xfrm>
            <a:off x="216278" y="1533734"/>
            <a:ext cx="1936462" cy="1075528"/>
            <a:chOff x="216278" y="3393455"/>
            <a:chExt cx="1936462" cy="107552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A22A94-BFA5-96D8-D387-AC65DE556D67}"/>
                </a:ext>
              </a:extLst>
            </p:cNvPr>
            <p:cNvSpPr txBox="1"/>
            <p:nvPr/>
          </p:nvSpPr>
          <p:spPr>
            <a:xfrm>
              <a:off x="216278" y="4130429"/>
              <a:ext cx="19364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Platform Developer</a:t>
              </a:r>
              <a:endParaRPr lang="ko-KR" altLang="en-US" sz="1600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E52845E-540F-D098-ADC0-7B85D098F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921" y="3393455"/>
              <a:ext cx="709033" cy="72321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231DFE-B1BF-781F-CF41-AC1B6F4B330F}"/>
              </a:ext>
            </a:extLst>
          </p:cNvPr>
          <p:cNvGrpSpPr/>
          <p:nvPr/>
        </p:nvGrpSpPr>
        <p:grpSpPr>
          <a:xfrm>
            <a:off x="216278" y="4860273"/>
            <a:ext cx="1936462" cy="1081992"/>
            <a:chOff x="216278" y="4860273"/>
            <a:chExt cx="1936462" cy="108199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E64649-52A4-B64C-52FC-32E4531D74B0}"/>
                </a:ext>
              </a:extLst>
            </p:cNvPr>
            <p:cNvSpPr txBox="1"/>
            <p:nvPr/>
          </p:nvSpPr>
          <p:spPr>
            <a:xfrm>
              <a:off x="216278" y="5603711"/>
              <a:ext cx="19364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Project</a:t>
              </a:r>
              <a:r>
                <a: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BB96821-0A00-EED5-0224-3BF93514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921" y="4860273"/>
              <a:ext cx="709033" cy="72321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DF8DC48-B315-3DED-09FF-6C0AA6177A06}"/>
              </a:ext>
            </a:extLst>
          </p:cNvPr>
          <p:cNvSpPr txBox="1"/>
          <p:nvPr/>
        </p:nvSpPr>
        <p:spPr>
          <a:xfrm>
            <a:off x="2030367" y="3143967"/>
            <a:ext cx="96629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400">
                <a:ea typeface="맑은 고딕"/>
              </a:rPr>
              <a:t>Request</a:t>
            </a:r>
            <a:r>
              <a:rPr lang="ko-KR" altLang="en-US" sz="1400">
                <a:ea typeface="맑은 고딕"/>
              </a:rPr>
              <a:t> </a:t>
            </a:r>
            <a:r>
              <a:rPr lang="en-US" altLang="ko-KR" sz="1400">
                <a:ea typeface="맑은 고딕"/>
              </a:rPr>
              <a:t>/</a:t>
            </a:r>
            <a:endParaRPr lang="ko-KR" altLang="en-US" sz="1400">
              <a:ea typeface="맑은 고딕"/>
            </a:endParaRPr>
          </a:p>
          <a:p>
            <a:pPr algn="ctr"/>
            <a:r>
              <a:rPr lang="en-US" altLang="ko-KR" sz="1400">
                <a:ea typeface="맑은 고딕"/>
              </a:rPr>
              <a:t>Approval</a:t>
            </a:r>
            <a:endParaRPr lang="ko-KR" altLang="en-US" sz="1400"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BBACA-D732-13D8-79B4-583E99EC4037}"/>
              </a:ext>
            </a:extLst>
          </p:cNvPr>
          <p:cNvSpPr txBox="1"/>
          <p:nvPr/>
        </p:nvSpPr>
        <p:spPr>
          <a:xfrm>
            <a:off x="1535041" y="4456377"/>
            <a:ext cx="122835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400">
                <a:ea typeface="맑은 고딕"/>
              </a:rPr>
              <a:t>Monitoring /</a:t>
            </a:r>
            <a:endParaRPr lang="ko-KR" altLang="en-US" sz="1400">
              <a:ea typeface="맑은 고딕" panose="020B0503020000020004" pitchFamily="34" charset="-127"/>
            </a:endParaRPr>
          </a:p>
          <a:p>
            <a:pPr algn="ctr"/>
            <a:r>
              <a:rPr lang="en-US" altLang="ko-KR" sz="1400">
                <a:ea typeface="맑은 고딕"/>
              </a:rPr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A052C-FC9B-E385-B68D-BBD453DBBA27}"/>
              </a:ext>
            </a:extLst>
          </p:cNvPr>
          <p:cNvSpPr txBox="1"/>
          <p:nvPr/>
        </p:nvSpPr>
        <p:spPr>
          <a:xfrm>
            <a:off x="2029582" y="1631217"/>
            <a:ext cx="127355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400">
                <a:ea typeface="맑은 고딕"/>
              </a:rPr>
              <a:t>System</a:t>
            </a:r>
            <a:endParaRPr lang="ko-KR" altLang="en-US">
              <a:ea typeface="맑은 고딕"/>
            </a:endParaRPr>
          </a:p>
          <a:p>
            <a:pPr algn="ctr"/>
            <a:r>
              <a:rPr lang="en-US" altLang="ko-KR" sz="1400">
                <a:ea typeface="맑은 고딕"/>
              </a:rPr>
              <a:t>Development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CB91C3A3-1274-0D75-A7EE-6C30C1020A42}"/>
              </a:ext>
            </a:extLst>
          </p:cNvPr>
          <p:cNvSpPr/>
          <p:nvPr/>
        </p:nvSpPr>
        <p:spPr>
          <a:xfrm>
            <a:off x="9638150" y="1772392"/>
            <a:ext cx="2115050" cy="7740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JIRA 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9BBC4C7D-C1E6-EDA7-2B29-32FF0C39065E}"/>
              </a:ext>
            </a:extLst>
          </p:cNvPr>
          <p:cNvSpPr/>
          <p:nvPr/>
        </p:nvSpPr>
        <p:spPr>
          <a:xfrm>
            <a:off x="6177688" y="1552016"/>
            <a:ext cx="2115050" cy="7740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Monitoring / Logging</a:t>
            </a:r>
            <a:endParaRPr lang="en-US" altLang="ko-KR" sz="16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cxnSp>
        <p:nvCxnSpPr>
          <p:cNvPr id="45" name="연결선: 구부러짐 44">
            <a:extLst>
              <a:ext uri="{FF2B5EF4-FFF2-40B4-BE49-F238E27FC236}">
                <a16:creationId xmlns:a16="http://schemas.microsoft.com/office/drawing/2014/main" id="{8EFF068F-2756-1D23-5AA4-3C5C5235CA11}"/>
              </a:ext>
            </a:extLst>
          </p:cNvPr>
          <p:cNvCxnSpPr>
            <a:cxnSpLocks/>
            <a:stCxn id="43" idx="1"/>
            <a:endCxn id="10" idx="0"/>
          </p:cNvCxnSpPr>
          <p:nvPr/>
        </p:nvCxnSpPr>
        <p:spPr>
          <a:xfrm rot="10800000" flipV="1">
            <a:off x="5950904" y="1939017"/>
            <a:ext cx="226784" cy="806716"/>
          </a:xfrm>
          <a:prstGeom prst="curvedConnector2">
            <a:avLst/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98F648A7-5F02-1EC2-EAD0-7B24FC7DF8B0}"/>
              </a:ext>
            </a:extLst>
          </p:cNvPr>
          <p:cNvCxnSpPr>
            <a:cxnSpLocks/>
            <a:stCxn id="36" idx="1"/>
            <a:endCxn id="10" idx="3"/>
          </p:cNvCxnSpPr>
          <p:nvPr/>
        </p:nvCxnSpPr>
        <p:spPr>
          <a:xfrm rot="10800000" flipV="1">
            <a:off x="7810300" y="2159392"/>
            <a:ext cx="1827850" cy="1503375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63E8D58F-C972-B249-4C75-AEE8B88C2268}"/>
              </a:ext>
            </a:extLst>
          </p:cNvPr>
          <p:cNvCxnSpPr>
            <a:cxnSpLocks/>
            <a:stCxn id="44" idx="1"/>
            <a:endCxn id="10" idx="2"/>
          </p:cNvCxnSpPr>
          <p:nvPr/>
        </p:nvCxnSpPr>
        <p:spPr>
          <a:xfrm rot="16200000" flipV="1">
            <a:off x="6091593" y="4439115"/>
            <a:ext cx="858539" cy="1139915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CDFFE66C-1160-480F-48A8-33DC7EC5ED85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7796257" y="3693701"/>
            <a:ext cx="1826267" cy="1750336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Shape 4">
            <a:extLst>
              <a:ext uri="{FF2B5EF4-FFF2-40B4-BE49-F238E27FC236}">
                <a16:creationId xmlns:a16="http://schemas.microsoft.com/office/drawing/2014/main" id="{D3D1E16A-9BDC-68C7-3B76-5D1D2E06A762}"/>
              </a:ext>
            </a:extLst>
          </p:cNvPr>
          <p:cNvSpPr/>
          <p:nvPr/>
        </p:nvSpPr>
        <p:spPr>
          <a:xfrm>
            <a:off x="9638362" y="3386811"/>
            <a:ext cx="2115050" cy="7740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LLM Service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9" name="연결선: 구부러짐 78">
            <a:extLst>
              <a:ext uri="{FF2B5EF4-FFF2-40B4-BE49-F238E27FC236}">
                <a16:creationId xmlns:a16="http://schemas.microsoft.com/office/drawing/2014/main" id="{EE42A42E-1B4C-116C-31EF-BFB21C1BCB17}"/>
              </a:ext>
            </a:extLst>
          </p:cNvPr>
          <p:cNvCxnSpPr>
            <a:cxnSpLocks/>
            <a:stCxn id="78" idx="1"/>
            <a:endCxn id="10" idx="3"/>
          </p:cNvCxnSpPr>
          <p:nvPr/>
        </p:nvCxnSpPr>
        <p:spPr>
          <a:xfrm rot="10800000">
            <a:off x="7810300" y="3662768"/>
            <a:ext cx="1828062" cy="111044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A85542B-511B-AC7D-A827-81E11E71F901}"/>
              </a:ext>
            </a:extLst>
          </p:cNvPr>
          <p:cNvSpPr txBox="1"/>
          <p:nvPr/>
        </p:nvSpPr>
        <p:spPr>
          <a:xfrm>
            <a:off x="8508087" y="3127073"/>
            <a:ext cx="96629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altLang="ko-KR" sz="1400">
                <a:ea typeface="맑은 고딕"/>
              </a:rPr>
              <a:t>Request /</a:t>
            </a:r>
            <a:endParaRPr lang="ko-KR" altLang="en-US" sz="1400">
              <a:ea typeface="맑은 고딕"/>
            </a:endParaRPr>
          </a:p>
          <a:p>
            <a:pPr algn="ctr"/>
            <a:r>
              <a:rPr lang="en-US" altLang="ko-KR" sz="1400">
                <a:ea typeface="맑은 고딕"/>
              </a:rPr>
              <a:t>Response</a:t>
            </a:r>
            <a:endParaRPr lang="ko-KR" altLang="en-US" sz="1400">
              <a:ea typeface="맑은 고딕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970B4EC-EE7D-3C0E-3F78-0FB3E60779CD}"/>
              </a:ext>
            </a:extLst>
          </p:cNvPr>
          <p:cNvSpPr txBox="1"/>
          <p:nvPr/>
        </p:nvSpPr>
        <p:spPr>
          <a:xfrm>
            <a:off x="8649225" y="1808624"/>
            <a:ext cx="679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API Call</a:t>
            </a:r>
            <a:endParaRPr lang="ko-KR" altLang="en-US" sz="14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4A54A0-34F5-CB8C-22BB-5AE9F023C08B}"/>
              </a:ext>
            </a:extLst>
          </p:cNvPr>
          <p:cNvSpPr txBox="1"/>
          <p:nvPr/>
        </p:nvSpPr>
        <p:spPr>
          <a:xfrm>
            <a:off x="5006753" y="2072869"/>
            <a:ext cx="780983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400">
                <a:latin typeface="Malgun Gothic"/>
                <a:ea typeface="Malgun Gothic"/>
              </a:rPr>
              <a:t>Metrics</a:t>
            </a:r>
            <a:endParaRPr lang="ko-KR" altLang="en-US" sz="140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7F5607-C3F4-1C5A-C4C6-1A1CF9A46197}"/>
              </a:ext>
            </a:extLst>
          </p:cNvPr>
          <p:cNvSpPr txBox="1"/>
          <p:nvPr/>
        </p:nvSpPr>
        <p:spPr>
          <a:xfrm>
            <a:off x="6635791" y="4790936"/>
            <a:ext cx="1093056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1400">
                <a:ea typeface="맑은 고딕"/>
              </a:rPr>
              <a:t>Read/Write</a:t>
            </a:r>
            <a:endParaRPr lang="ko-KR" altLang="en-US" sz="1400">
              <a:ea typeface="맑은 고딕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943F7A-FD97-B6D6-3746-ACE56BB5C8CF}"/>
              </a:ext>
            </a:extLst>
          </p:cNvPr>
          <p:cNvSpPr txBox="1"/>
          <p:nvPr/>
        </p:nvSpPr>
        <p:spPr>
          <a:xfrm>
            <a:off x="8708186" y="4580775"/>
            <a:ext cx="671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Run</a:t>
            </a:r>
            <a:endParaRPr lang="ko-KR" altLang="en-US" sz="1400"/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847E1945-19CF-6DE8-EFF3-95F1A767DB59}"/>
              </a:ext>
            </a:extLst>
          </p:cNvPr>
          <p:cNvSpPr/>
          <p:nvPr/>
        </p:nvSpPr>
        <p:spPr>
          <a:xfrm>
            <a:off x="3654425" y="5486374"/>
            <a:ext cx="2115050" cy="7740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Server 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59F93DCC-1D1B-4486-D198-5BCEB6B6CB3E}"/>
              </a:ext>
            </a:extLst>
          </p:cNvPr>
          <p:cNvCxnSpPr>
            <a:cxnSpLocks/>
            <a:stCxn id="88" idx="0"/>
            <a:endCxn id="10" idx="2"/>
          </p:cNvCxnSpPr>
          <p:nvPr/>
        </p:nvCxnSpPr>
        <p:spPr>
          <a:xfrm rot="5400000" flipH="1" flipV="1">
            <a:off x="4878142" y="4413612"/>
            <a:ext cx="906571" cy="1238954"/>
          </a:xfrm>
          <a:prstGeom prst="curvedConnector3">
            <a:avLst>
              <a:gd name="adj1" fmla="val 50000"/>
            </a:avLst>
          </a:prstGeom>
          <a:ln>
            <a:solidFill>
              <a:srgbClr val="1E2761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071A43E-D5A1-05A2-A990-F8033CC86473}"/>
              </a:ext>
            </a:extLst>
          </p:cNvPr>
          <p:cNvSpPr txBox="1"/>
          <p:nvPr/>
        </p:nvSpPr>
        <p:spPr>
          <a:xfrm>
            <a:off x="4189484" y="4735076"/>
            <a:ext cx="1358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SDK Execution</a:t>
            </a:r>
            <a:endParaRPr lang="ko-KR" alt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A2A763-E5D8-BC34-B289-745F39E58FFC}"/>
              </a:ext>
            </a:extLst>
          </p:cNvPr>
          <p:cNvSpPr txBox="1"/>
          <p:nvPr/>
        </p:nvSpPr>
        <p:spPr>
          <a:xfrm>
            <a:off x="3420697" y="1295982"/>
            <a:ext cx="235359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SDK </a:t>
            </a:r>
            <a:r>
              <a:rPr lang="en-US" altLang="ko-KR" sz="1600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개발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 </a:t>
            </a:r>
            <a:r>
              <a:rPr lang="en-US" altLang="ko-KR" sz="1600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자동화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sz="1600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시스템</a:t>
            </a:r>
            <a:endParaRPr lang="en-US" altLang="ko-KR" sz="1600" b="1" err="1">
              <a:solidFill>
                <a:prstClr val="black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27E6B7-5005-56D5-1E36-F5D76F3DFFF3}"/>
              </a:ext>
            </a:extLst>
          </p:cNvPr>
          <p:cNvSpPr/>
          <p:nvPr/>
        </p:nvSpPr>
        <p:spPr>
          <a:xfrm>
            <a:off x="4744134" y="-1743572"/>
            <a:ext cx="4541675" cy="17435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err="1"/>
              <a:t>태현님</a:t>
            </a:r>
            <a:r>
              <a:rPr kumimoji="1" lang="ko-KR" altLang="en-US"/>
              <a:t> </a:t>
            </a:r>
            <a:r>
              <a:rPr kumimoji="1" lang="en-US" altLang="ko-KR"/>
              <a:t>Context Diagram </a:t>
            </a:r>
            <a:r>
              <a:rPr kumimoji="1" lang="ko-KR" altLang="en-US"/>
              <a:t>참고</a:t>
            </a:r>
          </a:p>
        </p:txBody>
      </p:sp>
    </p:spTree>
    <p:extLst>
      <p:ext uri="{BB962C8B-B14F-4D97-AF65-F5344CB8AC3E}">
        <p14:creationId xmlns:p14="http://schemas.microsoft.com/office/powerpoint/2010/main" val="311642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8B2D-9290-A686-9253-F144E661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755F185E-1242-95A9-9931-6E22522850FF}"/>
              </a:ext>
            </a:extLst>
          </p:cNvPr>
          <p:cNvSpPr/>
          <p:nvPr/>
        </p:nvSpPr>
        <p:spPr>
          <a:xfrm>
            <a:off x="6836435" y="2773000"/>
            <a:ext cx="2871037" cy="2557763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Execution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056D61F-87CF-3999-5483-61092A2FEC6B}"/>
              </a:ext>
            </a:extLst>
          </p:cNvPr>
          <p:cNvSpPr/>
          <p:nvPr/>
        </p:nvSpPr>
        <p:spPr>
          <a:xfrm>
            <a:off x="1211253" y="1841365"/>
            <a:ext cx="8496219" cy="738206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Presentation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1899E83-9FA8-6442-129C-F864494D553C}"/>
              </a:ext>
            </a:extLst>
          </p:cNvPr>
          <p:cNvSpPr/>
          <p:nvPr/>
        </p:nvSpPr>
        <p:spPr>
          <a:xfrm>
            <a:off x="1168169" y="5548453"/>
            <a:ext cx="8539303" cy="848921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Resource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FDC8D2-DCCF-C21A-37AD-45FD56E1C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Domain Diagram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05F28E-4962-DB4D-A401-3AC34420FDA3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E39862-5CE0-E758-79D0-ADADF65B0659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72CFD3D-60B2-F497-E833-69A6DE666D8D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요구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FB3BB94-26D9-8FFD-0618-DB3E8D716866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설계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CACC8B1-A464-A23B-46D0-739BE3521047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검증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2A7CF4B-7896-13B1-F5CC-9A03195A4AB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결론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022760D-DA2D-6ACF-A01C-C0B6078923A8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과제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소개</a:t>
              </a:r>
            </a:p>
          </p:txBody>
        </p:sp>
      </p:grpSp>
      <p:sp>
        <p:nvSpPr>
          <p:cNvPr id="10" name="Shape 4">
            <a:extLst>
              <a:ext uri="{FF2B5EF4-FFF2-40B4-BE49-F238E27FC236}">
                <a16:creationId xmlns:a16="http://schemas.microsoft.com/office/drawing/2014/main" id="{5F33E61F-1C87-850B-7E3A-1A69D029D1EB}"/>
              </a:ext>
            </a:extLst>
          </p:cNvPr>
          <p:cNvSpPr/>
          <p:nvPr/>
        </p:nvSpPr>
        <p:spPr>
          <a:xfrm>
            <a:off x="1034106" y="1424320"/>
            <a:ext cx="8955286" cy="5253813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&lt; </a:t>
            </a:r>
            <a:r>
              <a:rPr lang="en-US" altLang="ko-KR" sz="11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Agentic DevOps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시스템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C35F1A3-B3C5-A58D-C5F6-676B6897EECF}"/>
              </a:ext>
            </a:extLst>
          </p:cNvPr>
          <p:cNvSpPr/>
          <p:nvPr/>
        </p:nvSpPr>
        <p:spPr>
          <a:xfrm>
            <a:off x="3213246" y="5663148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Storage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E9C0DBAB-5980-4DFE-93EA-68E26B6A976D}"/>
              </a:ext>
            </a:extLst>
          </p:cNvPr>
          <p:cNvSpPr/>
          <p:nvPr/>
        </p:nvSpPr>
        <p:spPr>
          <a:xfrm>
            <a:off x="2202608" y="5661107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Resource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1A7495-B61A-4069-6BBD-12B5559F0D36}"/>
              </a:ext>
            </a:extLst>
          </p:cNvPr>
          <p:cNvSpPr/>
          <p:nvPr/>
        </p:nvSpPr>
        <p:spPr>
          <a:xfrm>
            <a:off x="7204652" y="3289208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SDK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E938D0D-A3CC-3F27-1DE2-286A1EEEA969}"/>
              </a:ext>
            </a:extLst>
          </p:cNvPr>
          <p:cNvSpPr/>
          <p:nvPr/>
        </p:nvSpPr>
        <p:spPr>
          <a:xfrm>
            <a:off x="2195048" y="1936770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Dashboard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GUI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DB74BEAE-1454-7EA4-0862-0A44DCE8EED8}"/>
              </a:ext>
            </a:extLst>
          </p:cNvPr>
          <p:cNvSpPr/>
          <p:nvPr/>
        </p:nvSpPr>
        <p:spPr>
          <a:xfrm>
            <a:off x="7940743" y="4135945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Artifact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4577C743-D2EE-3D56-C25F-C9098E1B5BF2}"/>
              </a:ext>
            </a:extLst>
          </p:cNvPr>
          <p:cNvGrpSpPr/>
          <p:nvPr/>
        </p:nvGrpSpPr>
        <p:grpSpPr>
          <a:xfrm>
            <a:off x="1168170" y="2739826"/>
            <a:ext cx="2871037" cy="2672113"/>
            <a:chOff x="1168170" y="3676838"/>
            <a:chExt cx="2871037" cy="2672113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5CC5B7DC-9E15-9E8C-23E2-9B13A3C95DA3}"/>
                </a:ext>
              </a:extLst>
            </p:cNvPr>
            <p:cNvSpPr/>
            <p:nvPr/>
          </p:nvSpPr>
          <p:spPr>
            <a:xfrm>
              <a:off x="1168170" y="3676838"/>
              <a:ext cx="2871037" cy="2672113"/>
            </a:xfrm>
            <a:prstGeom prst="rect">
              <a:avLst/>
            </a:prstGeom>
            <a:solidFill>
              <a:srgbClr val="F8FAFC"/>
            </a:solidFill>
            <a:ln w="254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 </a:t>
              </a:r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Capability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FDC83BB6-CAE1-FAE7-3998-D241F16549FC}"/>
                </a:ext>
              </a:extLst>
            </p:cNvPr>
            <p:cNvSpPr/>
            <p:nvPr/>
          </p:nvSpPr>
          <p:spPr>
            <a:xfrm>
              <a:off x="1416965" y="4156148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7C7DD298-DD78-C134-32B7-DFBA06059342}"/>
                </a:ext>
              </a:extLst>
            </p:cNvPr>
            <p:cNvSpPr/>
            <p:nvPr/>
          </p:nvSpPr>
          <p:spPr>
            <a:xfrm>
              <a:off x="1416965" y="5072957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LLM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Endpoint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3B034979-9282-514B-3B9B-D4539890046F}"/>
                </a:ext>
              </a:extLst>
            </p:cNvPr>
            <p:cNvSpPr/>
            <p:nvPr/>
          </p:nvSpPr>
          <p:spPr>
            <a:xfrm>
              <a:off x="2726507" y="5072957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Skills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F9FF4D62-74F7-7942-5DBA-05A233CAE3C2}"/>
                </a:ext>
              </a:extLst>
            </p:cNvPr>
            <p:cNvSpPr/>
            <p:nvPr/>
          </p:nvSpPr>
          <p:spPr>
            <a:xfrm>
              <a:off x="2728086" y="4164481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Permission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AE79F4B-EFB1-D45C-50CC-E6C91A26FC16}"/>
              </a:ext>
            </a:extLst>
          </p:cNvPr>
          <p:cNvGrpSpPr/>
          <p:nvPr/>
        </p:nvGrpSpPr>
        <p:grpSpPr>
          <a:xfrm>
            <a:off x="4307009" y="2802192"/>
            <a:ext cx="2360856" cy="2528571"/>
            <a:chOff x="1214965" y="2713906"/>
            <a:chExt cx="2360856" cy="2528571"/>
          </a:xfrm>
        </p:grpSpPr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9AA0993F-EB53-3C44-20B2-BAD6FAA6C5C8}"/>
                </a:ext>
              </a:extLst>
            </p:cNvPr>
            <p:cNvSpPr/>
            <p:nvPr/>
          </p:nvSpPr>
          <p:spPr>
            <a:xfrm>
              <a:off x="1214965" y="2713906"/>
              <a:ext cx="2360856" cy="2528571"/>
            </a:xfrm>
            <a:prstGeom prst="rect">
              <a:avLst/>
            </a:prstGeom>
            <a:solidFill>
              <a:srgbClr val="F8FAFC"/>
            </a:solidFill>
            <a:ln w="254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Workflow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10A82975-2E65-420E-0967-75A7EF19228C}"/>
                </a:ext>
              </a:extLst>
            </p:cNvPr>
            <p:cNvSpPr/>
            <p:nvPr/>
          </p:nvSpPr>
          <p:spPr>
            <a:xfrm>
              <a:off x="2462393" y="3157583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Workflow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C8ABCA4B-E004-B346-1F7C-244D6C484839}"/>
                </a:ext>
              </a:extLst>
            </p:cNvPr>
            <p:cNvSpPr/>
            <p:nvPr/>
          </p:nvSpPr>
          <p:spPr>
            <a:xfrm>
              <a:off x="1434600" y="3200922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AI Model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6" name="Shape 4">
            <a:extLst>
              <a:ext uri="{FF2B5EF4-FFF2-40B4-BE49-F238E27FC236}">
                <a16:creationId xmlns:a16="http://schemas.microsoft.com/office/drawing/2014/main" id="{44A8170A-4BA9-92D9-7664-A4EB2EE9D3F9}"/>
              </a:ext>
            </a:extLst>
          </p:cNvPr>
          <p:cNvSpPr/>
          <p:nvPr/>
        </p:nvSpPr>
        <p:spPr>
          <a:xfrm>
            <a:off x="8378327" y="325617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Config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D7F3F0E0-46DF-FCC8-E95C-B866B8160B30}"/>
              </a:ext>
            </a:extLst>
          </p:cNvPr>
          <p:cNvSpPr/>
          <p:nvPr/>
        </p:nvSpPr>
        <p:spPr>
          <a:xfrm>
            <a:off x="3199163" y="1926521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Metric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AA73400E-AB58-8000-3309-BFCC6A27BBB9}"/>
              </a:ext>
            </a:extLst>
          </p:cNvPr>
          <p:cNvSpPr/>
          <p:nvPr/>
        </p:nvSpPr>
        <p:spPr>
          <a:xfrm>
            <a:off x="5258322" y="570014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JIRA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1C71D65D-BB49-2777-25D8-0F508FF87333}"/>
              </a:ext>
            </a:extLst>
          </p:cNvPr>
          <p:cNvSpPr/>
          <p:nvPr/>
        </p:nvSpPr>
        <p:spPr>
          <a:xfrm>
            <a:off x="4214102" y="5663148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NPU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053DA5F-AE37-CA79-AA74-87339275BD03}"/>
              </a:ext>
            </a:extLst>
          </p:cNvPr>
          <p:cNvSpPr/>
          <p:nvPr/>
        </p:nvSpPr>
        <p:spPr>
          <a:xfrm>
            <a:off x="5000237" y="411360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Node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7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F6BC-C078-8071-0A2A-4981A38A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9A86A85C-5B50-33FE-9066-D1EFEBFAA77F}"/>
              </a:ext>
            </a:extLst>
          </p:cNvPr>
          <p:cNvSpPr/>
          <p:nvPr/>
        </p:nvSpPr>
        <p:spPr>
          <a:xfrm>
            <a:off x="1153153" y="4606474"/>
            <a:ext cx="6192253" cy="848921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Execution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0738DB6-714F-AF51-B6B3-E570125FB067}"/>
              </a:ext>
            </a:extLst>
          </p:cNvPr>
          <p:cNvSpPr/>
          <p:nvPr/>
        </p:nvSpPr>
        <p:spPr>
          <a:xfrm>
            <a:off x="1211253" y="1841365"/>
            <a:ext cx="6192253" cy="738206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Presentation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B5E25499-CB94-DA3C-239F-EFFC4E1A5570}"/>
              </a:ext>
            </a:extLst>
          </p:cNvPr>
          <p:cNvSpPr/>
          <p:nvPr/>
        </p:nvSpPr>
        <p:spPr>
          <a:xfrm>
            <a:off x="1168170" y="5548453"/>
            <a:ext cx="6177236" cy="848921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Resource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5B2132-C21E-B391-7F19-F76D34AC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Domain Diagram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3635A6-8650-A79A-3D7A-7B3D0E279A97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F9E946E-F80E-3A59-8BA9-E4A609E07713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CB19585-4B52-C4CE-0754-7FD654471C91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요구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03F75F-250B-AAD8-53FA-4482522DD947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설계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D60C70-39AE-00CA-321F-D73FDA76517F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검증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B9762BE-B0E2-BAFD-64F7-62C0D0767EB7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결론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B061C19-F733-4605-0764-2F40FC0BE129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과제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소개</a:t>
              </a:r>
            </a:p>
          </p:txBody>
        </p:sp>
      </p:grpSp>
      <p:sp>
        <p:nvSpPr>
          <p:cNvPr id="10" name="Shape 4">
            <a:extLst>
              <a:ext uri="{FF2B5EF4-FFF2-40B4-BE49-F238E27FC236}">
                <a16:creationId xmlns:a16="http://schemas.microsoft.com/office/drawing/2014/main" id="{49A5DF13-3313-BEC5-3541-772B65EDFB84}"/>
              </a:ext>
            </a:extLst>
          </p:cNvPr>
          <p:cNvSpPr/>
          <p:nvPr/>
        </p:nvSpPr>
        <p:spPr>
          <a:xfrm>
            <a:off x="1034106" y="1424320"/>
            <a:ext cx="6454175" cy="5253813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&lt; </a:t>
            </a:r>
            <a:r>
              <a:rPr lang="en-US" altLang="ko-KR" sz="11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Agentic DevOps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시스템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A1E23A-2869-508D-0E46-7FD692CFDBD2}"/>
              </a:ext>
            </a:extLst>
          </p:cNvPr>
          <p:cNvGrpSpPr/>
          <p:nvPr/>
        </p:nvGrpSpPr>
        <p:grpSpPr>
          <a:xfrm>
            <a:off x="8170134" y="1424320"/>
            <a:ext cx="2058235" cy="1896233"/>
            <a:chOff x="10689193" y="2067352"/>
            <a:chExt cx="3033362" cy="2723295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E4531446-2ACB-1A5D-0B7F-44BFC29AE77C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IR Converter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Shape 4">
              <a:extLst>
                <a:ext uri="{FF2B5EF4-FFF2-40B4-BE49-F238E27FC236}">
                  <a16:creationId xmlns:a16="http://schemas.microsoft.com/office/drawing/2014/main" id="{489F48CA-45C6-E8F8-B3A2-8D028B8E53F5}"/>
                </a:ext>
              </a:extLst>
            </p:cNvPr>
            <p:cNvSpPr/>
            <p:nvPr/>
          </p:nvSpPr>
          <p:spPr>
            <a:xfrm>
              <a:off x="10689193" y="2067352"/>
              <a:ext cx="3033362" cy="2723295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 On-device AI SDK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E34EFC25-4EE7-F949-D24A-630A737732FF}"/>
                </a:ext>
              </a:extLst>
            </p:cNvPr>
            <p:cNvSpPr/>
            <p:nvPr/>
          </p:nvSpPr>
          <p:spPr>
            <a:xfrm>
              <a:off x="11278190" y="307487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Graph Optimizer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55D0B69-FD41-A542-66F1-ADFB6EB90536}"/>
                </a:ext>
              </a:extLst>
            </p:cNvPr>
            <p:cNvSpPr/>
            <p:nvPr/>
          </p:nvSpPr>
          <p:spPr>
            <a:xfrm>
              <a:off x="11270061" y="3617496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Quantizer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BE6DBE1A-2EB2-93CC-6280-27970EC95FEC}"/>
                </a:ext>
              </a:extLst>
            </p:cNvPr>
            <p:cNvSpPr/>
            <p:nvPr/>
          </p:nvSpPr>
          <p:spPr>
            <a:xfrm>
              <a:off x="11271721" y="418859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Compiler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4" name="원통형 43">
            <a:extLst>
              <a:ext uri="{FF2B5EF4-FFF2-40B4-BE49-F238E27FC236}">
                <a16:creationId xmlns:a16="http://schemas.microsoft.com/office/drawing/2014/main" id="{A22F2B2F-E817-72F2-0805-0AD7C87F3B3B}"/>
              </a:ext>
            </a:extLst>
          </p:cNvPr>
          <p:cNvSpPr/>
          <p:nvPr/>
        </p:nvSpPr>
        <p:spPr>
          <a:xfrm>
            <a:off x="8513222" y="5727028"/>
            <a:ext cx="1395520" cy="762370"/>
          </a:xfrm>
          <a:prstGeom prst="can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NFS Storage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F9BB699-1D55-5F4C-1314-4B88DFB0DB96}"/>
              </a:ext>
            </a:extLst>
          </p:cNvPr>
          <p:cNvGrpSpPr/>
          <p:nvPr/>
        </p:nvGrpSpPr>
        <p:grpSpPr>
          <a:xfrm>
            <a:off x="8657181" y="4451829"/>
            <a:ext cx="1148217" cy="1049641"/>
            <a:chOff x="5846387" y="5928869"/>
            <a:chExt cx="1263039" cy="954219"/>
          </a:xfrm>
        </p:grpSpPr>
        <p:sp>
          <p:nvSpPr>
            <p:cNvPr id="47" name="순서도: 대체 처리 46">
              <a:extLst>
                <a:ext uri="{FF2B5EF4-FFF2-40B4-BE49-F238E27FC236}">
                  <a16:creationId xmlns:a16="http://schemas.microsoft.com/office/drawing/2014/main" id="{923A7918-22FB-F513-1B64-8060C2B1B43D}"/>
                </a:ext>
              </a:extLst>
            </p:cNvPr>
            <p:cNvSpPr/>
            <p:nvPr/>
          </p:nvSpPr>
          <p:spPr>
            <a:xfrm>
              <a:off x="6121947" y="6152299"/>
              <a:ext cx="741067" cy="520522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NPU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1D426531-8B4D-427D-E8B3-4F5A34EF08BA}"/>
                </a:ext>
              </a:extLst>
            </p:cNvPr>
            <p:cNvGrpSpPr/>
            <p:nvPr/>
          </p:nvGrpSpPr>
          <p:grpSpPr>
            <a:xfrm>
              <a:off x="6911451" y="6247615"/>
              <a:ext cx="197975" cy="329885"/>
              <a:chOff x="6278710" y="6265159"/>
              <a:chExt cx="385797" cy="584411"/>
            </a:xfrm>
          </p:grpSpPr>
          <p:sp>
            <p:nvSpPr>
              <p:cNvPr id="48" name="순서도: 대체 처리 47">
                <a:extLst>
                  <a:ext uri="{FF2B5EF4-FFF2-40B4-BE49-F238E27FC236}">
                    <a16:creationId xmlns:a16="http://schemas.microsoft.com/office/drawing/2014/main" id="{0DEFA9E4-BCB3-097B-A8DB-FE29AF483AA8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9" name="순서도: 대체 처리 48">
                <a:extLst>
                  <a:ext uri="{FF2B5EF4-FFF2-40B4-BE49-F238E27FC236}">
                    <a16:creationId xmlns:a16="http://schemas.microsoft.com/office/drawing/2014/main" id="{906C9A6C-3AA1-DF9F-F13F-9B3CD7F2F120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6CF095AC-AB41-2A8D-93B2-38C2632209C0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A243784-3FB6-89E7-5DE1-8AA843E95B9B}"/>
                </a:ext>
              </a:extLst>
            </p:cNvPr>
            <p:cNvGrpSpPr/>
            <p:nvPr/>
          </p:nvGrpSpPr>
          <p:grpSpPr>
            <a:xfrm>
              <a:off x="5846387" y="6239901"/>
              <a:ext cx="197975" cy="362872"/>
              <a:chOff x="6278710" y="6265159"/>
              <a:chExt cx="385797" cy="584411"/>
            </a:xfrm>
          </p:grpSpPr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E103B2C2-4D79-4F59-750E-D728E8E74190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4" name="순서도: 대체 처리 53">
                <a:extLst>
                  <a:ext uri="{FF2B5EF4-FFF2-40B4-BE49-F238E27FC236}">
                    <a16:creationId xmlns:a16="http://schemas.microsoft.com/office/drawing/2014/main" id="{B8198844-1235-5C3F-B30E-E0FD02CFB64E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순서도: 대체 처리 54">
                <a:extLst>
                  <a:ext uri="{FF2B5EF4-FFF2-40B4-BE49-F238E27FC236}">
                    <a16:creationId xmlns:a16="http://schemas.microsoft.com/office/drawing/2014/main" id="{8CEDC07C-750C-9E78-E3FB-8C279720364D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1DC1A93-9606-B00A-FAA2-6D2121343D38}"/>
                </a:ext>
              </a:extLst>
            </p:cNvPr>
            <p:cNvGrpSpPr/>
            <p:nvPr/>
          </p:nvGrpSpPr>
          <p:grpSpPr>
            <a:xfrm rot="5400000">
              <a:off x="6410694" y="5791139"/>
              <a:ext cx="163615" cy="439075"/>
              <a:chOff x="6278710" y="6265159"/>
              <a:chExt cx="385797" cy="584411"/>
            </a:xfrm>
          </p:grpSpPr>
          <p:sp>
            <p:nvSpPr>
              <p:cNvPr id="57" name="순서도: 대체 처리 56">
                <a:extLst>
                  <a:ext uri="{FF2B5EF4-FFF2-40B4-BE49-F238E27FC236}">
                    <a16:creationId xmlns:a16="http://schemas.microsoft.com/office/drawing/2014/main" id="{CEF42371-B32B-F22F-8329-32A30B95947D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순서도: 대체 처리 57">
                <a:extLst>
                  <a:ext uri="{FF2B5EF4-FFF2-40B4-BE49-F238E27FC236}">
                    <a16:creationId xmlns:a16="http://schemas.microsoft.com/office/drawing/2014/main" id="{373A034D-8AFE-E87F-0FAC-EDAA93144466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A975D19E-ACE7-900F-AA78-281DB8D0CA94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9D40779-E184-A42B-983D-486050168071}"/>
                </a:ext>
              </a:extLst>
            </p:cNvPr>
            <p:cNvGrpSpPr/>
            <p:nvPr/>
          </p:nvGrpSpPr>
          <p:grpSpPr>
            <a:xfrm rot="5400000">
              <a:off x="6422240" y="6581743"/>
              <a:ext cx="163615" cy="439075"/>
              <a:chOff x="6278710" y="6265159"/>
              <a:chExt cx="385797" cy="584411"/>
            </a:xfrm>
          </p:grpSpPr>
          <p:sp>
            <p:nvSpPr>
              <p:cNvPr id="61" name="순서도: 대체 처리 60">
                <a:extLst>
                  <a:ext uri="{FF2B5EF4-FFF2-40B4-BE49-F238E27FC236}">
                    <a16:creationId xmlns:a16="http://schemas.microsoft.com/office/drawing/2014/main" id="{D7065BB7-7A33-6346-7E7B-4A2832BB8EBE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EA5EE500-ABFA-6A81-2B9A-A63C8EDC975F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3" name="순서도: 대체 처리 62">
                <a:extLst>
                  <a:ext uri="{FF2B5EF4-FFF2-40B4-BE49-F238E27FC236}">
                    <a16:creationId xmlns:a16="http://schemas.microsoft.com/office/drawing/2014/main" id="{4444A442-55AE-4163-0836-6B9A69828D80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8" name="Shape 4">
            <a:extLst>
              <a:ext uri="{FF2B5EF4-FFF2-40B4-BE49-F238E27FC236}">
                <a16:creationId xmlns:a16="http://schemas.microsoft.com/office/drawing/2014/main" id="{75BE53CC-F024-2360-3247-D6B13F965B55}"/>
              </a:ext>
            </a:extLst>
          </p:cNvPr>
          <p:cNvSpPr/>
          <p:nvPr/>
        </p:nvSpPr>
        <p:spPr>
          <a:xfrm>
            <a:off x="3213246" y="5663148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Storage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A914F79-3370-55A1-4262-DCAAEB799C35}"/>
              </a:ext>
            </a:extLst>
          </p:cNvPr>
          <p:cNvSpPr/>
          <p:nvPr/>
        </p:nvSpPr>
        <p:spPr>
          <a:xfrm>
            <a:off x="2202608" y="5661107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Resource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9C0173-3725-B640-81C1-E0ACFF8EB6E2}"/>
              </a:ext>
            </a:extLst>
          </p:cNvPr>
          <p:cNvSpPr/>
          <p:nvPr/>
        </p:nvSpPr>
        <p:spPr>
          <a:xfrm>
            <a:off x="2202608" y="4754600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SDK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CD8FD25-61B3-BDCE-6B60-7E743990342B}"/>
              </a:ext>
            </a:extLst>
          </p:cNvPr>
          <p:cNvSpPr/>
          <p:nvPr/>
        </p:nvSpPr>
        <p:spPr>
          <a:xfrm>
            <a:off x="2195048" y="1936770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Dashboard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GUI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A68D278-CDD7-C2D3-198D-8F6CEDD3D09B}"/>
              </a:ext>
            </a:extLst>
          </p:cNvPr>
          <p:cNvSpPr/>
          <p:nvPr/>
        </p:nvSpPr>
        <p:spPr>
          <a:xfrm>
            <a:off x="4219343" y="4773000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Artifact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7F73613-9DB5-9F25-7CC5-C122DE8AC645}"/>
              </a:ext>
            </a:extLst>
          </p:cNvPr>
          <p:cNvGrpSpPr/>
          <p:nvPr/>
        </p:nvGrpSpPr>
        <p:grpSpPr>
          <a:xfrm>
            <a:off x="8170134" y="3526389"/>
            <a:ext cx="2058235" cy="762370"/>
            <a:chOff x="10689193" y="2067353"/>
            <a:chExt cx="3033362" cy="1094886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743053D6-E794-5C39-37A3-D230B37C5B17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Device Driver 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77537E2F-45CF-766C-0F43-0E551EB658B0}"/>
                </a:ext>
              </a:extLst>
            </p:cNvPr>
            <p:cNvSpPr/>
            <p:nvPr/>
          </p:nvSpPr>
          <p:spPr>
            <a:xfrm>
              <a:off x="10689193" y="2067353"/>
              <a:ext cx="3033362" cy="1094886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 NPU&gt;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DA01EB5-AA6C-B867-2E04-24B74F203B19}"/>
              </a:ext>
            </a:extLst>
          </p:cNvPr>
          <p:cNvGrpSpPr/>
          <p:nvPr/>
        </p:nvGrpSpPr>
        <p:grpSpPr>
          <a:xfrm>
            <a:off x="1168170" y="2739826"/>
            <a:ext cx="6192253" cy="848921"/>
            <a:chOff x="1168170" y="3676838"/>
            <a:chExt cx="6192253" cy="848921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7307BBF6-7170-A406-363D-5874EE720D38}"/>
                </a:ext>
              </a:extLst>
            </p:cNvPr>
            <p:cNvSpPr/>
            <p:nvPr/>
          </p:nvSpPr>
          <p:spPr>
            <a:xfrm>
              <a:off x="1168170" y="3676838"/>
              <a:ext cx="6192253" cy="848921"/>
            </a:xfrm>
            <a:prstGeom prst="rect">
              <a:avLst/>
            </a:prstGeom>
            <a:solidFill>
              <a:srgbClr val="F8FAFC"/>
            </a:solidFill>
            <a:ln w="254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 </a:t>
              </a:r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Capability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Shape 4">
              <a:extLst>
                <a:ext uri="{FF2B5EF4-FFF2-40B4-BE49-F238E27FC236}">
                  <a16:creationId xmlns:a16="http://schemas.microsoft.com/office/drawing/2014/main" id="{D72F43FF-EBF2-4D77-58ED-FA263CF19A25}"/>
                </a:ext>
              </a:extLst>
            </p:cNvPr>
            <p:cNvSpPr/>
            <p:nvPr/>
          </p:nvSpPr>
          <p:spPr>
            <a:xfrm>
              <a:off x="2202608" y="3817364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6343558B-7244-7C41-1791-5E32CAFD4F7E}"/>
                </a:ext>
              </a:extLst>
            </p:cNvPr>
            <p:cNvSpPr/>
            <p:nvPr/>
          </p:nvSpPr>
          <p:spPr>
            <a:xfrm>
              <a:off x="4195785" y="3813373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LLM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Endpoint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5B645E98-11B3-39D1-9D6B-285ADB16669E}"/>
                </a:ext>
              </a:extLst>
            </p:cNvPr>
            <p:cNvSpPr/>
            <p:nvPr/>
          </p:nvSpPr>
          <p:spPr>
            <a:xfrm>
              <a:off x="5175774" y="3813373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Skills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458E265D-DEB0-18A7-A544-B4E607743FE1}"/>
                </a:ext>
              </a:extLst>
            </p:cNvPr>
            <p:cNvSpPr/>
            <p:nvPr/>
          </p:nvSpPr>
          <p:spPr>
            <a:xfrm>
              <a:off x="3213246" y="3813373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Permission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77C2551-009C-ABEC-3BB6-745D632867D0}"/>
              </a:ext>
            </a:extLst>
          </p:cNvPr>
          <p:cNvGrpSpPr/>
          <p:nvPr/>
        </p:nvGrpSpPr>
        <p:grpSpPr>
          <a:xfrm>
            <a:off x="1161793" y="3700146"/>
            <a:ext cx="6145459" cy="831429"/>
            <a:chOff x="1214964" y="2713906"/>
            <a:chExt cx="6145459" cy="831429"/>
          </a:xfrm>
        </p:grpSpPr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2B5322F2-7F18-FDC8-47E0-2E77DBE083A5}"/>
                </a:ext>
              </a:extLst>
            </p:cNvPr>
            <p:cNvSpPr/>
            <p:nvPr/>
          </p:nvSpPr>
          <p:spPr>
            <a:xfrm>
              <a:off x="1214964" y="2713906"/>
              <a:ext cx="6145459" cy="831429"/>
            </a:xfrm>
            <a:prstGeom prst="rect">
              <a:avLst/>
            </a:prstGeom>
            <a:solidFill>
              <a:srgbClr val="F8FAFC"/>
            </a:solidFill>
            <a:ln w="254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Workflow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39FC84B3-8756-9A35-EFCC-9FB3F5E68503}"/>
                </a:ext>
              </a:extLst>
            </p:cNvPr>
            <p:cNvSpPr/>
            <p:nvPr/>
          </p:nvSpPr>
          <p:spPr>
            <a:xfrm>
              <a:off x="3199166" y="2842011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Workflow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Shape 4">
              <a:extLst>
                <a:ext uri="{FF2B5EF4-FFF2-40B4-BE49-F238E27FC236}">
                  <a16:creationId xmlns:a16="http://schemas.microsoft.com/office/drawing/2014/main" id="{3DA849CE-6ED7-FB43-5E8D-E7E08A24FCCD}"/>
                </a:ext>
              </a:extLst>
            </p:cNvPr>
            <p:cNvSpPr/>
            <p:nvPr/>
          </p:nvSpPr>
          <p:spPr>
            <a:xfrm>
              <a:off x="2195048" y="2861170"/>
              <a:ext cx="875167" cy="51653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AI Model</a:t>
              </a: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endPara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6" name="Shape 4">
            <a:extLst>
              <a:ext uri="{FF2B5EF4-FFF2-40B4-BE49-F238E27FC236}">
                <a16:creationId xmlns:a16="http://schemas.microsoft.com/office/drawing/2014/main" id="{A6E152FC-1069-AE9B-0C5C-BEF4BEAA1DC7}"/>
              </a:ext>
            </a:extLst>
          </p:cNvPr>
          <p:cNvSpPr/>
          <p:nvPr/>
        </p:nvSpPr>
        <p:spPr>
          <a:xfrm>
            <a:off x="3230401" y="4754600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Config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F914CAEC-BFDE-0759-9EDF-1C4741E77EBD}"/>
              </a:ext>
            </a:extLst>
          </p:cNvPr>
          <p:cNvSpPr/>
          <p:nvPr/>
        </p:nvSpPr>
        <p:spPr>
          <a:xfrm>
            <a:off x="3199163" y="1926521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Metric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798E4A94-DBC1-9B83-13B5-B4A83540BDE3}"/>
              </a:ext>
            </a:extLst>
          </p:cNvPr>
          <p:cNvSpPr/>
          <p:nvPr/>
        </p:nvSpPr>
        <p:spPr>
          <a:xfrm>
            <a:off x="5258322" y="570014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JIRA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F4A972D4-B1FD-596D-4B2D-1353F9FF1CC7}"/>
              </a:ext>
            </a:extLst>
          </p:cNvPr>
          <p:cNvSpPr/>
          <p:nvPr/>
        </p:nvSpPr>
        <p:spPr>
          <a:xfrm>
            <a:off x="4214102" y="5663148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NPU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1EAF57C0-D5BA-84B6-F420-13E1583D7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0848" y="2334444"/>
            <a:ext cx="4292762" cy="4020686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11B1BFD5-2F0C-DCBB-CC89-D377E0DC2F2E}"/>
              </a:ext>
            </a:extLst>
          </p:cNvPr>
          <p:cNvSpPr/>
          <p:nvPr/>
        </p:nvSpPr>
        <p:spPr>
          <a:xfrm>
            <a:off x="4177740" y="377432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Node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Manager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1708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4792-17CE-D4DE-EF45-384995FB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7BFD7DDB-9A3C-0560-51E5-0F1343989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800273"/>
              </p:ext>
            </p:extLst>
          </p:nvPr>
        </p:nvGraphicFramePr>
        <p:xfrm>
          <a:off x="425530" y="1361410"/>
          <a:ext cx="11366343" cy="5095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2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2871583236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406261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1</a:t>
                      </a:r>
                      <a:r>
                        <a:rPr lang="ko-KR" altLang="en-US" sz="1800" b="1">
                          <a:solidFill>
                            <a:prstClr val="black"/>
                          </a:solidFill>
                          <a:latin typeface="Calibri" panose="020F0502020204030204"/>
                          <a:ea typeface="+mn-ea"/>
                        </a:rPr>
                        <a:t>안</a:t>
                      </a:r>
                      <a:r>
                        <a:rPr lang="en-US" altLang="ko-KR" sz="1800" b="1">
                          <a:solidFill>
                            <a:prstClr val="black"/>
                          </a:solidFill>
                          <a:latin typeface="Calibri" panose="020F0502020204030204"/>
                          <a:ea typeface="+mn-ea"/>
                        </a:rPr>
                        <a:t>: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Per-Node Agent&gt;</a:t>
                      </a:r>
                      <a:endParaRPr kumimoji="0" lang="ko-KR" alt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&lt; 2</a:t>
                      </a:r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안</a:t>
                      </a:r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: Dynamic Agent Pool&gt;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26591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Performance</a:t>
                      </a:r>
                      <a:r>
                        <a:rPr lang="en-US" altLang="ko-KR" sz="1200"/>
                        <a:t>] Agent </a:t>
                      </a:r>
                      <a:r>
                        <a:rPr lang="ko-KR" altLang="en-US" sz="1200"/>
                        <a:t>선택 없이 즉시 실행할 수 있다</a:t>
                      </a:r>
                      <a:r>
                        <a:rPr lang="en-US" altLang="ko-KR" sz="1200"/>
                        <a:t>.</a:t>
                      </a:r>
                    </a:p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Availability</a:t>
                      </a:r>
                      <a:r>
                        <a:rPr lang="en-US" altLang="ko-KR" sz="1200"/>
                        <a:t>] </a:t>
                      </a:r>
                      <a:r>
                        <a:rPr lang="ko-KR" altLang="en-US" sz="1200"/>
                        <a:t>고정 구조로 장애 격리와 운영 안정성이 높다</a:t>
                      </a:r>
                      <a:r>
                        <a:rPr lang="en-US" altLang="ko-KR" sz="12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Scalability</a:t>
                      </a:r>
                      <a:r>
                        <a:rPr lang="en-US" altLang="ko-KR" sz="1200"/>
                        <a:t>] Agent</a:t>
                      </a:r>
                      <a:r>
                        <a:rPr lang="ko-KR" altLang="en-US" sz="1200"/>
                        <a:t>를 동적으로 할당하여 확장이 용이하다</a:t>
                      </a:r>
                      <a:r>
                        <a:rPr lang="en-US" altLang="ko-KR" sz="1200"/>
                        <a:t>.</a:t>
                      </a:r>
                    </a:p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Efficiency</a:t>
                      </a:r>
                      <a:r>
                        <a:rPr lang="en-US" altLang="ko-KR" sz="1200"/>
                        <a:t>] </a:t>
                      </a:r>
                      <a:r>
                        <a:rPr lang="ko-KR" altLang="en-US" sz="1200" err="1"/>
                        <a:t>작업별</a:t>
                      </a:r>
                      <a:r>
                        <a:rPr lang="ko-KR" altLang="en-US" sz="1200"/>
                        <a:t> 최적 </a:t>
                      </a:r>
                      <a:r>
                        <a:rPr lang="en-US" altLang="ko-KR" sz="1200"/>
                        <a:t>Agent</a:t>
                      </a:r>
                      <a:r>
                        <a:rPr lang="ko-KR" altLang="en-US" sz="1200"/>
                        <a:t>를 선택할 수 있다</a:t>
                      </a:r>
                      <a:r>
                        <a:rPr lang="en-US" altLang="ko-KR" sz="1200"/>
                        <a:t>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Scalability</a:t>
                      </a:r>
                      <a:r>
                        <a:rPr lang="en-US" altLang="ko-KR" sz="1200"/>
                        <a:t>] Agent</a:t>
                      </a:r>
                      <a:r>
                        <a:rPr lang="ko-KR" altLang="en-US" sz="1200"/>
                        <a:t>를 동적으로 할당하여 확장이 용이하다</a:t>
                      </a:r>
                      <a:r>
                        <a:rPr lang="en-US" altLang="ko-KR" sz="1200"/>
                        <a:t>.</a:t>
                      </a:r>
                    </a:p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Efficiency</a:t>
                      </a:r>
                      <a:r>
                        <a:rPr lang="en-US" altLang="ko-KR" sz="1200"/>
                        <a:t>] </a:t>
                      </a:r>
                      <a:r>
                        <a:rPr lang="ko-KR" altLang="en-US" sz="1200" err="1"/>
                        <a:t>작업별</a:t>
                      </a:r>
                      <a:r>
                        <a:rPr lang="ko-KR" altLang="en-US" sz="1200"/>
                        <a:t> 최적 </a:t>
                      </a:r>
                      <a:r>
                        <a:rPr lang="en-US" altLang="ko-KR" sz="1200"/>
                        <a:t>Agent</a:t>
                      </a:r>
                      <a:r>
                        <a:rPr lang="ko-KR" altLang="en-US" sz="1200"/>
                        <a:t>를 선택할 수 있다</a:t>
                      </a:r>
                      <a:r>
                        <a:rPr lang="en-US" altLang="ko-KR" sz="1200"/>
                        <a:t>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Performance</a:t>
                      </a:r>
                      <a:r>
                        <a:rPr lang="en-US" altLang="ko-KR" sz="1200"/>
                        <a:t>] Routing </a:t>
                      </a:r>
                      <a:r>
                        <a:rPr lang="ko-KR" altLang="en-US" sz="1200"/>
                        <a:t>과정에서 추가 지연이 발생한다</a:t>
                      </a:r>
                      <a:r>
                        <a:rPr lang="en-US" altLang="ko-KR" sz="1200"/>
                        <a:t>.</a:t>
                      </a:r>
                    </a:p>
                    <a:p>
                      <a:pPr latinLnBrk="1"/>
                      <a:r>
                        <a:rPr lang="en-US" altLang="ko-KR" sz="1200"/>
                        <a:t>[</a:t>
                      </a:r>
                      <a:r>
                        <a:rPr lang="en-US" altLang="ko-KR" sz="1200" b="1"/>
                        <a:t>Availability</a:t>
                      </a:r>
                      <a:r>
                        <a:rPr lang="en-US" altLang="ko-KR" sz="1200"/>
                        <a:t>] </a:t>
                      </a:r>
                      <a:r>
                        <a:rPr lang="ko-KR" altLang="en-US" sz="1200"/>
                        <a:t>동적 경로로 운영 복잡성이 증가한다</a:t>
                      </a:r>
                      <a:r>
                        <a:rPr lang="en-US" altLang="ko-KR" sz="1200"/>
                        <a:t>.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8575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Efficiency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토큰 사용량 ★★☆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Scalability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시스템 확장성 ★★☆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Performance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Agent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수행 시간 ★★★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Availability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운영 안정성 ★★★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Efficiency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토큰 사용량 ★★★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Scalability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시스템 확장성 ★★★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Performance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Agent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수행 시간 ★★☆</a:t>
                      </a:r>
                      <a:endParaRPr lang="en-US" altLang="ko-KR" sz="12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Availability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운영 안정성 ★★☆</a:t>
                      </a:r>
                      <a:endParaRPr lang="ko-KR" alt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171" name="순서도: 대체 처리 170">
            <a:extLst>
              <a:ext uri="{FF2B5EF4-FFF2-40B4-BE49-F238E27FC236}">
                <a16:creationId xmlns:a16="http://schemas.microsoft.com/office/drawing/2014/main" id="{1A05C9AE-90FF-C543-6DB8-6F38521044A3}"/>
              </a:ext>
            </a:extLst>
          </p:cNvPr>
          <p:cNvSpPr/>
          <p:nvPr/>
        </p:nvSpPr>
        <p:spPr>
          <a:xfrm>
            <a:off x="6939830" y="3316580"/>
            <a:ext cx="441712" cy="344267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2" name="순서도: 대체 처리 171">
            <a:extLst>
              <a:ext uri="{FF2B5EF4-FFF2-40B4-BE49-F238E27FC236}">
                <a16:creationId xmlns:a16="http://schemas.microsoft.com/office/drawing/2014/main" id="{9FC22CDB-23FA-1EDA-D466-90F054A96EC8}"/>
              </a:ext>
            </a:extLst>
          </p:cNvPr>
          <p:cNvSpPr/>
          <p:nvPr/>
        </p:nvSpPr>
        <p:spPr>
          <a:xfrm>
            <a:off x="7953517" y="3316580"/>
            <a:ext cx="441712" cy="344267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순서도: 대체 처리 172">
            <a:extLst>
              <a:ext uri="{FF2B5EF4-FFF2-40B4-BE49-F238E27FC236}">
                <a16:creationId xmlns:a16="http://schemas.microsoft.com/office/drawing/2014/main" id="{81992BDE-A643-681D-053E-FDA9074BF85A}"/>
              </a:ext>
            </a:extLst>
          </p:cNvPr>
          <p:cNvSpPr/>
          <p:nvPr/>
        </p:nvSpPr>
        <p:spPr>
          <a:xfrm>
            <a:off x="8967204" y="3316580"/>
            <a:ext cx="441712" cy="344267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4" name="순서도: 대체 처리 173">
            <a:extLst>
              <a:ext uri="{FF2B5EF4-FFF2-40B4-BE49-F238E27FC236}">
                <a16:creationId xmlns:a16="http://schemas.microsoft.com/office/drawing/2014/main" id="{841E8EE6-FEE9-DE7A-0CEB-409966091245}"/>
              </a:ext>
            </a:extLst>
          </p:cNvPr>
          <p:cNvSpPr/>
          <p:nvPr/>
        </p:nvSpPr>
        <p:spPr>
          <a:xfrm>
            <a:off x="9980891" y="3316580"/>
            <a:ext cx="441712" cy="344267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5" name="순서도: 대체 처리 174">
            <a:extLst>
              <a:ext uri="{FF2B5EF4-FFF2-40B4-BE49-F238E27FC236}">
                <a16:creationId xmlns:a16="http://schemas.microsoft.com/office/drawing/2014/main" id="{C2A8B634-20E0-75F3-F27E-05282411B516}"/>
              </a:ext>
            </a:extLst>
          </p:cNvPr>
          <p:cNvSpPr/>
          <p:nvPr/>
        </p:nvSpPr>
        <p:spPr>
          <a:xfrm>
            <a:off x="10994577" y="3316580"/>
            <a:ext cx="441712" cy="344267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0" name="순서도: 대체 처리 139">
            <a:extLst>
              <a:ext uri="{FF2B5EF4-FFF2-40B4-BE49-F238E27FC236}">
                <a16:creationId xmlns:a16="http://schemas.microsoft.com/office/drawing/2014/main" id="{D7701532-3776-E2AA-8327-C841983B42F5}"/>
              </a:ext>
            </a:extLst>
          </p:cNvPr>
          <p:cNvSpPr/>
          <p:nvPr/>
        </p:nvSpPr>
        <p:spPr>
          <a:xfrm>
            <a:off x="6635744" y="3302249"/>
            <a:ext cx="5101486" cy="83099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 Pool</a:t>
            </a:r>
          </a:p>
          <a:p>
            <a:pPr algn="ctr" latinLnBrk="0"/>
            <a:endParaRPr lang="en-US" altLang="ko-KR" sz="1200">
              <a:solidFill>
                <a:prstClr val="black"/>
              </a:solidFill>
              <a:latin typeface="Calibri" panose="020F0502020204030204"/>
            </a:endParaRPr>
          </a:p>
          <a:p>
            <a:pPr algn="ctr" latinLnBrk="0"/>
            <a:endParaRPr lang="en-US" altLang="ko-KR" sz="1200">
              <a:solidFill>
                <a:prstClr val="black"/>
              </a:solidFill>
              <a:latin typeface="Calibri" panose="020F0502020204030204"/>
            </a:endParaRPr>
          </a:p>
          <a:p>
            <a:pPr algn="ctr" latinLnBrk="0"/>
            <a:endParaRPr lang="en-US" altLang="ko-KR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BC2DF1-69B1-922B-3011-B1F7BD58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DP1 Workflow – Agent </a:t>
            </a:r>
            <a:r>
              <a:rPr kumimoji="1" lang="ko-KR" altLang="en-US" sz="2800" b="1">
                <a:solidFill>
                  <a:prstClr val="black"/>
                </a:solidFill>
                <a:latin typeface="맑은 고딕"/>
                <a:ea typeface="맑은 고딕"/>
              </a:rPr>
              <a:t>매핑</a:t>
            </a:r>
            <a:endParaRPr lang="en-US" altLang="ko-KR" sz="2800" b="1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E642D46-A903-E675-610E-2BD7B8AD45D2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53899B9-AC43-E301-CD08-126DDCAD2952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요구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9AF4A8C-7331-4E62-9F5E-802C69AE16B8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61D4855-1163-A569-A29A-1BECFB92BF22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검증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800AC11-7E04-66AF-798E-F7901D669A1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결론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AD4449E-FE17-F2A2-5919-2D37768B3C80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과제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소개</a:t>
              </a:r>
            </a:p>
          </p:txBody>
        </p:sp>
      </p:grp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3674721C-CFD0-355A-4D6D-4CB2ED9E4FAC}"/>
              </a:ext>
            </a:extLst>
          </p:cNvPr>
          <p:cNvSpPr/>
          <p:nvPr/>
        </p:nvSpPr>
        <p:spPr>
          <a:xfrm>
            <a:off x="3379200" y="1829156"/>
            <a:ext cx="91112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Workflow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Engine 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0C6BB0AE-AB90-E525-2DE7-4E6AB1247E5F}"/>
              </a:ext>
            </a:extLst>
          </p:cNvPr>
          <p:cNvSpPr/>
          <p:nvPr/>
        </p:nvSpPr>
        <p:spPr>
          <a:xfrm>
            <a:off x="1285058" y="3593247"/>
            <a:ext cx="90000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IR-Converter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Node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BA33AA58-1C6D-4563-A2B7-BDCCA6B54A7B}"/>
              </a:ext>
            </a:extLst>
          </p:cNvPr>
          <p:cNvSpPr/>
          <p:nvPr/>
        </p:nvSpPr>
        <p:spPr>
          <a:xfrm>
            <a:off x="2337689" y="3593247"/>
            <a:ext cx="90000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Graph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Optimizer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Node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C4D96BD3-66E1-EC0B-05E3-10F236099358}"/>
              </a:ext>
            </a:extLst>
          </p:cNvPr>
          <p:cNvSpPr/>
          <p:nvPr/>
        </p:nvSpPr>
        <p:spPr>
          <a:xfrm>
            <a:off x="3390320" y="3593247"/>
            <a:ext cx="90000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Quantizer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Node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83F4831C-0B9D-2DA9-3270-F252E8EB53D2}"/>
              </a:ext>
            </a:extLst>
          </p:cNvPr>
          <p:cNvSpPr/>
          <p:nvPr/>
        </p:nvSpPr>
        <p:spPr>
          <a:xfrm>
            <a:off x="4442951" y="3593247"/>
            <a:ext cx="90000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Compiler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Node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02ECE137-898C-CBE8-DDE2-5D75BF6A2443}"/>
              </a:ext>
            </a:extLst>
          </p:cNvPr>
          <p:cNvSpPr/>
          <p:nvPr/>
        </p:nvSpPr>
        <p:spPr>
          <a:xfrm>
            <a:off x="5495583" y="3593247"/>
            <a:ext cx="90000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Artifact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Node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C10BE6E8-B115-C143-67F9-D87579DFE42F}"/>
              </a:ext>
            </a:extLst>
          </p:cNvPr>
          <p:cNvSpPr/>
          <p:nvPr/>
        </p:nvSpPr>
        <p:spPr>
          <a:xfrm>
            <a:off x="1285058" y="271120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IR Converter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5E5E69B2-75AB-FE59-9936-016F3D7CCFBA}"/>
              </a:ext>
            </a:extLst>
          </p:cNvPr>
          <p:cNvSpPr/>
          <p:nvPr/>
        </p:nvSpPr>
        <p:spPr>
          <a:xfrm>
            <a:off x="2337689" y="271120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Graph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Optimizer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8EFDEC4B-7DB9-4D1B-0A9A-CFDF25352BB9}"/>
              </a:ext>
            </a:extLst>
          </p:cNvPr>
          <p:cNvSpPr/>
          <p:nvPr/>
        </p:nvSpPr>
        <p:spPr>
          <a:xfrm>
            <a:off x="3390320" y="271120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Quantizer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0389B3A2-ED64-0425-FA65-34CE4E8703B3}"/>
              </a:ext>
            </a:extLst>
          </p:cNvPr>
          <p:cNvSpPr/>
          <p:nvPr/>
        </p:nvSpPr>
        <p:spPr>
          <a:xfrm>
            <a:off x="4442951" y="271120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Compiler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10450CB5-29C2-511A-17CD-E63B135D2FA5}"/>
              </a:ext>
            </a:extLst>
          </p:cNvPr>
          <p:cNvSpPr/>
          <p:nvPr/>
        </p:nvSpPr>
        <p:spPr>
          <a:xfrm>
            <a:off x="5495583" y="271120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Artifact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42721B7-8CA2-CC60-4529-35926637A77F}"/>
              </a:ext>
            </a:extLst>
          </p:cNvPr>
          <p:cNvCxnSpPr>
            <a:cxnSpLocks/>
            <a:stCxn id="17" idx="2"/>
            <a:endCxn id="6" idx="0"/>
          </p:cNvCxnSpPr>
          <p:nvPr/>
        </p:nvCxnSpPr>
        <p:spPr>
          <a:xfrm>
            <a:off x="1735058" y="3251201"/>
            <a:ext cx="0" cy="34204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D9709F1-C94D-279C-4AC7-6AC8B81772FA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3840320" y="3251201"/>
            <a:ext cx="0" cy="34204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0F28B1D-B53A-2FDA-D90D-AD703C7C6FE8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>
            <a:off x="2787689" y="3251201"/>
            <a:ext cx="0" cy="34204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343DF94-579A-50E8-29CE-42CD040B6576}"/>
              </a:ext>
            </a:extLst>
          </p:cNvPr>
          <p:cNvCxnSpPr>
            <a:cxnSpLocks/>
            <a:stCxn id="23" idx="2"/>
            <a:endCxn id="16" idx="0"/>
          </p:cNvCxnSpPr>
          <p:nvPr/>
        </p:nvCxnSpPr>
        <p:spPr>
          <a:xfrm>
            <a:off x="5945583" y="3251201"/>
            <a:ext cx="0" cy="34204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F9DA107-3A1D-B8E1-79ED-BD51C44A2D41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4892951" y="3251201"/>
            <a:ext cx="0" cy="34204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A181884-23A9-A98B-4CE5-B851206B0B2A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3834760" y="2369156"/>
            <a:ext cx="5560" cy="34204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476EA0A-E725-0FEB-8926-888FEFCB7B76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rot="16200000" flipH="1">
            <a:off x="4192833" y="2011082"/>
            <a:ext cx="342045" cy="1058191"/>
          </a:xfrm>
          <a:prstGeom prst="curvedConnector3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60">
            <a:extLst>
              <a:ext uri="{FF2B5EF4-FFF2-40B4-BE49-F238E27FC236}">
                <a16:creationId xmlns:a16="http://schemas.microsoft.com/office/drawing/2014/main" id="{276BFC8A-147B-3E81-54BB-8F68ACB6911D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 rot="16200000" flipH="1">
            <a:off x="4719149" y="1484766"/>
            <a:ext cx="342045" cy="2110823"/>
          </a:xfrm>
          <a:prstGeom prst="curvedConnector3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60">
            <a:extLst>
              <a:ext uri="{FF2B5EF4-FFF2-40B4-BE49-F238E27FC236}">
                <a16:creationId xmlns:a16="http://schemas.microsoft.com/office/drawing/2014/main" id="{F18E4E25-0439-09BC-57E3-866A22175524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5400000">
            <a:off x="3140203" y="2016643"/>
            <a:ext cx="342045" cy="1047071"/>
          </a:xfrm>
          <a:prstGeom prst="curved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60">
            <a:extLst>
              <a:ext uri="{FF2B5EF4-FFF2-40B4-BE49-F238E27FC236}">
                <a16:creationId xmlns:a16="http://schemas.microsoft.com/office/drawing/2014/main" id="{95F4A381-98C5-66C5-CDE7-4F99C2C0A659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5400000">
            <a:off x="2613887" y="1490327"/>
            <a:ext cx="342045" cy="2099702"/>
          </a:xfrm>
          <a:prstGeom prst="curved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순서도: 대체 처리 97">
            <a:extLst>
              <a:ext uri="{FF2B5EF4-FFF2-40B4-BE49-F238E27FC236}">
                <a16:creationId xmlns:a16="http://schemas.microsoft.com/office/drawing/2014/main" id="{9C7DDF24-4F27-8BF8-BB27-44F45FC3C47C}"/>
              </a:ext>
            </a:extLst>
          </p:cNvPr>
          <p:cNvSpPr/>
          <p:nvPr/>
        </p:nvSpPr>
        <p:spPr>
          <a:xfrm>
            <a:off x="8732500" y="2544031"/>
            <a:ext cx="91112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Router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순서도: 대체 처리 103">
            <a:extLst>
              <a:ext uri="{FF2B5EF4-FFF2-40B4-BE49-F238E27FC236}">
                <a16:creationId xmlns:a16="http://schemas.microsoft.com/office/drawing/2014/main" id="{597E8EE5-1AEA-43EE-1E9D-0B864D52D147}"/>
              </a:ext>
            </a:extLst>
          </p:cNvPr>
          <p:cNvSpPr/>
          <p:nvPr/>
        </p:nvSpPr>
        <p:spPr>
          <a:xfrm>
            <a:off x="6767530" y="35335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IR Converter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순서도: 대체 처리 104">
            <a:extLst>
              <a:ext uri="{FF2B5EF4-FFF2-40B4-BE49-F238E27FC236}">
                <a16:creationId xmlns:a16="http://schemas.microsoft.com/office/drawing/2014/main" id="{37953296-CB49-F9FA-21FE-998E50D6BF06}"/>
              </a:ext>
            </a:extLst>
          </p:cNvPr>
          <p:cNvSpPr/>
          <p:nvPr/>
        </p:nvSpPr>
        <p:spPr>
          <a:xfrm>
            <a:off x="7752199" y="35335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Graph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Optimizer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순서도: 대체 처리 105">
            <a:extLst>
              <a:ext uri="{FF2B5EF4-FFF2-40B4-BE49-F238E27FC236}">
                <a16:creationId xmlns:a16="http://schemas.microsoft.com/office/drawing/2014/main" id="{6258E9C9-135B-2AA0-6217-862AC53BD0A3}"/>
              </a:ext>
            </a:extLst>
          </p:cNvPr>
          <p:cNvSpPr/>
          <p:nvPr/>
        </p:nvSpPr>
        <p:spPr>
          <a:xfrm>
            <a:off x="8736867" y="35335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Quantizer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순서도: 대체 처리 106">
            <a:extLst>
              <a:ext uri="{FF2B5EF4-FFF2-40B4-BE49-F238E27FC236}">
                <a16:creationId xmlns:a16="http://schemas.microsoft.com/office/drawing/2014/main" id="{74957A0D-9EA8-9918-07D8-9B77958F1DEF}"/>
              </a:ext>
            </a:extLst>
          </p:cNvPr>
          <p:cNvSpPr/>
          <p:nvPr/>
        </p:nvSpPr>
        <p:spPr>
          <a:xfrm>
            <a:off x="9721535" y="35335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Compiler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순서도: 대체 처리 107">
            <a:extLst>
              <a:ext uri="{FF2B5EF4-FFF2-40B4-BE49-F238E27FC236}">
                <a16:creationId xmlns:a16="http://schemas.microsoft.com/office/drawing/2014/main" id="{7DC7803B-2323-E751-02D6-1701ACF9D097}"/>
              </a:ext>
            </a:extLst>
          </p:cNvPr>
          <p:cNvSpPr/>
          <p:nvPr/>
        </p:nvSpPr>
        <p:spPr>
          <a:xfrm>
            <a:off x="10706204" y="35335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Artifact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97F98ED4-09B2-F389-7B3A-FFDC3B95D06D}"/>
              </a:ext>
            </a:extLst>
          </p:cNvPr>
          <p:cNvCxnSpPr>
            <a:cxnSpLocks/>
            <a:stCxn id="98" idx="2"/>
            <a:endCxn id="173" idx="0"/>
          </p:cNvCxnSpPr>
          <p:nvPr/>
        </p:nvCxnSpPr>
        <p:spPr>
          <a:xfrm>
            <a:off x="9188060" y="3084031"/>
            <a:ext cx="0" cy="23254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60">
            <a:extLst>
              <a:ext uri="{FF2B5EF4-FFF2-40B4-BE49-F238E27FC236}">
                <a16:creationId xmlns:a16="http://schemas.microsoft.com/office/drawing/2014/main" id="{24872416-F69C-C9C0-2824-41DBC8A5576D}"/>
              </a:ext>
            </a:extLst>
          </p:cNvPr>
          <p:cNvCxnSpPr>
            <a:cxnSpLocks/>
            <a:stCxn id="98" idx="2"/>
            <a:endCxn id="174" idx="0"/>
          </p:cNvCxnSpPr>
          <p:nvPr/>
        </p:nvCxnSpPr>
        <p:spPr>
          <a:xfrm rot="16200000" flipH="1">
            <a:off x="9578629" y="2693461"/>
            <a:ext cx="232549" cy="1013687"/>
          </a:xfrm>
          <a:prstGeom prst="curvedConnector3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60">
            <a:extLst>
              <a:ext uri="{FF2B5EF4-FFF2-40B4-BE49-F238E27FC236}">
                <a16:creationId xmlns:a16="http://schemas.microsoft.com/office/drawing/2014/main" id="{AEB1D293-3926-8BFD-829E-055036B1C314}"/>
              </a:ext>
            </a:extLst>
          </p:cNvPr>
          <p:cNvCxnSpPr>
            <a:cxnSpLocks/>
            <a:stCxn id="98" idx="2"/>
            <a:endCxn id="175" idx="0"/>
          </p:cNvCxnSpPr>
          <p:nvPr/>
        </p:nvCxnSpPr>
        <p:spPr>
          <a:xfrm rot="16200000" flipH="1">
            <a:off x="10085472" y="2186618"/>
            <a:ext cx="232549" cy="2027373"/>
          </a:xfrm>
          <a:prstGeom prst="curved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60">
            <a:extLst>
              <a:ext uri="{FF2B5EF4-FFF2-40B4-BE49-F238E27FC236}">
                <a16:creationId xmlns:a16="http://schemas.microsoft.com/office/drawing/2014/main" id="{773F339C-0DBE-A18A-02CC-90E00E154DB1}"/>
              </a:ext>
            </a:extLst>
          </p:cNvPr>
          <p:cNvCxnSpPr>
            <a:cxnSpLocks/>
            <a:stCxn id="98" idx="2"/>
            <a:endCxn id="172" idx="0"/>
          </p:cNvCxnSpPr>
          <p:nvPr/>
        </p:nvCxnSpPr>
        <p:spPr>
          <a:xfrm rot="5400000">
            <a:off x="8564943" y="2693462"/>
            <a:ext cx="232549" cy="1013687"/>
          </a:xfrm>
          <a:prstGeom prst="curved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60">
            <a:extLst>
              <a:ext uri="{FF2B5EF4-FFF2-40B4-BE49-F238E27FC236}">
                <a16:creationId xmlns:a16="http://schemas.microsoft.com/office/drawing/2014/main" id="{0AC03381-31E7-338F-96DF-9C3CFFBF8F92}"/>
              </a:ext>
            </a:extLst>
          </p:cNvPr>
          <p:cNvCxnSpPr>
            <a:cxnSpLocks/>
            <a:stCxn id="98" idx="2"/>
            <a:endCxn id="171" idx="0"/>
          </p:cNvCxnSpPr>
          <p:nvPr/>
        </p:nvCxnSpPr>
        <p:spPr>
          <a:xfrm rot="5400000">
            <a:off x="8058099" y="2186618"/>
            <a:ext cx="232549" cy="2027374"/>
          </a:xfrm>
          <a:prstGeom prst="curved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순서도: 대체 처리 134">
            <a:extLst>
              <a:ext uri="{FF2B5EF4-FFF2-40B4-BE49-F238E27FC236}">
                <a16:creationId xmlns:a16="http://schemas.microsoft.com/office/drawing/2014/main" id="{E1320F66-1181-BDC8-52DB-F8588DD8B667}"/>
              </a:ext>
            </a:extLst>
          </p:cNvPr>
          <p:cNvSpPr/>
          <p:nvPr/>
        </p:nvSpPr>
        <p:spPr>
          <a:xfrm>
            <a:off x="8732500" y="1832734"/>
            <a:ext cx="91112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Workflow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Engine 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FED93AAE-E17C-7ABB-1E7E-CD842376799F}"/>
              </a:ext>
            </a:extLst>
          </p:cNvPr>
          <p:cNvCxnSpPr>
            <a:cxnSpLocks/>
            <a:stCxn id="135" idx="2"/>
            <a:endCxn id="98" idx="0"/>
          </p:cNvCxnSpPr>
          <p:nvPr/>
        </p:nvCxnSpPr>
        <p:spPr>
          <a:xfrm>
            <a:off x="9188060" y="2372734"/>
            <a:ext cx="0" cy="17129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733A3444-CD2F-104E-C82C-C23F16FEE3CE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63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8030B-90C8-119A-9280-A9217C8B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C7F9224-D6C5-116E-3D12-A295FB222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32532"/>
              </p:ext>
            </p:extLst>
          </p:nvPr>
        </p:nvGraphicFramePr>
        <p:xfrm>
          <a:off x="482983" y="1363736"/>
          <a:ext cx="11366343" cy="5095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2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2871583236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406261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1안-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Hierarchical Multi-Agent 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2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안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Fully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Decentralized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Multi-Agent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26591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Controllability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단일 지점에서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Agent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정책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HITL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승인을 관리 가능함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Scalability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필요 시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별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인스턴스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생성으로 확장 용이함</a:t>
                      </a:r>
                      <a:endParaRPr lang="en-US" alt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Availability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장애점이 없고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독립적이므로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장애가 전파되지 않음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Agent 간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직접 통신하므로 통신 오버헤드가 적음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Availability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Orchestrator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장애 시 시스템 전체 장애 발생함</a:t>
                      </a:r>
                      <a:endParaRPr lang="ko-KR" alt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Orchestrator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거쳐 통신해야 하므로 성능상 병목지점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Controllability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정책이 분산되어 추가 비용 발생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(HITL,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토큰 등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ko-KR" alt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Scalability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Agent 간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결합도가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높고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구성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변경시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호출관계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수정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필요함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8575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Controllability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제어 용이성 ★★★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Scalability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시스템 확장성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ko-KR" alt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Availability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운영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안정성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r>
                        <a:rPr lang="ko-KR" altLang="en-US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 alt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E2E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개발시간 최적화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Controllability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Agent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제어 용이성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Scalability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시스템 확장성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Availability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운영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안정성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★★★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E2E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개발시간 최적화 ★★★</a:t>
                      </a:r>
                      <a:endParaRPr lang="ko-K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67F150F-D48E-45DB-CA7D-863291DD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DP2 Agent</a:t>
            </a:r>
            <a:r>
              <a:rPr kumimoji="1" lang="ko-KR" altLang="en-US" sz="2800" b="1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Hierarchy</a:t>
            </a:r>
            <a:endParaRPr lang="en-US" altLang="ko-KR" sz="2800" b="1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A7D895-693F-A5B1-3773-8324164D383C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B5ECAE1-5760-D555-8195-18DC560B1FFA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2BA2D5-0C9E-EB5A-0F61-1E35857A32C8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3874516-5174-1995-79C4-4B3638E9A36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2B5BD38-81CC-3E65-4142-93B54511B662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EE01A40-1DAB-36C9-2FC0-19620A048DC4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DDB8E8B-120C-CDEA-81B5-8D8AB9410DC3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51" name="Shape 4">
            <a:extLst>
              <a:ext uri="{FF2B5EF4-FFF2-40B4-BE49-F238E27FC236}">
                <a16:creationId xmlns:a16="http://schemas.microsoft.com/office/drawing/2014/main" id="{6E055528-2852-6EDD-D1F4-E62385F91BAD}"/>
              </a:ext>
            </a:extLst>
          </p:cNvPr>
          <p:cNvSpPr/>
          <p:nvPr/>
        </p:nvSpPr>
        <p:spPr>
          <a:xfrm>
            <a:off x="3340287" y="2744958"/>
            <a:ext cx="1141000" cy="4565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Orchestrator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E90F24D1-EA80-C366-278C-64D10A18E9B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8986422" y="2345612"/>
            <a:ext cx="3416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8D0DB880-9FAE-1122-6EB4-B7CE01E03FBC}"/>
              </a:ext>
            </a:extLst>
          </p:cNvPr>
          <p:cNvSpPr/>
          <p:nvPr/>
        </p:nvSpPr>
        <p:spPr>
          <a:xfrm>
            <a:off x="8086422" y="2075612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IR Converter</a:t>
            </a:r>
            <a:endParaRPr lang="ko-KR" altLang="en-US"/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AB51220C-EFDB-FDF3-E5A7-8385D339C694}"/>
              </a:ext>
            </a:extLst>
          </p:cNvPr>
          <p:cNvSpPr/>
          <p:nvPr/>
        </p:nvSpPr>
        <p:spPr>
          <a:xfrm>
            <a:off x="9328036" y="2075612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>
              <a:lnSpc>
                <a:spcPct val="90000"/>
              </a:lnSpc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Graph </a:t>
            </a:r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>
              <a:lnSpc>
                <a:spcPct val="90000"/>
              </a:lnSpc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Optimizer</a:t>
            </a:r>
            <a:endParaRPr 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>
              <a:lnSpc>
                <a:spcPct val="90000"/>
              </a:lnSpc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  <a:endParaRPr lang="ko-KR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02D6A01-7979-956A-77CB-A6255432F8EC}"/>
              </a:ext>
            </a:extLst>
          </p:cNvPr>
          <p:cNvSpPr/>
          <p:nvPr/>
        </p:nvSpPr>
        <p:spPr>
          <a:xfrm>
            <a:off x="10385385" y="2779215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 altLang="en-US"/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6" name="순서도: 대체 처리 15">
            <a:extLst>
              <a:ext uri="{FF2B5EF4-FFF2-40B4-BE49-F238E27FC236}">
                <a16:creationId xmlns:a16="http://schemas.microsoft.com/office/drawing/2014/main" id="{DC657AE6-D3F3-3D51-3DFD-F9B100AC00D4}"/>
              </a:ext>
            </a:extLst>
          </p:cNvPr>
          <p:cNvSpPr/>
          <p:nvPr/>
        </p:nvSpPr>
        <p:spPr>
          <a:xfrm>
            <a:off x="9328036" y="3592359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Compiler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BC921A74-CF07-06DB-6EA7-C79A7CC3D11B}"/>
              </a:ext>
            </a:extLst>
          </p:cNvPr>
          <p:cNvSpPr/>
          <p:nvPr/>
        </p:nvSpPr>
        <p:spPr>
          <a:xfrm>
            <a:off x="8086422" y="358911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tIns="3600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Artifact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B441667-41FA-18C0-5ECC-AD7273944D33}"/>
              </a:ext>
            </a:extLst>
          </p:cNvPr>
          <p:cNvCxnSpPr>
            <a:cxnSpLocks/>
            <a:stCxn id="8" idx="3"/>
            <a:endCxn id="14" idx="0"/>
          </p:cNvCxnSpPr>
          <p:nvPr/>
        </p:nvCxnSpPr>
        <p:spPr>
          <a:xfrm>
            <a:off x="10228036" y="2345612"/>
            <a:ext cx="607349" cy="433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C2E9CD4-C34D-D94B-D89D-1214A9B89F5C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 flipV="1">
            <a:off x="8986422" y="3859111"/>
            <a:ext cx="341614" cy="3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7DDDEC2-B44C-F239-7E13-C126F3073701}"/>
              </a:ext>
            </a:extLst>
          </p:cNvPr>
          <p:cNvCxnSpPr>
            <a:cxnSpLocks/>
            <a:stCxn id="14" idx="2"/>
            <a:endCxn id="16" idx="3"/>
          </p:cNvCxnSpPr>
          <p:nvPr/>
        </p:nvCxnSpPr>
        <p:spPr>
          <a:xfrm flipH="1">
            <a:off x="10228036" y="3319215"/>
            <a:ext cx="607349" cy="543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순서도: 대체 처리 30">
            <a:extLst>
              <a:ext uri="{FF2B5EF4-FFF2-40B4-BE49-F238E27FC236}">
                <a16:creationId xmlns:a16="http://schemas.microsoft.com/office/drawing/2014/main" id="{34251011-17AA-EB63-75A1-C4B0E3F0F6C2}"/>
              </a:ext>
            </a:extLst>
          </p:cNvPr>
          <p:cNvSpPr/>
          <p:nvPr/>
        </p:nvSpPr>
        <p:spPr>
          <a:xfrm>
            <a:off x="3452116" y="1930302"/>
            <a:ext cx="911120" cy="540000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rIns="3600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Workflow </a:t>
            </a:r>
          </a:p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Engine 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순서도: 대체 처리 34">
            <a:extLst>
              <a:ext uri="{FF2B5EF4-FFF2-40B4-BE49-F238E27FC236}">
                <a16:creationId xmlns:a16="http://schemas.microsoft.com/office/drawing/2014/main" id="{3E2636E4-951B-B700-68FA-2F0641A51736}"/>
              </a:ext>
            </a:extLst>
          </p:cNvPr>
          <p:cNvSpPr/>
          <p:nvPr/>
        </p:nvSpPr>
        <p:spPr>
          <a:xfrm>
            <a:off x="1412404" y="3609273"/>
            <a:ext cx="900000" cy="5400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Jira</a:t>
            </a:r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</a:p>
        </p:txBody>
      </p: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CDE3FD2E-09E6-79C6-C50D-E8647ED21198}"/>
              </a:ext>
            </a:extLst>
          </p:cNvPr>
          <p:cNvSpPr/>
          <p:nvPr/>
        </p:nvSpPr>
        <p:spPr>
          <a:xfrm>
            <a:off x="2437820" y="3609273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IR Converter</a:t>
            </a:r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</a:p>
        </p:txBody>
      </p:sp>
      <p:sp>
        <p:nvSpPr>
          <p:cNvPr id="39" name="순서도: 대체 처리 38">
            <a:extLst>
              <a:ext uri="{FF2B5EF4-FFF2-40B4-BE49-F238E27FC236}">
                <a16:creationId xmlns:a16="http://schemas.microsoft.com/office/drawing/2014/main" id="{B22D8AA0-FB0B-BFC7-AF70-A6F02AAC92AC}"/>
              </a:ext>
            </a:extLst>
          </p:cNvPr>
          <p:cNvSpPr/>
          <p:nvPr/>
        </p:nvSpPr>
        <p:spPr>
          <a:xfrm>
            <a:off x="4486203" y="3609273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Verification</a:t>
            </a:r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</a:p>
        </p:txBody>
      </p:sp>
      <p:sp>
        <p:nvSpPr>
          <p:cNvPr id="50" name="순서도: 대체 처리 49">
            <a:extLst>
              <a:ext uri="{FF2B5EF4-FFF2-40B4-BE49-F238E27FC236}">
                <a16:creationId xmlns:a16="http://schemas.microsoft.com/office/drawing/2014/main" id="{A305C80B-56DF-78F4-3291-63589F0A7A71}"/>
              </a:ext>
            </a:extLst>
          </p:cNvPr>
          <p:cNvSpPr/>
          <p:nvPr/>
        </p:nvSpPr>
        <p:spPr>
          <a:xfrm>
            <a:off x="7060211" y="2779215"/>
            <a:ext cx="900000" cy="5400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Jira</a:t>
            </a:r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</a:p>
        </p:txBody>
      </p:sp>
      <p:sp>
        <p:nvSpPr>
          <p:cNvPr id="55" name="순서도: 대체 처리 54">
            <a:extLst>
              <a:ext uri="{FF2B5EF4-FFF2-40B4-BE49-F238E27FC236}">
                <a16:creationId xmlns:a16="http://schemas.microsoft.com/office/drawing/2014/main" id="{FDF4D380-F3BC-39CC-50FA-AB646FDA5F05}"/>
              </a:ext>
            </a:extLst>
          </p:cNvPr>
          <p:cNvSpPr/>
          <p:nvPr/>
        </p:nvSpPr>
        <p:spPr>
          <a:xfrm>
            <a:off x="3463236" y="3604555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...</a:t>
            </a:r>
          </a:p>
        </p:txBody>
      </p:sp>
      <p:sp>
        <p:nvSpPr>
          <p:cNvPr id="61" name="원통형 60">
            <a:extLst>
              <a:ext uri="{FF2B5EF4-FFF2-40B4-BE49-F238E27FC236}">
                <a16:creationId xmlns:a16="http://schemas.microsoft.com/office/drawing/2014/main" id="{E8BC716E-535E-7BD6-34EA-3A9121FB7BF7}"/>
              </a:ext>
            </a:extLst>
          </p:cNvPr>
          <p:cNvSpPr/>
          <p:nvPr/>
        </p:nvSpPr>
        <p:spPr>
          <a:xfrm>
            <a:off x="5560848" y="3613386"/>
            <a:ext cx="678878" cy="544656"/>
          </a:xfrm>
          <a:prstGeom prst="can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/>
                <a:cs typeface="+mn-cs"/>
              </a:rPr>
              <a:t>NFS Storage</a:t>
            </a:r>
            <a:endParaRPr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/>
              <a:cs typeface="Calibri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7C2D45E-BBC6-5126-359A-C1825497EA72}"/>
              </a:ext>
            </a:extLst>
          </p:cNvPr>
          <p:cNvCxnSpPr>
            <a:cxnSpLocks/>
            <a:stCxn id="51" idx="2"/>
            <a:endCxn id="35" idx="0"/>
          </p:cNvCxnSpPr>
          <p:nvPr/>
        </p:nvCxnSpPr>
        <p:spPr>
          <a:xfrm flipH="1">
            <a:off x="1862404" y="3201516"/>
            <a:ext cx="2048383" cy="407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C91F7AA8-363E-381B-BD19-681DC349E641}"/>
              </a:ext>
            </a:extLst>
          </p:cNvPr>
          <p:cNvCxnSpPr>
            <a:cxnSpLocks/>
            <a:stCxn id="51" idx="2"/>
            <a:endCxn id="37" idx="0"/>
          </p:cNvCxnSpPr>
          <p:nvPr/>
        </p:nvCxnSpPr>
        <p:spPr>
          <a:xfrm flipH="1">
            <a:off x="2887820" y="3201516"/>
            <a:ext cx="1022967" cy="407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B9D9B37E-ECB8-F55E-1689-B85C00C7FE8B}"/>
              </a:ext>
            </a:extLst>
          </p:cNvPr>
          <p:cNvCxnSpPr>
            <a:cxnSpLocks/>
            <a:stCxn id="51" idx="2"/>
            <a:endCxn id="61" idx="1"/>
          </p:cNvCxnSpPr>
          <p:nvPr/>
        </p:nvCxnSpPr>
        <p:spPr>
          <a:xfrm>
            <a:off x="3910787" y="3201516"/>
            <a:ext cx="1989500" cy="4118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B99ED21-FEA7-BA6D-43C6-38B8B2F51531}"/>
              </a:ext>
            </a:extLst>
          </p:cNvPr>
          <p:cNvCxnSpPr>
            <a:cxnSpLocks/>
            <a:stCxn id="51" idx="2"/>
            <a:endCxn id="39" idx="0"/>
          </p:cNvCxnSpPr>
          <p:nvPr/>
        </p:nvCxnSpPr>
        <p:spPr>
          <a:xfrm>
            <a:off x="3910787" y="3201516"/>
            <a:ext cx="1025416" cy="4077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A76C0524-3F4E-FD46-5A76-EC9206B4FC80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3910787" y="3201516"/>
            <a:ext cx="2449" cy="4030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56E73B7F-7140-633A-BDCD-66392D52EAC0}"/>
              </a:ext>
            </a:extLst>
          </p:cNvPr>
          <p:cNvCxnSpPr>
            <a:stCxn id="31" idx="2"/>
            <a:endCxn id="51" idx="0"/>
          </p:cNvCxnSpPr>
          <p:nvPr/>
        </p:nvCxnSpPr>
        <p:spPr>
          <a:xfrm>
            <a:off x="3907676" y="2470302"/>
            <a:ext cx="3111" cy="2746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86953B59-D385-AF5D-16F0-92CBF858A8EA}"/>
              </a:ext>
            </a:extLst>
          </p:cNvPr>
          <p:cNvCxnSpPr>
            <a:stCxn id="50" idx="0"/>
            <a:endCxn id="6" idx="1"/>
          </p:cNvCxnSpPr>
          <p:nvPr/>
        </p:nvCxnSpPr>
        <p:spPr>
          <a:xfrm flipV="1">
            <a:off x="7510211" y="2345612"/>
            <a:ext cx="576211" cy="4336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91789714-848D-566A-2129-B373A360387C}"/>
              </a:ext>
            </a:extLst>
          </p:cNvPr>
          <p:cNvCxnSpPr>
            <a:stCxn id="8" idx="2"/>
            <a:endCxn id="50" idx="3"/>
          </p:cNvCxnSpPr>
          <p:nvPr/>
        </p:nvCxnSpPr>
        <p:spPr>
          <a:xfrm flipH="1">
            <a:off x="7960211" y="2615612"/>
            <a:ext cx="1817825" cy="4336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B9774864-67FC-DCA6-EF1E-2A724AC3DBF2}"/>
              </a:ext>
            </a:extLst>
          </p:cNvPr>
          <p:cNvCxnSpPr>
            <a:stCxn id="14" idx="1"/>
            <a:endCxn id="50" idx="3"/>
          </p:cNvCxnSpPr>
          <p:nvPr/>
        </p:nvCxnSpPr>
        <p:spPr>
          <a:xfrm flipH="1">
            <a:off x="7960211" y="3049215"/>
            <a:ext cx="24251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CCE2585-E886-7710-A0B0-F02E2ED8379F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7960211" y="3049215"/>
            <a:ext cx="1817825" cy="5431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414DCC4F-2426-A936-22F5-A4C834CB24A8}"/>
              </a:ext>
            </a:extLst>
          </p:cNvPr>
          <p:cNvCxnSpPr>
            <a:stCxn id="18" idx="1"/>
            <a:endCxn id="50" idx="2"/>
          </p:cNvCxnSpPr>
          <p:nvPr/>
        </p:nvCxnSpPr>
        <p:spPr>
          <a:xfrm flipH="1" flipV="1">
            <a:off x="7510211" y="3319215"/>
            <a:ext cx="576211" cy="5398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3764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36EC-A271-79C8-4094-24AF53BA3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EB98C79-BF70-673B-F5A8-F882AE99C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630269"/>
              </p:ext>
            </p:extLst>
          </p:nvPr>
        </p:nvGraphicFramePr>
        <p:xfrm>
          <a:off x="482983" y="1363736"/>
          <a:ext cx="11352509" cy="5213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2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3410563">
                  <a:extLst>
                    <a:ext uri="{9D8B030D-6E8A-4147-A177-3AD203B41FA5}">
                      <a16:colId xmlns:a16="http://schemas.microsoft.com/office/drawing/2014/main" val="2871583236"/>
                    </a:ext>
                  </a:extLst>
                </a:gridCol>
                <a:gridCol w="3853016">
                  <a:extLst>
                    <a:ext uri="{9D8B030D-6E8A-4147-A177-3AD203B41FA5}">
                      <a16:colId xmlns:a16="http://schemas.microsoft.com/office/drawing/2014/main" val="4037862993"/>
                    </a:ext>
                  </a:extLst>
                </a:gridCol>
                <a:gridCol w="3332205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406261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1안- </a:t>
                      </a:r>
                      <a:r>
                        <a:rPr lang="ko-KR" altLang="en-US" sz="18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사전</a:t>
                      </a: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권한</a:t>
                      </a: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체크</a:t>
                      </a: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/>
                          <a:cs typeface="Calibri"/>
                        </a:rPr>
                        <a:t>&lt; 2</a:t>
                      </a:r>
                      <a:r>
                        <a:rPr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Calibri"/>
                        </a:rPr>
                        <a:t>안</a:t>
                      </a: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/>
                          <a:cs typeface="Calibri"/>
                        </a:rPr>
                        <a:t>-</a:t>
                      </a:r>
                      <a:r>
                        <a:rPr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Calibri"/>
                        </a:rPr>
                        <a:t> 격리 환경 수행</a:t>
                      </a: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/>
                          <a:cs typeface="Calibri"/>
                        </a:rPr>
                        <a:t> &gt;</a:t>
                      </a:r>
                      <a:endParaRPr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Calibri"/>
                        <a:cs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</a:t>
                      </a:r>
                      <a:r>
                        <a:rPr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안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실시간 모니터링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26591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[Controllability] </a:t>
                      </a:r>
                      <a:r>
                        <a:rPr lang="ko-KR" altLang="en-US" sz="1200" b="0" i="0" u="none" strike="noStrike" kern="1200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허용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범위의 직접 제어 보장</a:t>
                      </a:r>
                      <a:endParaRPr lang="en-US" altLang="ko-KR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토큰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미소모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저오버헤드</a:t>
                      </a: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외부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직접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접근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차단의 구조적 보장</a:t>
                      </a:r>
                      <a:endParaRPr lang="en-US" altLang="ko-KR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격리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자체는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토큰과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무관</a:t>
                      </a:r>
                      <a:endParaRPr lang="ko-KR" altLang="en-US" sz="1200" b="0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[Observability]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실행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과정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판단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근거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추적</a:t>
                      </a:r>
                      <a:endParaRPr lang="en-US" altLang="ko-KR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빠른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탐지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복구로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MTTR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단축</a:t>
                      </a:r>
                      <a:endParaRPr lang="ko-KR" altLang="en-US" sz="1200" b="0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미정의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액션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우회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경로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차단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정상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작업도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브로커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경유</a:t>
                      </a:r>
                      <a:endParaRPr lang="en-US" altLang="ko-KR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[Scalability]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격리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환경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수백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동시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→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자원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점유</a:t>
                      </a:r>
                      <a:endParaRPr lang="ko-KR" altLang="en-US" sz="1200" b="0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사후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탐지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—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예방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보장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불가</a:t>
                      </a: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</a:t>
                      </a:r>
                      <a:r>
                        <a:rPr 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LLM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기반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탐지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토큰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폭증</a:t>
                      </a:r>
                      <a:endParaRPr lang="en-US" sz="1200" b="0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857585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 ★★☆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 ★★★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★★★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[Controllability] ★★★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 ★★★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 ★★☆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★★★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[Controllability] ★★☆ </a:t>
                      </a:r>
                      <a:endParaRPr lang="ko-KR" altLang="en-US" sz="1200" b="1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[Availability] ★☆☆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 ★★☆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[Efficiency] ★☆☆ 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[Controllability] ★★★ </a:t>
                      </a:r>
                      <a:endParaRPr lang="ko-KR" altLang="en-US" sz="1200" b="1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EFB75EFD-4992-BCBF-8848-1CAADBE4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sz="2800" b="1">
                <a:solidFill>
                  <a:prstClr val="black"/>
                </a:solidFill>
                <a:latin typeface="Malgun Gothic"/>
                <a:ea typeface="Malgun Gothic"/>
              </a:rPr>
              <a:t>DP3 Agent</a:t>
            </a:r>
            <a:r>
              <a:rPr kumimoji="1" lang="en-US" altLang="ko-KR" sz="2800" b="1">
                <a:solidFill>
                  <a:prstClr val="black"/>
                </a:solidFill>
                <a:latin typeface="Malgun Gothic"/>
                <a:ea typeface="Malgun Gothic"/>
              </a:rPr>
              <a:t> </a:t>
            </a:r>
            <a:r>
              <a:rPr kumimoji="1" lang="ko-KR" altLang="en-US" sz="2800" b="1">
                <a:solidFill>
                  <a:prstClr val="black"/>
                </a:solidFill>
                <a:latin typeface="Malgun Gothic"/>
                <a:ea typeface="Malgun Gothic"/>
              </a:rPr>
              <a:t>외부 시스템 안정성 보장</a:t>
            </a:r>
            <a:endParaRPr kumimoji="1" lang="en-US" sz="2800">
              <a:solidFill>
                <a:prstClr val="black"/>
              </a:solidFill>
              <a:latin typeface="Malgun Gothic"/>
              <a:ea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419ECB-4807-180B-3936-B70D2DFEDEFC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E8F006-16E5-DD82-3BCD-CF8F000F39D5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A7801EA-CBE7-015D-6912-D8C5A626AB9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460D8C-398E-99BA-2EB5-040FC742280C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FEA64F1-41A5-8509-AEAE-378E6DF40DCA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DE12496-DD1F-E31B-C847-F94D9E561155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6C184E7-F7B9-1A7C-896E-A9E5B9050055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pSp>
        <p:nvGrpSpPr>
          <p:cNvPr id="192" name="Group 46">
            <a:extLst>
              <a:ext uri="{FF2B5EF4-FFF2-40B4-BE49-F238E27FC236}">
                <a16:creationId xmlns:a16="http://schemas.microsoft.com/office/drawing/2014/main" id="{43F02E98-98C1-382A-4164-1C8A0135FBB9}"/>
              </a:ext>
            </a:extLst>
          </p:cNvPr>
          <p:cNvGrpSpPr/>
          <p:nvPr/>
        </p:nvGrpSpPr>
        <p:grpSpPr>
          <a:xfrm>
            <a:off x="5326380" y="2010402"/>
            <a:ext cx="2286000" cy="2194560"/>
            <a:chOff x="5326380" y="1408176"/>
            <a:chExt cx="2286000" cy="2194560"/>
          </a:xfrm>
        </p:grpSpPr>
        <p:sp>
          <p:nvSpPr>
            <p:cNvPr id="193" name="Shape 22">
              <a:extLst>
                <a:ext uri="{FF2B5EF4-FFF2-40B4-BE49-F238E27FC236}">
                  <a16:creationId xmlns:a16="http://schemas.microsoft.com/office/drawing/2014/main" id="{C92BA1CC-4E84-CB48-944C-4F0B99DF61A1}"/>
                </a:ext>
              </a:extLst>
            </p:cNvPr>
            <p:cNvSpPr/>
            <p:nvPr/>
          </p:nvSpPr>
          <p:spPr>
            <a:xfrm>
              <a:off x="5326380" y="1408176"/>
              <a:ext cx="2286000" cy="676656"/>
            </a:xfrm>
            <a:prstGeom prst="roundRect">
              <a:avLst>
                <a:gd name="adj" fmla="val 8108"/>
              </a:avLst>
            </a:prstGeom>
            <a:solidFill>
              <a:srgbClr val="F2F0F8"/>
            </a:solidFill>
            <a:ln w="15875">
              <a:solidFill>
                <a:srgbClr val="7A6FB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Text 23">
              <a:extLst>
                <a:ext uri="{FF2B5EF4-FFF2-40B4-BE49-F238E27FC236}">
                  <a16:creationId xmlns:a16="http://schemas.microsoft.com/office/drawing/2014/main" id="{6B80D04A-2953-9768-98A0-B1B114C678F9}"/>
                </a:ext>
              </a:extLst>
            </p:cNvPr>
            <p:cNvSpPr/>
            <p:nvPr/>
          </p:nvSpPr>
          <p:spPr>
            <a:xfrm>
              <a:off x="5326380" y="1426464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b="1" err="1">
                  <a:solidFill>
                    <a:srgbClr val="7A6FB0"/>
                  </a:solidFill>
                  <a:latin typeface="맑은 고딕"/>
                  <a:ea typeface="맑은 고딕"/>
                  <a:cs typeface="맑은 고딕" pitchFamily="34" charset="-120"/>
                </a:rPr>
                <a:t>격리</a:t>
              </a:r>
              <a:r>
                <a:rPr lang="en-US" sz="1200" b="1">
                  <a:solidFill>
                    <a:srgbClr val="7A6FB0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7A6FB0"/>
                  </a:solidFill>
                  <a:latin typeface="맑은 고딕"/>
                  <a:ea typeface="맑은 고딕"/>
                  <a:cs typeface="맑은 고딕" pitchFamily="34" charset="-120"/>
                </a:rPr>
                <a:t>경계</a:t>
              </a:r>
              <a:endParaRPr lang="en-US" sz="1200" b="1">
                <a:latin typeface="맑은 고딕"/>
                <a:ea typeface="맑은 고딕"/>
              </a:endParaRPr>
            </a:p>
          </p:txBody>
        </p:sp>
        <p:sp>
          <p:nvSpPr>
            <p:cNvPr id="195" name="Shape 24">
              <a:extLst>
                <a:ext uri="{FF2B5EF4-FFF2-40B4-BE49-F238E27FC236}">
                  <a16:creationId xmlns:a16="http://schemas.microsoft.com/office/drawing/2014/main" id="{E267D582-E7FC-C624-124B-544856D8CD2C}"/>
                </a:ext>
              </a:extLst>
            </p:cNvPr>
            <p:cNvSpPr/>
            <p:nvPr/>
          </p:nvSpPr>
          <p:spPr>
            <a:xfrm>
              <a:off x="5509260" y="1609344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DBD7EC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Text 25">
              <a:extLst>
                <a:ext uri="{FF2B5EF4-FFF2-40B4-BE49-F238E27FC236}">
                  <a16:creationId xmlns:a16="http://schemas.microsoft.com/office/drawing/2014/main" id="{5B4575FE-9134-B6A8-60E3-7F7088902C08}"/>
                </a:ext>
              </a:extLst>
            </p:cNvPr>
            <p:cNvSpPr/>
            <p:nvPr/>
          </p:nvSpPr>
          <p:spPr>
            <a:xfrm>
              <a:off x="5509260" y="1609344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Agent</a:t>
              </a:r>
              <a:endParaRPr lang="en-US" sz="1200">
                <a:latin typeface="맑은 고딕"/>
                <a:ea typeface="맑은 고딕"/>
              </a:endParaRPr>
            </a:p>
          </p:txBody>
        </p:sp>
        <p:sp>
          <p:nvSpPr>
            <p:cNvPr id="197" name="Shape 26">
              <a:extLst>
                <a:ext uri="{FF2B5EF4-FFF2-40B4-BE49-F238E27FC236}">
                  <a16:creationId xmlns:a16="http://schemas.microsoft.com/office/drawing/2014/main" id="{59E8AC1B-B350-58F0-3EE6-90126B352468}"/>
                </a:ext>
              </a:extLst>
            </p:cNvPr>
            <p:cNvSpPr/>
            <p:nvPr/>
          </p:nvSpPr>
          <p:spPr>
            <a:xfrm>
              <a:off x="6469380" y="2121408"/>
              <a:ext cx="0" cy="274320"/>
            </a:xfrm>
            <a:prstGeom prst="line">
              <a:avLst/>
            </a:prstGeom>
            <a:noFill/>
            <a:ln w="19050">
              <a:solidFill>
                <a:srgbClr val="6666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Shape 27">
              <a:extLst>
                <a:ext uri="{FF2B5EF4-FFF2-40B4-BE49-F238E27FC236}">
                  <a16:creationId xmlns:a16="http://schemas.microsoft.com/office/drawing/2014/main" id="{AB6DED92-AF95-181D-3D1C-B92E18047B19}"/>
                </a:ext>
              </a:extLst>
            </p:cNvPr>
            <p:cNvSpPr/>
            <p:nvPr/>
          </p:nvSpPr>
          <p:spPr>
            <a:xfrm>
              <a:off x="5509260" y="2395728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Text 28">
              <a:extLst>
                <a:ext uri="{FF2B5EF4-FFF2-40B4-BE49-F238E27FC236}">
                  <a16:creationId xmlns:a16="http://schemas.microsoft.com/office/drawing/2014/main" id="{060735B3-1E8A-B36C-0DED-1B28E22118DA}"/>
                </a:ext>
              </a:extLst>
            </p:cNvPr>
            <p:cNvSpPr/>
            <p:nvPr/>
          </p:nvSpPr>
          <p:spPr>
            <a:xfrm>
              <a:off x="5509260" y="239572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브로커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/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프록시</a:t>
              </a:r>
              <a:endParaRPr lang="en-US" sz="1200" err="1">
                <a:latin typeface="맑은 고딕"/>
                <a:ea typeface="맑은 고딕"/>
              </a:endParaRPr>
            </a:p>
          </p:txBody>
        </p:sp>
        <p:sp>
          <p:nvSpPr>
            <p:cNvPr id="200" name="Shape 29">
              <a:extLst>
                <a:ext uri="{FF2B5EF4-FFF2-40B4-BE49-F238E27FC236}">
                  <a16:creationId xmlns:a16="http://schemas.microsoft.com/office/drawing/2014/main" id="{580EAF47-4EAB-E1C9-4931-6F41A077CA00}"/>
                </a:ext>
              </a:extLst>
            </p:cNvPr>
            <p:cNvSpPr/>
            <p:nvPr/>
          </p:nvSpPr>
          <p:spPr>
            <a:xfrm>
              <a:off x="6469380" y="2852928"/>
              <a:ext cx="0" cy="256032"/>
            </a:xfrm>
            <a:prstGeom prst="line">
              <a:avLst/>
            </a:prstGeom>
            <a:noFill/>
            <a:ln w="19050">
              <a:solidFill>
                <a:srgbClr val="6666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Shape 30">
              <a:extLst>
                <a:ext uri="{FF2B5EF4-FFF2-40B4-BE49-F238E27FC236}">
                  <a16:creationId xmlns:a16="http://schemas.microsoft.com/office/drawing/2014/main" id="{528F78BA-A4EA-F15F-D898-4EC6BA58AC8E}"/>
                </a:ext>
              </a:extLst>
            </p:cNvPr>
            <p:cNvSpPr/>
            <p:nvPr/>
          </p:nvSpPr>
          <p:spPr>
            <a:xfrm>
              <a:off x="5509260" y="3108960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Text 31">
              <a:extLst>
                <a:ext uri="{FF2B5EF4-FFF2-40B4-BE49-F238E27FC236}">
                  <a16:creationId xmlns:a16="http://schemas.microsoft.com/office/drawing/2014/main" id="{8E12AB01-A0E3-E1D6-437F-4372654FCAAC}"/>
                </a:ext>
              </a:extLst>
            </p:cNvPr>
            <p:cNvSpPr/>
            <p:nvPr/>
          </p:nvSpPr>
          <p:spPr>
            <a:xfrm>
              <a:off x="5509260" y="310896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외부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시스템</a:t>
              </a:r>
              <a:endParaRPr lang="en-US" sz="1200" err="1">
                <a:latin typeface="맑은 고딕"/>
                <a:ea typeface="맑은 고딕"/>
              </a:endParaRPr>
            </a:p>
          </p:txBody>
        </p:sp>
        <p:sp>
          <p:nvSpPr>
            <p:cNvPr id="203" name="Text 32">
              <a:extLst>
                <a:ext uri="{FF2B5EF4-FFF2-40B4-BE49-F238E27FC236}">
                  <a16:creationId xmlns:a16="http://schemas.microsoft.com/office/drawing/2014/main" id="{8E95687D-3ABC-87F6-1977-5DAAA99DA7A8}"/>
                </a:ext>
              </a:extLst>
            </p:cNvPr>
            <p:cNvSpPr/>
            <p:nvPr/>
          </p:nvSpPr>
          <p:spPr>
            <a:xfrm>
              <a:off x="5326380" y="3145536"/>
              <a:ext cx="914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000" b="1" err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직접</a:t>
              </a:r>
              <a:r>
                <a:rPr lang="en-US" sz="1000" b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000" b="1" err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경로</a:t>
              </a:r>
              <a:r>
                <a:rPr lang="en-US" sz="1000" b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 ✕</a:t>
              </a:r>
              <a:endParaRPr lang="en-US" sz="1000">
                <a:latin typeface="맑은 고딕"/>
                <a:ea typeface="맑은 고딕"/>
              </a:endParaRPr>
            </a:p>
          </p:txBody>
        </p:sp>
      </p:grpSp>
      <p:grpSp>
        <p:nvGrpSpPr>
          <p:cNvPr id="205" name="Group 13">
            <a:extLst>
              <a:ext uri="{FF2B5EF4-FFF2-40B4-BE49-F238E27FC236}">
                <a16:creationId xmlns:a16="http://schemas.microsoft.com/office/drawing/2014/main" id="{A41F1500-9CFD-F79E-7D0E-36CE231B5827}"/>
              </a:ext>
            </a:extLst>
          </p:cNvPr>
          <p:cNvGrpSpPr/>
          <p:nvPr/>
        </p:nvGrpSpPr>
        <p:grpSpPr>
          <a:xfrm>
            <a:off x="1810856" y="2126717"/>
            <a:ext cx="2743200" cy="1956816"/>
            <a:chOff x="1958340" y="1463040"/>
            <a:chExt cx="2743200" cy="1956816"/>
          </a:xfrm>
        </p:grpSpPr>
        <p:sp>
          <p:nvSpPr>
            <p:cNvPr id="206" name="Shape 12">
              <a:extLst>
                <a:ext uri="{FF2B5EF4-FFF2-40B4-BE49-F238E27FC236}">
                  <a16:creationId xmlns:a16="http://schemas.microsoft.com/office/drawing/2014/main" id="{41948016-12D6-4304-3613-9097BD3C0FC2}"/>
                </a:ext>
              </a:extLst>
            </p:cNvPr>
            <p:cNvSpPr/>
            <p:nvPr/>
          </p:nvSpPr>
          <p:spPr>
            <a:xfrm>
              <a:off x="1958340" y="1463040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Text 13">
              <a:extLst>
                <a:ext uri="{FF2B5EF4-FFF2-40B4-BE49-F238E27FC236}">
                  <a16:creationId xmlns:a16="http://schemas.microsoft.com/office/drawing/2014/main" id="{65A20DEB-D8C6-924E-4134-4C57CB06F43E}"/>
                </a:ext>
              </a:extLst>
            </p:cNvPr>
            <p:cNvSpPr/>
            <p:nvPr/>
          </p:nvSpPr>
          <p:spPr>
            <a:xfrm>
              <a:off x="1958340" y="146304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Agent</a:t>
              </a:r>
              <a:endParaRPr lang="en-US" sz="1200">
                <a:latin typeface="맑은 고딕"/>
                <a:ea typeface="맑은 고딕"/>
              </a:endParaRPr>
            </a:p>
          </p:txBody>
        </p:sp>
        <p:sp>
          <p:nvSpPr>
            <p:cNvPr id="208" name="Shape 14">
              <a:extLst>
                <a:ext uri="{FF2B5EF4-FFF2-40B4-BE49-F238E27FC236}">
                  <a16:creationId xmlns:a16="http://schemas.microsoft.com/office/drawing/2014/main" id="{0878413F-9341-6109-39F1-CA7A0F4AA0DF}"/>
                </a:ext>
              </a:extLst>
            </p:cNvPr>
            <p:cNvSpPr/>
            <p:nvPr/>
          </p:nvSpPr>
          <p:spPr>
            <a:xfrm>
              <a:off x="2918460" y="1920240"/>
              <a:ext cx="0" cy="292608"/>
            </a:xfrm>
            <a:prstGeom prst="line">
              <a:avLst/>
            </a:prstGeom>
            <a:noFill/>
            <a:ln w="19050">
              <a:solidFill>
                <a:srgbClr val="6666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Shape 15">
              <a:extLst>
                <a:ext uri="{FF2B5EF4-FFF2-40B4-BE49-F238E27FC236}">
                  <a16:creationId xmlns:a16="http://schemas.microsoft.com/office/drawing/2014/main" id="{5128A709-4629-2612-D359-79CDB648F859}"/>
                </a:ext>
              </a:extLst>
            </p:cNvPr>
            <p:cNvSpPr/>
            <p:nvPr/>
          </p:nvSpPr>
          <p:spPr>
            <a:xfrm>
              <a:off x="1958340" y="2212848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DBD7EC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Text 16">
              <a:extLst>
                <a:ext uri="{FF2B5EF4-FFF2-40B4-BE49-F238E27FC236}">
                  <a16:creationId xmlns:a16="http://schemas.microsoft.com/office/drawing/2014/main" id="{D73B77E9-EC2F-A7B1-8CBC-EC539B615CAD}"/>
                </a:ext>
              </a:extLst>
            </p:cNvPr>
            <p:cNvSpPr/>
            <p:nvPr/>
          </p:nvSpPr>
          <p:spPr>
            <a:xfrm>
              <a:off x="1958340" y="221284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권한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체크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게이트</a:t>
              </a:r>
              <a:endParaRPr lang="en-US" sz="1200">
                <a:latin typeface="맑은 고딕"/>
                <a:ea typeface="맑은 고딕"/>
              </a:endParaRPr>
            </a:p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(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정책·allowlist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)</a:t>
              </a:r>
              <a:endParaRPr lang="en-US" sz="1200">
                <a:latin typeface="맑은 고딕"/>
                <a:ea typeface="맑은 고딕"/>
              </a:endParaRPr>
            </a:p>
          </p:txBody>
        </p:sp>
        <p:sp>
          <p:nvSpPr>
            <p:cNvPr id="211" name="Text 17">
              <a:extLst>
                <a:ext uri="{FF2B5EF4-FFF2-40B4-BE49-F238E27FC236}">
                  <a16:creationId xmlns:a16="http://schemas.microsoft.com/office/drawing/2014/main" id="{1018AEDC-2124-0AE0-2066-B720579E7417}"/>
                </a:ext>
              </a:extLst>
            </p:cNvPr>
            <p:cNvSpPr/>
            <p:nvPr/>
          </p:nvSpPr>
          <p:spPr>
            <a:xfrm>
              <a:off x="3832860" y="2231136"/>
              <a:ext cx="868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b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✕ </a:t>
              </a:r>
              <a:r>
                <a:rPr lang="en-US" sz="1200" b="1" err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거부</a:t>
              </a:r>
              <a:endParaRPr lang="en-US" sz="1200" err="1">
                <a:latin typeface="맑은 고딕"/>
                <a:ea typeface="맑은 고딕"/>
              </a:endParaRPr>
            </a:p>
          </p:txBody>
        </p:sp>
        <p:sp>
          <p:nvSpPr>
            <p:cNvPr id="212" name="Shape 18">
              <a:extLst>
                <a:ext uri="{FF2B5EF4-FFF2-40B4-BE49-F238E27FC236}">
                  <a16:creationId xmlns:a16="http://schemas.microsoft.com/office/drawing/2014/main" id="{24E96C82-0190-75B4-4084-CE921F3D0819}"/>
                </a:ext>
              </a:extLst>
            </p:cNvPr>
            <p:cNvSpPr/>
            <p:nvPr/>
          </p:nvSpPr>
          <p:spPr>
            <a:xfrm>
              <a:off x="2918460" y="2670048"/>
              <a:ext cx="0" cy="292608"/>
            </a:xfrm>
            <a:prstGeom prst="line">
              <a:avLst/>
            </a:prstGeom>
            <a:noFill/>
            <a:ln w="19050">
              <a:solidFill>
                <a:srgbClr val="6666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Text 19">
              <a:extLst>
                <a:ext uri="{FF2B5EF4-FFF2-40B4-BE49-F238E27FC236}">
                  <a16:creationId xmlns:a16="http://schemas.microsoft.com/office/drawing/2014/main" id="{5EDE93BF-FD1C-6044-FCC1-C686D1A4AEA2}"/>
                </a:ext>
              </a:extLst>
            </p:cNvPr>
            <p:cNvSpPr/>
            <p:nvPr/>
          </p:nvSpPr>
          <p:spPr>
            <a:xfrm>
              <a:off x="2973324" y="268833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err="1">
                  <a:solidFill>
                    <a:srgbClr val="2E7D32"/>
                  </a:solidFill>
                  <a:latin typeface="맑은 고딕"/>
                  <a:ea typeface="맑은 고딕"/>
                  <a:cs typeface="맑은 고딕" pitchFamily="34" charset="-120"/>
                </a:rPr>
                <a:t>허용만</a:t>
              </a:r>
              <a:endParaRPr lang="en-US" sz="1200" err="1">
                <a:latin typeface="맑은 고딕"/>
                <a:ea typeface="맑은 고딕"/>
              </a:endParaRPr>
            </a:p>
          </p:txBody>
        </p:sp>
        <p:sp>
          <p:nvSpPr>
            <p:cNvPr id="214" name="Shape 20">
              <a:extLst>
                <a:ext uri="{FF2B5EF4-FFF2-40B4-BE49-F238E27FC236}">
                  <a16:creationId xmlns:a16="http://schemas.microsoft.com/office/drawing/2014/main" id="{142227E7-96AA-8E09-C538-5FA5BA61B562}"/>
                </a:ext>
              </a:extLst>
            </p:cNvPr>
            <p:cNvSpPr/>
            <p:nvPr/>
          </p:nvSpPr>
          <p:spPr>
            <a:xfrm>
              <a:off x="1958340" y="2962656"/>
              <a:ext cx="192024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Text 21">
              <a:extLst>
                <a:ext uri="{FF2B5EF4-FFF2-40B4-BE49-F238E27FC236}">
                  <a16:creationId xmlns:a16="http://schemas.microsoft.com/office/drawing/2014/main" id="{AED73CFA-A6C4-0361-BD62-49375625AFE0}"/>
                </a:ext>
              </a:extLst>
            </p:cNvPr>
            <p:cNvSpPr/>
            <p:nvPr/>
          </p:nvSpPr>
          <p:spPr>
            <a:xfrm>
              <a:off x="1958340" y="2962656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외부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시스템</a:t>
              </a:r>
              <a:endParaRPr lang="en-US" sz="1200" err="1">
                <a:latin typeface="맑은 고딕"/>
                <a:ea typeface="맑은 고딕"/>
              </a:endParaRPr>
            </a:p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Jira ·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빌드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· Workflow</a:t>
              </a:r>
              <a:endParaRPr lang="en-US" sz="1200">
                <a:latin typeface="맑은 고딕"/>
                <a:ea typeface="맑은 고딕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19ABC993-7848-3374-DBDB-BB07B4A81422}"/>
              </a:ext>
            </a:extLst>
          </p:cNvPr>
          <p:cNvGrpSpPr/>
          <p:nvPr/>
        </p:nvGrpSpPr>
        <p:grpSpPr>
          <a:xfrm>
            <a:off x="8709021" y="2418244"/>
            <a:ext cx="3368679" cy="1371600"/>
            <a:chOff x="8709021" y="2418244"/>
            <a:chExt cx="3368679" cy="1371600"/>
          </a:xfrm>
        </p:grpSpPr>
        <p:sp>
          <p:nvSpPr>
            <p:cNvPr id="181" name="Shape 33">
              <a:extLst>
                <a:ext uri="{FF2B5EF4-FFF2-40B4-BE49-F238E27FC236}">
                  <a16:creationId xmlns:a16="http://schemas.microsoft.com/office/drawing/2014/main" id="{58E972EC-4FEE-76B8-FDE1-4DA0ED2824A7}"/>
                </a:ext>
              </a:extLst>
            </p:cNvPr>
            <p:cNvSpPr/>
            <p:nvPr/>
          </p:nvSpPr>
          <p:spPr>
            <a:xfrm>
              <a:off x="8709021" y="2418244"/>
              <a:ext cx="141732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Text 34">
              <a:extLst>
                <a:ext uri="{FF2B5EF4-FFF2-40B4-BE49-F238E27FC236}">
                  <a16:creationId xmlns:a16="http://schemas.microsoft.com/office/drawing/2014/main" id="{5941030D-9525-1A61-2BFD-8C9BFD8245A8}"/>
                </a:ext>
              </a:extLst>
            </p:cNvPr>
            <p:cNvSpPr/>
            <p:nvPr/>
          </p:nvSpPr>
          <p:spPr>
            <a:xfrm>
              <a:off x="8758182" y="2418244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Agent</a:t>
              </a:r>
              <a:endParaRPr lang="en-US" sz="1200">
                <a:latin typeface="맑은 고딕"/>
                <a:ea typeface="맑은 고딕"/>
              </a:endParaRPr>
            </a:p>
          </p:txBody>
        </p:sp>
        <p:sp>
          <p:nvSpPr>
            <p:cNvPr id="183" name="Shape 35">
              <a:extLst>
                <a:ext uri="{FF2B5EF4-FFF2-40B4-BE49-F238E27FC236}">
                  <a16:creationId xmlns:a16="http://schemas.microsoft.com/office/drawing/2014/main" id="{D72BFEA3-E037-56A1-8C1E-A2598E031F55}"/>
                </a:ext>
              </a:extLst>
            </p:cNvPr>
            <p:cNvSpPr/>
            <p:nvPr/>
          </p:nvSpPr>
          <p:spPr>
            <a:xfrm>
              <a:off x="10290933" y="2418244"/>
              <a:ext cx="1417320" cy="4572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Text 36">
              <a:extLst>
                <a:ext uri="{FF2B5EF4-FFF2-40B4-BE49-F238E27FC236}">
                  <a16:creationId xmlns:a16="http://schemas.microsoft.com/office/drawing/2014/main" id="{660A14D0-F678-09E0-AA36-97A5953BA083}"/>
                </a:ext>
              </a:extLst>
            </p:cNvPr>
            <p:cNvSpPr/>
            <p:nvPr/>
          </p:nvSpPr>
          <p:spPr>
            <a:xfrm>
              <a:off x="10364675" y="2442825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b="1">
                  <a:solidFill>
                    <a:srgbClr val="1F3864"/>
                  </a:solidFill>
                  <a:latin typeface="맑은 고딕"/>
                  <a:ea typeface="맑은 고딕"/>
                </a:rPr>
                <a:t>외부 시스템</a:t>
              </a:r>
              <a:endParaRPr lang="en-US" sz="1200">
                <a:ea typeface="맑은 고딕"/>
              </a:endParaRPr>
            </a:p>
          </p:txBody>
        </p:sp>
        <p:sp>
          <p:nvSpPr>
            <p:cNvPr id="185" name="Shape 37">
              <a:extLst>
                <a:ext uri="{FF2B5EF4-FFF2-40B4-BE49-F238E27FC236}">
                  <a16:creationId xmlns:a16="http://schemas.microsoft.com/office/drawing/2014/main" id="{F5BBD356-91EC-354E-A8CA-64BB4F7488D6}"/>
                </a:ext>
              </a:extLst>
            </p:cNvPr>
            <p:cNvSpPr/>
            <p:nvPr/>
          </p:nvSpPr>
          <p:spPr>
            <a:xfrm>
              <a:off x="10130913" y="2646844"/>
              <a:ext cx="164592" cy="0"/>
            </a:xfrm>
            <a:prstGeom prst="line">
              <a:avLst/>
            </a:prstGeom>
            <a:noFill/>
            <a:ln w="19050">
              <a:solidFill>
                <a:srgbClr val="666666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Shape 38">
              <a:extLst>
                <a:ext uri="{FF2B5EF4-FFF2-40B4-BE49-F238E27FC236}">
                  <a16:creationId xmlns:a16="http://schemas.microsoft.com/office/drawing/2014/main" id="{EA1B7831-4B3D-DB8B-9D9D-6EAA6280A676}"/>
                </a:ext>
              </a:extLst>
            </p:cNvPr>
            <p:cNvSpPr/>
            <p:nvPr/>
          </p:nvSpPr>
          <p:spPr>
            <a:xfrm>
              <a:off x="9147687" y="3332644"/>
              <a:ext cx="2286000" cy="457200"/>
            </a:xfrm>
            <a:prstGeom prst="roundRect">
              <a:avLst>
                <a:gd name="adj" fmla="val 10000"/>
              </a:avLst>
            </a:prstGeom>
            <a:solidFill>
              <a:srgbClr val="DBD7EC"/>
            </a:solidFill>
            <a:ln w="15875">
              <a:solidFill>
                <a:srgbClr val="4472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Text 39">
              <a:extLst>
                <a:ext uri="{FF2B5EF4-FFF2-40B4-BE49-F238E27FC236}">
                  <a16:creationId xmlns:a16="http://schemas.microsoft.com/office/drawing/2014/main" id="{A1E8D16B-B200-D27F-26DE-FFABC8D7C187}"/>
                </a:ext>
              </a:extLst>
            </p:cNvPr>
            <p:cNvSpPr/>
            <p:nvPr/>
          </p:nvSpPr>
          <p:spPr>
            <a:xfrm>
              <a:off x="9147687" y="3332644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실시간</a:t>
              </a:r>
              <a:r>
                <a:rPr lang="en-US" sz="1200" b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 </a:t>
              </a:r>
              <a:r>
                <a:rPr lang="en-US" sz="1200" b="1" err="1">
                  <a:solidFill>
                    <a:srgbClr val="1F3864"/>
                  </a:solidFill>
                  <a:latin typeface="맑은 고딕"/>
                  <a:ea typeface="맑은 고딕"/>
                  <a:cs typeface="맑은 고딕" pitchFamily="34" charset="-120"/>
                </a:rPr>
                <a:t>모니터</a:t>
              </a:r>
              <a:endParaRPr lang="en-US" sz="1200" err="1">
                <a:latin typeface="맑은 고딕"/>
                <a:ea typeface="맑은 고딕"/>
              </a:endParaRPr>
            </a:p>
          </p:txBody>
        </p:sp>
        <p:sp>
          <p:nvSpPr>
            <p:cNvPr id="189" name="Text 41">
              <a:extLst>
                <a:ext uri="{FF2B5EF4-FFF2-40B4-BE49-F238E27FC236}">
                  <a16:creationId xmlns:a16="http://schemas.microsoft.com/office/drawing/2014/main" id="{6E4C2827-2C98-C74E-60EC-A8AB77A8D901}"/>
                </a:ext>
              </a:extLst>
            </p:cNvPr>
            <p:cNvSpPr/>
            <p:nvPr/>
          </p:nvSpPr>
          <p:spPr>
            <a:xfrm>
              <a:off x="8912795" y="2958035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1200" b="1" err="1">
                  <a:solidFill>
                    <a:srgbClr val="7A6FB0"/>
                  </a:solidFill>
                  <a:latin typeface="맑은 고딕"/>
                  <a:ea typeface="맑은 고딕"/>
                  <a:cs typeface="맑은 고딕" pitchFamily="34" charset="-120"/>
                </a:rPr>
                <a:t>관측</a:t>
              </a:r>
              <a:endParaRPr lang="en-US" sz="1200" b="1" err="1">
                <a:latin typeface="맑은 고딕"/>
                <a:ea typeface="맑은 고딕"/>
              </a:endParaRPr>
            </a:p>
          </p:txBody>
        </p:sp>
        <p:sp>
          <p:nvSpPr>
            <p:cNvPr id="191" name="Text 43">
              <a:extLst>
                <a:ext uri="{FF2B5EF4-FFF2-40B4-BE49-F238E27FC236}">
                  <a16:creationId xmlns:a16="http://schemas.microsoft.com/office/drawing/2014/main" id="{D32225B7-3FEF-EC3A-2F6D-F126DAE86D0E}"/>
                </a:ext>
              </a:extLst>
            </p:cNvPr>
            <p:cNvSpPr/>
            <p:nvPr/>
          </p:nvSpPr>
          <p:spPr>
            <a:xfrm>
              <a:off x="11071860" y="2893732"/>
              <a:ext cx="1005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buNone/>
              </a:pPr>
              <a:r>
                <a:rPr lang="en-US" sz="1200" b="1" err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이상</a:t>
              </a:r>
              <a:r>
                <a:rPr lang="en-US" sz="1200" b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 시</a:t>
              </a:r>
              <a:endParaRPr lang="en-US" sz="1200" b="1">
                <a:latin typeface="맑은 고딕"/>
                <a:ea typeface="맑은 고딕"/>
              </a:endParaRPr>
            </a:p>
            <a:p>
              <a:pPr marL="0" indent="0" algn="l">
                <a:buNone/>
              </a:pPr>
              <a:r>
                <a:rPr lang="en-US" sz="1200" b="1" err="1">
                  <a:solidFill>
                    <a:srgbClr val="B0392B"/>
                  </a:solidFill>
                  <a:latin typeface="맑은 고딕"/>
                  <a:ea typeface="맑은 고딕"/>
                  <a:cs typeface="맑은 고딕" pitchFamily="34" charset="-120"/>
                </a:rPr>
                <a:t>차단·롤백</a:t>
              </a:r>
              <a:endParaRPr lang="en-US" sz="1200" b="1" err="1">
                <a:latin typeface="맑은 고딕"/>
                <a:ea typeface="맑은 고딕"/>
              </a:endParaRPr>
            </a:p>
          </p:txBody>
        </p:sp>
        <p:cxnSp>
          <p:nvCxnSpPr>
            <p:cNvPr id="231" name="직선 화살표 연결선 230">
              <a:extLst>
                <a:ext uri="{FF2B5EF4-FFF2-40B4-BE49-F238E27FC236}">
                  <a16:creationId xmlns:a16="http://schemas.microsoft.com/office/drawing/2014/main" id="{C48CEE62-7395-40C9-44BA-0588A123187E}"/>
                </a:ext>
              </a:extLst>
            </p:cNvPr>
            <p:cNvCxnSpPr/>
            <p:nvPr/>
          </p:nvCxnSpPr>
          <p:spPr>
            <a:xfrm flipH="1" flipV="1">
              <a:off x="9543811" y="2921317"/>
              <a:ext cx="6145" cy="375505"/>
            </a:xfrm>
            <a:prstGeom prst="straightConnector1">
              <a:avLst/>
            </a:prstGeom>
            <a:ln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화살표 연결선 231">
              <a:extLst>
                <a:ext uri="{FF2B5EF4-FFF2-40B4-BE49-F238E27FC236}">
                  <a16:creationId xmlns:a16="http://schemas.microsoft.com/office/drawing/2014/main" id="{A379F04F-5E57-E1D4-5ABA-614A66875A8A}"/>
                </a:ext>
              </a:extLst>
            </p:cNvPr>
            <p:cNvCxnSpPr/>
            <p:nvPr/>
          </p:nvCxnSpPr>
          <p:spPr>
            <a:xfrm flipV="1">
              <a:off x="10946667" y="2914360"/>
              <a:ext cx="6146" cy="373484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8138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C0E63-B9CB-19AC-8FB8-4773FEC9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46C3613-E16E-E316-1E02-F80454BB0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982680"/>
              </p:ext>
            </p:extLst>
          </p:nvPr>
        </p:nvGraphicFramePr>
        <p:xfrm>
          <a:off x="482983" y="1363736"/>
          <a:ext cx="11366343" cy="526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2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2871583236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406261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1안-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Hierarchical Multi-Agent 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2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안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Fully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Decentralized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Multi-Agent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26591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[Scalability]</a:t>
                      </a:r>
                      <a:r>
                        <a:rPr lang="en-US" altLang="ko-KR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노드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타입별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독립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scale out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가능으로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자원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utilization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유리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사전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Staging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으로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전달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연산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오버랩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오버헤드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은닉</a:t>
                      </a:r>
                      <a:endParaRPr lang="en-US" sz="1200" b="0" i="0" u="none" strike="noStrike" kern="120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[Reliability] 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Workflow 의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노드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격리를 통한 장애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독립성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구조적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보장</a:t>
                      </a:r>
                      <a:endParaRPr lang="en-US" altLang="ko-KR" sz="1200" b="0" i="0" u="none" strike="noStrike" kern="1200" noProof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</a:t>
                      </a:r>
                      <a:r>
                        <a:rPr lang="en-US" altLang="ko-KR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중간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산출물의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네트워크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전달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없음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→ 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오버헤드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최소</a:t>
                      </a:r>
                      <a:endParaRPr lang="en-US" sz="1200" b="0" i="0" u="none" strike="noStrike" kern="120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</a:t>
                      </a:r>
                      <a:r>
                        <a:rPr lang="en-US" altLang="ko-KR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Maintainability]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인프라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단순</a:t>
                      </a: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[Reliability]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노드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타입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장애 발생 시 해당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타입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쓰는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모든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Workflow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전파</a:t>
                      </a:r>
                      <a:endParaRPr lang="en-US" altLang="ko-KR" sz="1200" b="0" i="0" u="none" strike="noStrike" kern="1200" noProof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lvl="0" indent="0" algn="l"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[Maintainability]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노드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풀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오브젝트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스토리지</a:t>
                      </a:r>
                      <a:r>
                        <a:rPr 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·Staging</a:t>
                      </a:r>
                      <a:r>
                        <a:rPr lang="en-US" altLang="ko-KR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관리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복잡성 증가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[Scalability] 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Scale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 단위가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Workflow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전체로 고정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→ </a:t>
                      </a:r>
                      <a:r>
                        <a:rPr lang="ko-KR" altLang="en-US" sz="1200" b="0" i="0" u="none" strike="noStrike" kern="120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병목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 시 전체 workflow 복제로 인한 실행 노드 자원</a:t>
                      </a:r>
                      <a:r>
                        <a:rPr 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낭비</a:t>
                      </a:r>
                      <a:endParaRPr lang="ko-KR" altLang="en-US" sz="1200" b="0" i="0" u="none" strike="noStrike" kern="120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8575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★★</a:t>
                      </a: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☆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[Scalability] 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★★★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Reliability</a:t>
                      </a: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] 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★★☆</a:t>
                      </a:r>
                      <a:endParaRPr lang="en-US" sz="1200" b="1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[Maintainability] ★☆☆</a:t>
                      </a:r>
                      <a:endParaRPr lang="ko-KR" altLang="en-US" sz="1200" b="1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[Performance] ★★★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[Scalability]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★★☆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[Reliability] 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★★★</a:t>
                      </a:r>
                      <a:endParaRPr lang="en-US" sz="1200" b="1" i="0" u="none" strike="noStrike" kern="1200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[Maintainability]</a:t>
                      </a:r>
                      <a:r>
                        <a:rPr lang="en-US" altLang="ko-KR" sz="1200" b="1" i="0" u="none" strike="noStrike" kern="120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★★★</a:t>
                      </a:r>
                      <a:endParaRPr lang="en-US" altLang="ko-KR" sz="1200" b="1" i="0" u="none" strike="noStrike" kern="120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55BFBBF-3D95-535D-785E-F439F431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DP4 </a:t>
            </a:r>
            <a:r>
              <a:rPr kumimoji="1" lang="en-US" sz="2800" b="1">
                <a:solidFill>
                  <a:prstClr val="black"/>
                </a:solidFill>
                <a:latin typeface="Malgun Gothic"/>
                <a:ea typeface="Malgun Gothic"/>
              </a:rPr>
              <a:t>Workflow </a:t>
            </a:r>
            <a:r>
              <a:rPr kumimoji="1" lang="en-US" sz="2800" b="1" err="1">
                <a:solidFill>
                  <a:prstClr val="black"/>
                </a:solidFill>
                <a:latin typeface="Malgun Gothic"/>
                <a:ea typeface="Malgun Gothic"/>
              </a:rPr>
              <a:t>실행</a:t>
            </a:r>
            <a:r>
              <a:rPr kumimoji="1" lang="en-US" sz="2800" b="1">
                <a:solidFill>
                  <a:prstClr val="black"/>
                </a:solidFill>
                <a:latin typeface="Malgun Gothic"/>
                <a:ea typeface="Malgun Gothic"/>
              </a:rPr>
              <a:t> </a:t>
            </a:r>
            <a:r>
              <a:rPr kumimoji="1" lang="ko-KR" altLang="en-US" sz="2800" b="1">
                <a:solidFill>
                  <a:prstClr val="black"/>
                </a:solidFill>
                <a:latin typeface="Malgun Gothic"/>
                <a:ea typeface="Malgun Gothic"/>
              </a:rPr>
              <a:t>구조</a:t>
            </a:r>
            <a:endParaRPr lang="en-US" sz="2800" b="1">
              <a:solidFill>
                <a:prstClr val="black"/>
              </a:solidFill>
              <a:latin typeface="Malgun Gothic"/>
              <a:ea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57974F-2848-2249-08F3-EAF287F366E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5954C08-706B-F17D-0B87-43BFED4780DA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B48EC32-545C-7D1A-8941-EA85ABBB308E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C1765DD-0618-BD4F-7CEA-545C4042B5D6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AD5FD43-C42F-0B1B-DC8E-F7F247312DFB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E9266C7-C039-8344-8A60-5B5148BC6A83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36004FC-7A19-0AEE-8980-2F94B932FA5C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7" name="Text 12">
            <a:extLst>
              <a:ext uri="{FF2B5EF4-FFF2-40B4-BE49-F238E27FC236}">
                <a16:creationId xmlns:a16="http://schemas.microsoft.com/office/drawing/2014/main" id="{9B46C5F6-E482-03FC-E3CC-9EB0BCE20CD9}"/>
              </a:ext>
            </a:extLst>
          </p:cNvPr>
          <p:cNvSpPr/>
          <p:nvPr/>
        </p:nvSpPr>
        <p:spPr>
          <a:xfrm>
            <a:off x="1358988" y="1996545"/>
            <a:ext cx="5052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여러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Workflow의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작업이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타입별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전용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서버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풀로</a:t>
            </a:r>
            <a:r>
              <a:rPr lang="en-US" sz="1000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라우팅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3616B50-A557-5901-FF90-3CD3525FF48E}"/>
              </a:ext>
            </a:extLst>
          </p:cNvPr>
          <p:cNvSpPr/>
          <p:nvPr/>
        </p:nvSpPr>
        <p:spPr>
          <a:xfrm>
            <a:off x="1599018" y="2216001"/>
            <a:ext cx="4572000" cy="384048"/>
          </a:xfrm>
          <a:prstGeom prst="roundRect">
            <a:avLst>
              <a:gd name="adj" fmla="val 9524"/>
            </a:avLst>
          </a:prstGeom>
          <a:solidFill>
            <a:srgbClr val="E9E4D8"/>
          </a:solidFill>
          <a:ln w="13970">
            <a:solidFill>
              <a:srgbClr val="B6A9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584E0E7-0EC6-4D5F-77B8-FAF225688C52}"/>
              </a:ext>
            </a:extLst>
          </p:cNvPr>
          <p:cNvSpPr/>
          <p:nvPr/>
        </p:nvSpPr>
        <p:spPr>
          <a:xfrm>
            <a:off x="1599018" y="2216001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오브젝트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스토리지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 (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중간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Artifact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전달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)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215AC68-0960-5924-A35A-652DFCD54DC9}"/>
              </a:ext>
            </a:extLst>
          </p:cNvPr>
          <p:cNvSpPr/>
          <p:nvPr/>
        </p:nvSpPr>
        <p:spPr>
          <a:xfrm>
            <a:off x="1743640" y="3111062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F9F40895-00CC-B63D-A59F-2D38ADA09465}"/>
              </a:ext>
            </a:extLst>
          </p:cNvPr>
          <p:cNvSpPr/>
          <p:nvPr/>
        </p:nvSpPr>
        <p:spPr>
          <a:xfrm>
            <a:off x="1679632" y="3047054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B2493F3-D5B6-8E36-4EAF-34C44193B656}"/>
              </a:ext>
            </a:extLst>
          </p:cNvPr>
          <p:cNvSpPr/>
          <p:nvPr/>
        </p:nvSpPr>
        <p:spPr>
          <a:xfrm>
            <a:off x="1615624" y="2983046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FD2AACF-B4E8-43F2-728E-F12C5FF96C77}"/>
              </a:ext>
            </a:extLst>
          </p:cNvPr>
          <p:cNvSpPr/>
          <p:nvPr/>
        </p:nvSpPr>
        <p:spPr>
          <a:xfrm>
            <a:off x="1615624" y="298304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IR-Gen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서버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D9831B44-2474-0668-33BB-A37B296F0DE1}"/>
              </a:ext>
            </a:extLst>
          </p:cNvPr>
          <p:cNvSpPr/>
          <p:nvPr/>
        </p:nvSpPr>
        <p:spPr>
          <a:xfrm>
            <a:off x="1524184" y="373285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9C4A3C"/>
                </a:solidFill>
                <a:latin typeface="맑은 고딕"/>
                <a:ea typeface="맑은 고딕"/>
                <a:cs typeface="맑은 고딕" pitchFamily="34" charset="-120"/>
              </a:rPr>
              <a:t>× N  (scale out)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FFF46483-484B-2812-B6A8-F59F158B7F4D}"/>
              </a:ext>
            </a:extLst>
          </p:cNvPr>
          <p:cNvSpPr/>
          <p:nvPr/>
        </p:nvSpPr>
        <p:spPr>
          <a:xfrm>
            <a:off x="3298120" y="3111062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74D09DE3-22F7-7C8E-55B3-65DFA14F63B2}"/>
              </a:ext>
            </a:extLst>
          </p:cNvPr>
          <p:cNvSpPr/>
          <p:nvPr/>
        </p:nvSpPr>
        <p:spPr>
          <a:xfrm>
            <a:off x="3234112" y="3047054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790F45F0-BE45-AD72-53E3-619A967AD05F}"/>
              </a:ext>
            </a:extLst>
          </p:cNvPr>
          <p:cNvSpPr/>
          <p:nvPr/>
        </p:nvSpPr>
        <p:spPr>
          <a:xfrm>
            <a:off x="3170104" y="2983046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2BC3AEFB-877E-60E7-62DB-2B14A68B7DD8}"/>
              </a:ext>
            </a:extLst>
          </p:cNvPr>
          <p:cNvSpPr/>
          <p:nvPr/>
        </p:nvSpPr>
        <p:spPr>
          <a:xfrm>
            <a:off x="3170104" y="298304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Optimizer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서버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275764E3-31D2-D235-C84F-B3C3AB91E732}"/>
              </a:ext>
            </a:extLst>
          </p:cNvPr>
          <p:cNvSpPr/>
          <p:nvPr/>
        </p:nvSpPr>
        <p:spPr>
          <a:xfrm>
            <a:off x="3078664" y="373285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9C4A3C"/>
                </a:solidFill>
                <a:latin typeface="맑은 고딕"/>
                <a:ea typeface="맑은 고딕"/>
                <a:cs typeface="맑은 고딕" pitchFamily="34" charset="-120"/>
              </a:rPr>
              <a:t>× N  (scale out)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6413E4DA-730B-E707-2248-EA11E64C5DA4}"/>
              </a:ext>
            </a:extLst>
          </p:cNvPr>
          <p:cNvSpPr/>
          <p:nvPr/>
        </p:nvSpPr>
        <p:spPr>
          <a:xfrm>
            <a:off x="4852600" y="3111062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D5F87E0E-7270-44CC-4095-8D7810BB7181}"/>
              </a:ext>
            </a:extLst>
          </p:cNvPr>
          <p:cNvSpPr/>
          <p:nvPr/>
        </p:nvSpPr>
        <p:spPr>
          <a:xfrm>
            <a:off x="4788592" y="3047054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9F33C3F6-0C58-9A1A-A31A-FD01893EEC38}"/>
              </a:ext>
            </a:extLst>
          </p:cNvPr>
          <p:cNvSpPr/>
          <p:nvPr/>
        </p:nvSpPr>
        <p:spPr>
          <a:xfrm>
            <a:off x="4724584" y="2983046"/>
            <a:ext cx="1298448" cy="603504"/>
          </a:xfrm>
          <a:prstGeom prst="roundRect">
            <a:avLst>
              <a:gd name="adj" fmla="val 6061"/>
            </a:avLst>
          </a:prstGeom>
          <a:solidFill>
            <a:srgbClr val="EEF1F8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77C33527-A217-D9FB-26A5-73C16555153D}"/>
              </a:ext>
            </a:extLst>
          </p:cNvPr>
          <p:cNvSpPr/>
          <p:nvPr/>
        </p:nvSpPr>
        <p:spPr>
          <a:xfrm>
            <a:off x="4724584" y="2983046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Quantizer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서버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48" name="Text 32">
            <a:extLst>
              <a:ext uri="{FF2B5EF4-FFF2-40B4-BE49-F238E27FC236}">
                <a16:creationId xmlns:a16="http://schemas.microsoft.com/office/drawing/2014/main" id="{0D9D1DAA-3CBC-0A60-96CB-88E437C22A93}"/>
              </a:ext>
            </a:extLst>
          </p:cNvPr>
          <p:cNvSpPr/>
          <p:nvPr/>
        </p:nvSpPr>
        <p:spPr>
          <a:xfrm>
            <a:off x="4633144" y="373285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9C4A3C"/>
                </a:solidFill>
                <a:latin typeface="맑은 고딕"/>
                <a:ea typeface="맑은 고딕"/>
                <a:cs typeface="맑은 고딕" pitchFamily="34" charset="-120"/>
              </a:rPr>
              <a:t>× N  (scale out)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49" name="Text 33">
            <a:extLst>
              <a:ext uri="{FF2B5EF4-FFF2-40B4-BE49-F238E27FC236}">
                <a16:creationId xmlns:a16="http://schemas.microsoft.com/office/drawing/2014/main" id="{E5D44FBC-F2FD-5CDA-F7C5-8E9E8EA94F6A}"/>
              </a:ext>
            </a:extLst>
          </p:cNvPr>
          <p:cNvSpPr/>
          <p:nvPr/>
        </p:nvSpPr>
        <p:spPr>
          <a:xfrm>
            <a:off x="1293299" y="4075701"/>
            <a:ext cx="5052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각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서버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풀은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부하에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따라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독립적으로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인스턴스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증설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·</a:t>
            </a:r>
            <a:endParaRPr lang="en-US" sz="1000" err="1">
              <a:solidFill>
                <a:srgbClr val="000000"/>
              </a:solidFill>
              <a:latin typeface="맑은 고딕"/>
              <a:ea typeface="맑은 고딕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사전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Staging(prefetch)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으로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전달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지연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은닉</a:t>
            </a:r>
            <a:endParaRPr lang="en-US" sz="1000">
              <a:latin typeface="맑은 고딕"/>
              <a:ea typeface="맑은 고딕"/>
            </a:endParaRPr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11F78869-ABC5-BF8B-CD5D-C4DA79CB16D5}"/>
              </a:ext>
            </a:extLst>
          </p:cNvPr>
          <p:cNvSpPr/>
          <p:nvPr/>
        </p:nvSpPr>
        <p:spPr>
          <a:xfrm>
            <a:off x="7422537" y="1904579"/>
            <a:ext cx="3840480" cy="365760"/>
          </a:xfrm>
          <a:prstGeom prst="roundRect">
            <a:avLst>
              <a:gd name="adj" fmla="val 10000"/>
            </a:avLst>
          </a:prstGeom>
          <a:solidFill>
            <a:srgbClr val="E9E4D8"/>
          </a:solidFill>
          <a:ln w="13970">
            <a:solidFill>
              <a:srgbClr val="B6A9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FB43BCD0-EAC2-5575-7ABD-5F1E7A5C72A9}"/>
              </a:ext>
            </a:extLst>
          </p:cNvPr>
          <p:cNvSpPr/>
          <p:nvPr/>
        </p:nvSpPr>
        <p:spPr>
          <a:xfrm>
            <a:off x="7422537" y="190457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공유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스토리지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(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입력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LLM model)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62" name="Text 36">
            <a:extLst>
              <a:ext uri="{FF2B5EF4-FFF2-40B4-BE49-F238E27FC236}">
                <a16:creationId xmlns:a16="http://schemas.microsoft.com/office/drawing/2014/main" id="{B1D55DA8-29EA-3F1E-1D47-CCCE36EF7D67}"/>
              </a:ext>
            </a:extLst>
          </p:cNvPr>
          <p:cNvSpPr/>
          <p:nvPr/>
        </p:nvSpPr>
        <p:spPr>
          <a:xfrm>
            <a:off x="8189792" y="232005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model </a:t>
            </a:r>
            <a:r>
              <a:rPr lang="en-US" sz="1200" i="1" err="1">
                <a:solidFill>
                  <a:srgbClr val="666666"/>
                </a:solidFill>
                <a:latin typeface="맑은 고딕"/>
                <a:ea typeface="맑은 고딕"/>
                <a:cs typeface="맑은 고딕" pitchFamily="34" charset="-120"/>
              </a:rPr>
              <a:t>적재</a:t>
            </a:r>
            <a:endParaRPr lang="en-US" sz="1200" i="1" err="1">
              <a:solidFill>
                <a:srgbClr val="666666"/>
              </a:solidFill>
              <a:latin typeface="맑은 고딕"/>
              <a:ea typeface="맑은 고딕"/>
            </a:endParaRPr>
          </a:p>
        </p:txBody>
      </p:sp>
      <p:sp>
        <p:nvSpPr>
          <p:cNvPr id="63" name="Shape 37">
            <a:extLst>
              <a:ext uri="{FF2B5EF4-FFF2-40B4-BE49-F238E27FC236}">
                <a16:creationId xmlns:a16="http://schemas.microsoft.com/office/drawing/2014/main" id="{2A7C97B5-25DC-86A5-5E50-51C9EF47ADE3}"/>
              </a:ext>
            </a:extLst>
          </p:cNvPr>
          <p:cNvSpPr/>
          <p:nvPr/>
        </p:nvSpPr>
        <p:spPr>
          <a:xfrm>
            <a:off x="6853927" y="2530470"/>
            <a:ext cx="1481328" cy="1627632"/>
          </a:xfrm>
          <a:prstGeom prst="roundRect">
            <a:avLst>
              <a:gd name="adj" fmla="val 3086"/>
            </a:avLst>
          </a:prstGeom>
          <a:solidFill>
            <a:srgbClr val="F4F6FB"/>
          </a:solidFill>
          <a:ln w="1651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50CC577E-2C2A-2FDC-8E12-C7FD3330AC0F}"/>
              </a:ext>
            </a:extLst>
          </p:cNvPr>
          <p:cNvSpPr/>
          <p:nvPr/>
        </p:nvSpPr>
        <p:spPr>
          <a:xfrm>
            <a:off x="6921929" y="264187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실행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1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30" name="Shape 40">
            <a:extLst>
              <a:ext uri="{FF2B5EF4-FFF2-40B4-BE49-F238E27FC236}">
                <a16:creationId xmlns:a16="http://schemas.microsoft.com/office/drawing/2014/main" id="{4661430C-2687-41D3-46B9-68B2CDB5CE53}"/>
              </a:ext>
            </a:extLst>
          </p:cNvPr>
          <p:cNvSpPr/>
          <p:nvPr/>
        </p:nvSpPr>
        <p:spPr>
          <a:xfrm>
            <a:off x="7096821" y="3037909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41">
            <a:extLst>
              <a:ext uri="{FF2B5EF4-FFF2-40B4-BE49-F238E27FC236}">
                <a16:creationId xmlns:a16="http://schemas.microsoft.com/office/drawing/2014/main" id="{51171DBF-7CB0-419B-ACF6-5437E8AFFEEF}"/>
              </a:ext>
            </a:extLst>
          </p:cNvPr>
          <p:cNvSpPr/>
          <p:nvPr/>
        </p:nvSpPr>
        <p:spPr>
          <a:xfrm>
            <a:off x="7041957" y="2983045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42">
            <a:extLst>
              <a:ext uri="{FF2B5EF4-FFF2-40B4-BE49-F238E27FC236}">
                <a16:creationId xmlns:a16="http://schemas.microsoft.com/office/drawing/2014/main" id="{8A08F881-FAF7-82EB-575C-B6FC70FD45E5}"/>
              </a:ext>
            </a:extLst>
          </p:cNvPr>
          <p:cNvSpPr/>
          <p:nvPr/>
        </p:nvSpPr>
        <p:spPr>
          <a:xfrm>
            <a:off x="6987093" y="2928181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43">
            <a:extLst>
              <a:ext uri="{FF2B5EF4-FFF2-40B4-BE49-F238E27FC236}">
                <a16:creationId xmlns:a16="http://schemas.microsoft.com/office/drawing/2014/main" id="{ADEA11C2-8CB3-5B2E-8369-0A7938353B0C}"/>
              </a:ext>
            </a:extLst>
          </p:cNvPr>
          <p:cNvSpPr/>
          <p:nvPr/>
        </p:nvSpPr>
        <p:spPr>
          <a:xfrm>
            <a:off x="6987093" y="2928181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Workflow</a:t>
            </a:r>
            <a:endParaRPr lang="en-US" sz="1200">
              <a:latin typeface="맑은 고딕"/>
              <a:ea typeface="맑은 고딕"/>
            </a:endParaRPr>
          </a:p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인스턴스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135" name="Shape 44">
            <a:extLst>
              <a:ext uri="{FF2B5EF4-FFF2-40B4-BE49-F238E27FC236}">
                <a16:creationId xmlns:a16="http://schemas.microsoft.com/office/drawing/2014/main" id="{A0D0AC50-B0D3-DE6D-3DCA-C4F499733580}"/>
              </a:ext>
            </a:extLst>
          </p:cNvPr>
          <p:cNvSpPr/>
          <p:nvPr/>
        </p:nvSpPr>
        <p:spPr>
          <a:xfrm>
            <a:off x="6981943" y="3700902"/>
            <a:ext cx="1225296" cy="329184"/>
          </a:xfrm>
          <a:prstGeom prst="roundRect">
            <a:avLst>
              <a:gd name="adj" fmla="val 11111"/>
            </a:avLst>
          </a:prstGeom>
          <a:solidFill>
            <a:srgbClr val="E9E4D8"/>
          </a:solidFill>
          <a:ln w="13970">
            <a:solidFill>
              <a:srgbClr val="B6A9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 45">
            <a:extLst>
              <a:ext uri="{FF2B5EF4-FFF2-40B4-BE49-F238E27FC236}">
                <a16:creationId xmlns:a16="http://schemas.microsoft.com/office/drawing/2014/main" id="{188526DB-FA42-9CEF-0B04-E05A0338E5C0}"/>
              </a:ext>
            </a:extLst>
          </p:cNvPr>
          <p:cNvSpPr/>
          <p:nvPr/>
        </p:nvSpPr>
        <p:spPr>
          <a:xfrm>
            <a:off x="6981943" y="370090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로컬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스토리지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37" name="Shape 46">
            <a:extLst>
              <a:ext uri="{FF2B5EF4-FFF2-40B4-BE49-F238E27FC236}">
                <a16:creationId xmlns:a16="http://schemas.microsoft.com/office/drawing/2014/main" id="{E4797713-7F83-DB6A-8606-BD1F3B6B27F8}"/>
              </a:ext>
            </a:extLst>
          </p:cNvPr>
          <p:cNvSpPr/>
          <p:nvPr/>
        </p:nvSpPr>
        <p:spPr>
          <a:xfrm>
            <a:off x="8536423" y="2530470"/>
            <a:ext cx="1481328" cy="1627632"/>
          </a:xfrm>
          <a:prstGeom prst="roundRect">
            <a:avLst>
              <a:gd name="adj" fmla="val 3086"/>
            </a:avLst>
          </a:prstGeom>
          <a:solidFill>
            <a:srgbClr val="F4F6FB"/>
          </a:solidFill>
          <a:ln w="1651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47">
            <a:extLst>
              <a:ext uri="{FF2B5EF4-FFF2-40B4-BE49-F238E27FC236}">
                <a16:creationId xmlns:a16="http://schemas.microsoft.com/office/drawing/2014/main" id="{C0A538D5-F744-CD67-775B-8F4991DD61AB}"/>
              </a:ext>
            </a:extLst>
          </p:cNvPr>
          <p:cNvSpPr/>
          <p:nvPr/>
        </p:nvSpPr>
        <p:spPr>
          <a:xfrm>
            <a:off x="8604425" y="264187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실행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2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0" name="Shape 49">
            <a:extLst>
              <a:ext uri="{FF2B5EF4-FFF2-40B4-BE49-F238E27FC236}">
                <a16:creationId xmlns:a16="http://schemas.microsoft.com/office/drawing/2014/main" id="{8E5AA3B4-1F8D-9B6D-8EE5-14D8CE7BF73D}"/>
              </a:ext>
            </a:extLst>
          </p:cNvPr>
          <p:cNvSpPr/>
          <p:nvPr/>
        </p:nvSpPr>
        <p:spPr>
          <a:xfrm>
            <a:off x="8779317" y="3037909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50">
            <a:extLst>
              <a:ext uri="{FF2B5EF4-FFF2-40B4-BE49-F238E27FC236}">
                <a16:creationId xmlns:a16="http://schemas.microsoft.com/office/drawing/2014/main" id="{DF0D2388-73F2-2CC0-022E-2CDC917A506F}"/>
              </a:ext>
            </a:extLst>
          </p:cNvPr>
          <p:cNvSpPr/>
          <p:nvPr/>
        </p:nvSpPr>
        <p:spPr>
          <a:xfrm>
            <a:off x="8724453" y="2983045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51">
            <a:extLst>
              <a:ext uri="{FF2B5EF4-FFF2-40B4-BE49-F238E27FC236}">
                <a16:creationId xmlns:a16="http://schemas.microsoft.com/office/drawing/2014/main" id="{B0F5A8ED-243E-EA46-3327-51B2CD7CC5D6}"/>
              </a:ext>
            </a:extLst>
          </p:cNvPr>
          <p:cNvSpPr/>
          <p:nvPr/>
        </p:nvSpPr>
        <p:spPr>
          <a:xfrm>
            <a:off x="8669589" y="2928181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52">
            <a:extLst>
              <a:ext uri="{FF2B5EF4-FFF2-40B4-BE49-F238E27FC236}">
                <a16:creationId xmlns:a16="http://schemas.microsoft.com/office/drawing/2014/main" id="{931CACFC-CDC6-55EE-1068-C9645DF26937}"/>
              </a:ext>
            </a:extLst>
          </p:cNvPr>
          <p:cNvSpPr/>
          <p:nvPr/>
        </p:nvSpPr>
        <p:spPr>
          <a:xfrm>
            <a:off x="8669589" y="2928181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Workflow</a:t>
            </a:r>
            <a:endParaRPr lang="en-US" sz="1200">
              <a:latin typeface="맑은 고딕"/>
              <a:ea typeface="맑은 고딕"/>
            </a:endParaRPr>
          </a:p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인스턴스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144" name="Shape 53">
            <a:extLst>
              <a:ext uri="{FF2B5EF4-FFF2-40B4-BE49-F238E27FC236}">
                <a16:creationId xmlns:a16="http://schemas.microsoft.com/office/drawing/2014/main" id="{86252D46-280C-01D0-0B69-CE21B6439571}"/>
              </a:ext>
            </a:extLst>
          </p:cNvPr>
          <p:cNvSpPr/>
          <p:nvPr/>
        </p:nvSpPr>
        <p:spPr>
          <a:xfrm>
            <a:off x="8664439" y="3700902"/>
            <a:ext cx="1225296" cy="329184"/>
          </a:xfrm>
          <a:prstGeom prst="roundRect">
            <a:avLst>
              <a:gd name="adj" fmla="val 11111"/>
            </a:avLst>
          </a:prstGeom>
          <a:solidFill>
            <a:srgbClr val="E9E4D8"/>
          </a:solidFill>
          <a:ln w="13970">
            <a:solidFill>
              <a:srgbClr val="B6A9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54">
            <a:extLst>
              <a:ext uri="{FF2B5EF4-FFF2-40B4-BE49-F238E27FC236}">
                <a16:creationId xmlns:a16="http://schemas.microsoft.com/office/drawing/2014/main" id="{B5EAB164-F60B-591A-45A0-05006AEAD221}"/>
              </a:ext>
            </a:extLst>
          </p:cNvPr>
          <p:cNvSpPr/>
          <p:nvPr/>
        </p:nvSpPr>
        <p:spPr>
          <a:xfrm>
            <a:off x="8664439" y="370090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로컬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스토리지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146" name="Shape 55">
            <a:extLst>
              <a:ext uri="{FF2B5EF4-FFF2-40B4-BE49-F238E27FC236}">
                <a16:creationId xmlns:a16="http://schemas.microsoft.com/office/drawing/2014/main" id="{5FE7ADF0-1140-4CD3-68AF-7E4D4BB4F221}"/>
              </a:ext>
            </a:extLst>
          </p:cNvPr>
          <p:cNvSpPr/>
          <p:nvPr/>
        </p:nvSpPr>
        <p:spPr>
          <a:xfrm>
            <a:off x="10218919" y="2530470"/>
            <a:ext cx="1481328" cy="1627632"/>
          </a:xfrm>
          <a:prstGeom prst="roundRect">
            <a:avLst>
              <a:gd name="adj" fmla="val 3086"/>
            </a:avLst>
          </a:prstGeom>
          <a:solidFill>
            <a:srgbClr val="F4F6FB"/>
          </a:solidFill>
          <a:ln w="16510">
            <a:solidFill>
              <a:srgbClr val="4472A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56">
            <a:extLst>
              <a:ext uri="{FF2B5EF4-FFF2-40B4-BE49-F238E27FC236}">
                <a16:creationId xmlns:a16="http://schemas.microsoft.com/office/drawing/2014/main" id="{C0510943-71CB-1982-F278-7618B867F2D0}"/>
              </a:ext>
            </a:extLst>
          </p:cNvPr>
          <p:cNvSpPr/>
          <p:nvPr/>
        </p:nvSpPr>
        <p:spPr>
          <a:xfrm>
            <a:off x="10286921" y="264187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실행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N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49" name="Shape 58">
            <a:extLst>
              <a:ext uri="{FF2B5EF4-FFF2-40B4-BE49-F238E27FC236}">
                <a16:creationId xmlns:a16="http://schemas.microsoft.com/office/drawing/2014/main" id="{4FB5C04D-828B-834F-5502-170834BB09C6}"/>
              </a:ext>
            </a:extLst>
          </p:cNvPr>
          <p:cNvSpPr/>
          <p:nvPr/>
        </p:nvSpPr>
        <p:spPr>
          <a:xfrm>
            <a:off x="10461813" y="3037909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59">
            <a:extLst>
              <a:ext uri="{FF2B5EF4-FFF2-40B4-BE49-F238E27FC236}">
                <a16:creationId xmlns:a16="http://schemas.microsoft.com/office/drawing/2014/main" id="{3BA0366E-0CBA-DD30-EA21-7BD5F94793BB}"/>
              </a:ext>
            </a:extLst>
          </p:cNvPr>
          <p:cNvSpPr/>
          <p:nvPr/>
        </p:nvSpPr>
        <p:spPr>
          <a:xfrm>
            <a:off x="10406949" y="2983045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270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60">
            <a:extLst>
              <a:ext uri="{FF2B5EF4-FFF2-40B4-BE49-F238E27FC236}">
                <a16:creationId xmlns:a16="http://schemas.microsoft.com/office/drawing/2014/main" id="{1ECA8CE0-D4DA-8BE2-8135-F5097290FBC0}"/>
              </a:ext>
            </a:extLst>
          </p:cNvPr>
          <p:cNvSpPr/>
          <p:nvPr/>
        </p:nvSpPr>
        <p:spPr>
          <a:xfrm>
            <a:off x="10352085" y="2928181"/>
            <a:ext cx="1115568" cy="457200"/>
          </a:xfrm>
          <a:prstGeom prst="roundRect">
            <a:avLst>
              <a:gd name="adj" fmla="val 8000"/>
            </a:avLst>
          </a:prstGeom>
          <a:solidFill>
            <a:srgbClr val="DBD7EC"/>
          </a:solidFill>
          <a:ln w="13970">
            <a:solidFill>
              <a:srgbClr val="4472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61">
            <a:extLst>
              <a:ext uri="{FF2B5EF4-FFF2-40B4-BE49-F238E27FC236}">
                <a16:creationId xmlns:a16="http://schemas.microsoft.com/office/drawing/2014/main" id="{C8D92F29-E0F8-70C5-FD63-B6383F00C863}"/>
              </a:ext>
            </a:extLst>
          </p:cNvPr>
          <p:cNvSpPr/>
          <p:nvPr/>
        </p:nvSpPr>
        <p:spPr>
          <a:xfrm>
            <a:off x="10352085" y="2928181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Workflow</a:t>
            </a:r>
            <a:endParaRPr lang="en-US" sz="1200">
              <a:latin typeface="맑은 고딕"/>
              <a:ea typeface="맑은 고딕"/>
            </a:endParaRPr>
          </a:p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인스턴스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153" name="Shape 62">
            <a:extLst>
              <a:ext uri="{FF2B5EF4-FFF2-40B4-BE49-F238E27FC236}">
                <a16:creationId xmlns:a16="http://schemas.microsoft.com/office/drawing/2014/main" id="{45C79B89-C8ED-2C23-9338-278E8E3A3844}"/>
              </a:ext>
            </a:extLst>
          </p:cNvPr>
          <p:cNvSpPr/>
          <p:nvPr/>
        </p:nvSpPr>
        <p:spPr>
          <a:xfrm>
            <a:off x="10346935" y="3700902"/>
            <a:ext cx="1225296" cy="329184"/>
          </a:xfrm>
          <a:prstGeom prst="roundRect">
            <a:avLst>
              <a:gd name="adj" fmla="val 11111"/>
            </a:avLst>
          </a:prstGeom>
          <a:solidFill>
            <a:srgbClr val="E9E4D8"/>
          </a:solidFill>
          <a:ln w="13970">
            <a:solidFill>
              <a:srgbClr val="B6A9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63">
            <a:extLst>
              <a:ext uri="{FF2B5EF4-FFF2-40B4-BE49-F238E27FC236}">
                <a16:creationId xmlns:a16="http://schemas.microsoft.com/office/drawing/2014/main" id="{6D3EB717-8BE3-8EA3-F1A9-1CEF2C81B30C}"/>
              </a:ext>
            </a:extLst>
          </p:cNvPr>
          <p:cNvSpPr/>
          <p:nvPr/>
        </p:nvSpPr>
        <p:spPr>
          <a:xfrm>
            <a:off x="10346935" y="370090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로컬</a:t>
            </a:r>
            <a:r>
              <a:rPr lang="en-US" sz="1200" b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200" b="1" err="1">
                <a:solidFill>
                  <a:srgbClr val="1F3864"/>
                </a:solidFill>
                <a:latin typeface="맑은 고딕"/>
                <a:ea typeface="맑은 고딕"/>
                <a:cs typeface="맑은 고딕" pitchFamily="34" charset="-120"/>
              </a:rPr>
              <a:t>스토리지</a:t>
            </a:r>
            <a:endParaRPr lang="en-US" sz="1200" err="1">
              <a:latin typeface="맑은 고딕"/>
              <a:ea typeface="맑은 고딕"/>
            </a:endParaRPr>
          </a:p>
        </p:txBody>
      </p:sp>
      <p:sp>
        <p:nvSpPr>
          <p:cNvPr id="155" name="Text 64">
            <a:extLst>
              <a:ext uri="{FF2B5EF4-FFF2-40B4-BE49-F238E27FC236}">
                <a16:creationId xmlns:a16="http://schemas.microsoft.com/office/drawing/2014/main" id="{27C1CDDB-F75F-EF3F-E962-81E882376238}"/>
              </a:ext>
            </a:extLst>
          </p:cNvPr>
          <p:cNvSpPr/>
          <p:nvPr/>
        </p:nvSpPr>
        <p:spPr>
          <a:xfrm>
            <a:off x="10059477" y="3220789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⋯</a:t>
            </a:r>
            <a:endParaRPr lang="en-US" sz="1800"/>
          </a:p>
        </p:txBody>
      </p:sp>
      <p:sp>
        <p:nvSpPr>
          <p:cNvPr id="156" name="Text 65">
            <a:extLst>
              <a:ext uri="{FF2B5EF4-FFF2-40B4-BE49-F238E27FC236}">
                <a16:creationId xmlns:a16="http://schemas.microsoft.com/office/drawing/2014/main" id="{65DD55BB-FF68-BB97-D06A-10CA882F2B53}"/>
              </a:ext>
            </a:extLst>
          </p:cNvPr>
          <p:cNvSpPr/>
          <p:nvPr/>
        </p:nvSpPr>
        <p:spPr>
          <a:xfrm>
            <a:off x="6593402" y="4238717"/>
            <a:ext cx="5406783" cy="32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노드당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다중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Workflow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인스턴스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동시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실행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·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자체도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여러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대로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scale out (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노드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단위</a:t>
            </a:r>
            <a:r>
              <a:rPr lang="en-US" sz="10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 </a:t>
            </a:r>
            <a:r>
              <a:rPr lang="en-US" sz="1000" i="1" err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격리</a:t>
            </a:r>
            <a:r>
              <a:rPr lang="en-US" sz="800" i="1">
                <a:solidFill>
                  <a:srgbClr val="555555"/>
                </a:solidFill>
                <a:latin typeface="맑은 고딕"/>
                <a:ea typeface="맑은 고딕"/>
                <a:cs typeface="맑은 고딕" pitchFamily="34" charset="-120"/>
              </a:rPr>
              <a:t>)</a:t>
            </a:r>
            <a:endParaRPr lang="en-US" sz="800">
              <a:latin typeface="맑은 고딕"/>
              <a:ea typeface="맑은 고딕"/>
            </a:endParaRPr>
          </a:p>
        </p:txBody>
      </p: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3FDE5360-6523-6BC4-57B9-11E9C577B081}"/>
              </a:ext>
            </a:extLst>
          </p:cNvPr>
          <p:cNvCxnSpPr/>
          <p:nvPr/>
        </p:nvCxnSpPr>
        <p:spPr>
          <a:xfrm>
            <a:off x="2305439" y="2624897"/>
            <a:ext cx="5298" cy="3533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52F0FFC9-A273-0817-D617-BB2BCC5EF37B}"/>
              </a:ext>
            </a:extLst>
          </p:cNvPr>
          <p:cNvCxnSpPr>
            <a:cxnSpLocks/>
          </p:cNvCxnSpPr>
          <p:nvPr/>
        </p:nvCxnSpPr>
        <p:spPr>
          <a:xfrm>
            <a:off x="3881992" y="2624897"/>
            <a:ext cx="5297" cy="3533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C9703FDD-2B27-7C36-92A9-400F76946A32}"/>
              </a:ext>
            </a:extLst>
          </p:cNvPr>
          <p:cNvCxnSpPr>
            <a:cxnSpLocks/>
          </p:cNvCxnSpPr>
          <p:nvPr/>
        </p:nvCxnSpPr>
        <p:spPr>
          <a:xfrm>
            <a:off x="5419129" y="2624897"/>
            <a:ext cx="5297" cy="3533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624C3EEB-C079-7E46-F4E8-C7DF7B4863CF}"/>
              </a:ext>
            </a:extLst>
          </p:cNvPr>
          <p:cNvCxnSpPr/>
          <p:nvPr/>
        </p:nvCxnSpPr>
        <p:spPr>
          <a:xfrm>
            <a:off x="7616170" y="2297991"/>
            <a:ext cx="5299" cy="223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9D2AA956-598A-E4DF-5877-E0A3E4170115}"/>
              </a:ext>
            </a:extLst>
          </p:cNvPr>
          <p:cNvCxnSpPr>
            <a:cxnSpLocks/>
          </p:cNvCxnSpPr>
          <p:nvPr/>
        </p:nvCxnSpPr>
        <p:spPr>
          <a:xfrm>
            <a:off x="9284691" y="2324266"/>
            <a:ext cx="5297" cy="183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AD542C39-060E-7BA1-0DE3-B6CB7AE41046}"/>
              </a:ext>
            </a:extLst>
          </p:cNvPr>
          <p:cNvCxnSpPr>
            <a:cxnSpLocks/>
          </p:cNvCxnSpPr>
          <p:nvPr/>
        </p:nvCxnSpPr>
        <p:spPr>
          <a:xfrm>
            <a:off x="10979480" y="2311128"/>
            <a:ext cx="5299" cy="223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178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A7D8-5025-CA1B-4E60-2FB95B3B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1FAFC91-A8B3-60B4-83D9-D1062694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27414"/>
              </p:ext>
            </p:extLst>
          </p:nvPr>
        </p:nvGraphicFramePr>
        <p:xfrm>
          <a:off x="482983" y="1363736"/>
          <a:ext cx="11366343" cy="5095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72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2871583236"/>
                    </a:ext>
                  </a:extLst>
                </a:gridCol>
                <a:gridCol w="5304809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406261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1안-</a:t>
                      </a:r>
                      <a:r>
                        <a:rPr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Workflow별 로컬 캐시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&lt; 2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안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Workflow간 공유 캐시</a:t>
                      </a: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 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26591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장점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Reliability-Workflow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한 </a:t>
                      </a:r>
                      <a:r>
                        <a:rPr lang="ko-KR" altLang="en-US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Workflow의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오류가 다른 것에 영향주지 않음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Maintainability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별도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공유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인프라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없이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캐시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구현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·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운영이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단순함</a:t>
                      </a:r>
                      <a:endParaRPr lang="en-US" alt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유사 Workflow간 캐시 공유로 E2E 개발 시간 단축 가능함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Reliability-Agent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Workflow간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Agent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판단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일관성이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보장됨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61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유사한 설정으로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실행되는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다른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Workflow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재사용불가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Reliability-Agent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Workflow간 결과 편차 발생할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Reliability-Workflow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공유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캐시가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잘못되면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다른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Workflow에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영향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전파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Maintainability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중앙 캐시가 추가되고 모듈 교체시 범위 판단 필요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85758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E2E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개발시간 최적화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</a:t>
                      </a:r>
                      <a:r>
                        <a:rPr lang="ko-KR" altLang="en-US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Reliability-Workflow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간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독립성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보장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★★★</a:t>
                      </a:r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Reliability-Agent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 Agent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일관성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Maintainability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모듈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용이성 ★★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Performance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E2E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개발시간 최적화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endParaRPr lang="ko-KR" altLang="en-US" sz="12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Reliability-Workflow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Workflow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간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독립성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보장 ★★</a:t>
                      </a: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Reliability-Agent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 Agent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결과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2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일관성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★★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endParaRPr lang="ko-KR" sz="12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12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Maintainability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]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모듈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용이성 ★★</a:t>
                      </a:r>
                      <a:r>
                        <a:rPr lang="ko-KR" altLang="en-US" sz="12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☆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050B222-994A-2291-3CB0-2822EDC1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DP5 E2E </a:t>
            </a:r>
            <a:r>
              <a:rPr kumimoji="1" lang="en-US" altLang="ko-KR" sz="2800" b="1" err="1">
                <a:solidFill>
                  <a:prstClr val="black"/>
                </a:solidFill>
                <a:latin typeface="맑은 고딕"/>
                <a:ea typeface="맑은 고딕"/>
              </a:rPr>
              <a:t>개발시간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1" lang="en-US" altLang="ko-KR" sz="2800" b="1" err="1">
                <a:solidFill>
                  <a:prstClr val="black"/>
                </a:solidFill>
                <a:latin typeface="맑은 고딕"/>
                <a:ea typeface="맑은 고딕"/>
              </a:rPr>
              <a:t>최적화</a:t>
            </a:r>
            <a:endParaRPr lang="en-US" altLang="ko-KR" sz="2800" b="1" err="1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F54AFD-D083-364B-D34E-701C3E7AE424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18CD34-28D5-AFDB-B494-AB0018BE355C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4FC7AC7-EC16-2A2E-A65C-18013B45727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9CFA0DB-8E06-5E1C-42BB-4690A3406A44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2882E3A-E382-A184-0F0D-B62003211CF0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7F5BD93-8583-7325-4030-BDBED69A1198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0AFE867-D905-DD3F-1832-7308C2D08513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F9EF9F80-420B-547F-92A7-9EB79389E4D1}"/>
              </a:ext>
            </a:extLst>
          </p:cNvPr>
          <p:cNvSpPr/>
          <p:nvPr/>
        </p:nvSpPr>
        <p:spPr>
          <a:xfrm>
            <a:off x="2544628" y="1829158"/>
            <a:ext cx="1101620" cy="254478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/>
          <a:p>
            <a:pPr algn="ctr"/>
            <a:r>
              <a:rPr lang="en-US" sz="120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Workflow 1</a:t>
            </a: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A5141770-0936-9400-555D-D288F2440D76}"/>
              </a:ext>
            </a:extLst>
          </p:cNvPr>
          <p:cNvSpPr/>
          <p:nvPr/>
        </p:nvSpPr>
        <p:spPr>
          <a:xfrm>
            <a:off x="2654844" y="2178105"/>
            <a:ext cx="900000" cy="33135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IR-Converter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8D1293DC-AEFB-161B-DA57-6AB996E12785}"/>
              </a:ext>
            </a:extLst>
          </p:cNvPr>
          <p:cNvSpPr/>
          <p:nvPr/>
        </p:nvSpPr>
        <p:spPr>
          <a:xfrm>
            <a:off x="1364520" y="2831551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Cache 1</a:t>
            </a:r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F4D3DE10-B7A2-D71C-6E56-B0CAD8602F30}"/>
              </a:ext>
            </a:extLst>
          </p:cNvPr>
          <p:cNvSpPr/>
          <p:nvPr/>
        </p:nvSpPr>
        <p:spPr>
          <a:xfrm>
            <a:off x="2655189" y="2749603"/>
            <a:ext cx="900000" cy="35857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Optimizer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24" name="순서도: 대체 처리 23">
            <a:extLst>
              <a:ext uri="{FF2B5EF4-FFF2-40B4-BE49-F238E27FC236}">
                <a16:creationId xmlns:a16="http://schemas.microsoft.com/office/drawing/2014/main" id="{707BFBB8-B386-9CB9-7857-B4F900BC5FCA}"/>
              </a:ext>
            </a:extLst>
          </p:cNvPr>
          <p:cNvSpPr/>
          <p:nvPr/>
        </p:nvSpPr>
        <p:spPr>
          <a:xfrm>
            <a:off x="2646463" y="3339247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>
              <a:solidFill>
                <a:prstClr val="black"/>
              </a:solidFill>
            </a:endParaRPr>
          </a:p>
        </p:txBody>
      </p:sp>
      <p:sp>
        <p:nvSpPr>
          <p:cNvPr id="26" name="순서도: 대체 처리 25">
            <a:extLst>
              <a:ext uri="{FF2B5EF4-FFF2-40B4-BE49-F238E27FC236}">
                <a16:creationId xmlns:a16="http://schemas.microsoft.com/office/drawing/2014/main" id="{50D6F5E5-B222-0F60-856F-321858D4EB67}"/>
              </a:ext>
            </a:extLst>
          </p:cNvPr>
          <p:cNvSpPr/>
          <p:nvPr/>
        </p:nvSpPr>
        <p:spPr>
          <a:xfrm>
            <a:off x="2655879" y="3928890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Compiler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99C1719-367D-3686-34F3-B071AB3F8B61}"/>
              </a:ext>
            </a:extLst>
          </p:cNvPr>
          <p:cNvCxnSpPr/>
          <p:nvPr/>
        </p:nvCxnSpPr>
        <p:spPr>
          <a:xfrm flipH="1">
            <a:off x="3102096" y="2531714"/>
            <a:ext cx="5118" cy="228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E577C94-524B-8820-A6EA-A8B772BF78B4}"/>
              </a:ext>
            </a:extLst>
          </p:cNvPr>
          <p:cNvCxnSpPr>
            <a:cxnSpLocks/>
          </p:cNvCxnSpPr>
          <p:nvPr/>
        </p:nvCxnSpPr>
        <p:spPr>
          <a:xfrm flipH="1">
            <a:off x="3102095" y="3112285"/>
            <a:ext cx="5118" cy="228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DBFB3E0-5F87-A6C6-E4B4-D86CB56C8C25}"/>
              </a:ext>
            </a:extLst>
          </p:cNvPr>
          <p:cNvCxnSpPr>
            <a:cxnSpLocks/>
          </p:cNvCxnSpPr>
          <p:nvPr/>
        </p:nvCxnSpPr>
        <p:spPr>
          <a:xfrm flipH="1">
            <a:off x="3093024" y="3701928"/>
            <a:ext cx="5118" cy="228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F4091AD-BC87-187C-71C8-21F02612EEFD}"/>
              </a:ext>
            </a:extLst>
          </p:cNvPr>
          <p:cNvCxnSpPr>
            <a:cxnSpLocks/>
            <a:stCxn id="14" idx="3"/>
            <a:endCxn id="96" idx="1"/>
          </p:cNvCxnSpPr>
          <p:nvPr/>
        </p:nvCxnSpPr>
        <p:spPr>
          <a:xfrm>
            <a:off x="2264520" y="3101551"/>
            <a:ext cx="2801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순서도: 대체 처리 93">
            <a:extLst>
              <a:ext uri="{FF2B5EF4-FFF2-40B4-BE49-F238E27FC236}">
                <a16:creationId xmlns:a16="http://schemas.microsoft.com/office/drawing/2014/main" id="{8189E0F2-243E-858B-F059-83BA6143C695}"/>
              </a:ext>
            </a:extLst>
          </p:cNvPr>
          <p:cNvSpPr/>
          <p:nvPr/>
        </p:nvSpPr>
        <p:spPr>
          <a:xfrm>
            <a:off x="8791140" y="2815218"/>
            <a:ext cx="900000" cy="540000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Shared</a:t>
            </a:r>
          </a:p>
          <a:p>
            <a:pPr algn="ctr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Cache</a:t>
            </a:r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96" name="순서도: 대체 처리 95">
            <a:extLst>
              <a:ext uri="{FF2B5EF4-FFF2-40B4-BE49-F238E27FC236}">
                <a16:creationId xmlns:a16="http://schemas.microsoft.com/office/drawing/2014/main" id="{F9EF9F80-420B-547F-92A7-9EB79389E4D1}"/>
              </a:ext>
            </a:extLst>
          </p:cNvPr>
          <p:cNvSpPr/>
          <p:nvPr/>
        </p:nvSpPr>
        <p:spPr>
          <a:xfrm>
            <a:off x="2544628" y="1829158"/>
            <a:ext cx="1101620" cy="254478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Workflow 1</a:t>
            </a: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97" name="순서도: 대체 처리 96">
            <a:extLst>
              <a:ext uri="{FF2B5EF4-FFF2-40B4-BE49-F238E27FC236}">
                <a16:creationId xmlns:a16="http://schemas.microsoft.com/office/drawing/2014/main" id="{A5141770-0936-9400-555D-D288F2440D76}"/>
              </a:ext>
            </a:extLst>
          </p:cNvPr>
          <p:cNvSpPr/>
          <p:nvPr/>
        </p:nvSpPr>
        <p:spPr>
          <a:xfrm>
            <a:off x="2654844" y="2178105"/>
            <a:ext cx="900000" cy="33135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IR-Converter</a:t>
            </a:r>
          </a:p>
        </p:txBody>
      </p:sp>
      <p:sp>
        <p:nvSpPr>
          <p:cNvPr id="98" name="순서도: 대체 처리 97">
            <a:extLst>
              <a:ext uri="{FF2B5EF4-FFF2-40B4-BE49-F238E27FC236}">
                <a16:creationId xmlns:a16="http://schemas.microsoft.com/office/drawing/2014/main" id="{F4D3DE10-B7A2-D71C-6E56-B0CAD8602F30}"/>
              </a:ext>
            </a:extLst>
          </p:cNvPr>
          <p:cNvSpPr/>
          <p:nvPr/>
        </p:nvSpPr>
        <p:spPr>
          <a:xfrm>
            <a:off x="2654844" y="2750039"/>
            <a:ext cx="900000" cy="35857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Optimizer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103" name="순서도: 대체 처리 102">
            <a:extLst>
              <a:ext uri="{FF2B5EF4-FFF2-40B4-BE49-F238E27FC236}">
                <a16:creationId xmlns:a16="http://schemas.microsoft.com/office/drawing/2014/main" id="{707BFBB8-B386-9CB9-7857-B4F900BC5FCA}"/>
              </a:ext>
            </a:extLst>
          </p:cNvPr>
          <p:cNvSpPr/>
          <p:nvPr/>
        </p:nvSpPr>
        <p:spPr>
          <a:xfrm>
            <a:off x="2654844" y="3339245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>
              <a:solidFill>
                <a:prstClr val="black"/>
              </a:solidFill>
            </a:endParaRPr>
          </a:p>
        </p:txBody>
      </p:sp>
      <p:sp>
        <p:nvSpPr>
          <p:cNvPr id="104" name="순서도: 대체 처리 103">
            <a:extLst>
              <a:ext uri="{FF2B5EF4-FFF2-40B4-BE49-F238E27FC236}">
                <a16:creationId xmlns:a16="http://schemas.microsoft.com/office/drawing/2014/main" id="{50D6F5E5-B222-0F60-856F-321858D4EB67}"/>
              </a:ext>
            </a:extLst>
          </p:cNvPr>
          <p:cNvSpPr/>
          <p:nvPr/>
        </p:nvSpPr>
        <p:spPr>
          <a:xfrm>
            <a:off x="2654844" y="3928889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Compiler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E99C1719-367D-3686-34F3-B071AB3F8B61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>
            <a:off x="3104844" y="2509463"/>
            <a:ext cx="0" cy="24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6E577C94-524B-8820-A6EA-A8B772BF78B4}"/>
              </a:ext>
            </a:extLst>
          </p:cNvPr>
          <p:cNvCxnSpPr>
            <a:cxnSpLocks/>
            <a:stCxn id="98" idx="2"/>
            <a:endCxn id="103" idx="0"/>
          </p:cNvCxnSpPr>
          <p:nvPr/>
        </p:nvCxnSpPr>
        <p:spPr>
          <a:xfrm>
            <a:off x="3104844" y="3108612"/>
            <a:ext cx="0" cy="230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9DBFB3E0-5F87-A6C6-E4B4-D86CB56C8C25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3104844" y="3706888"/>
            <a:ext cx="0" cy="22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8806AF53-59FE-AD2E-ADAA-CC113068FD81}"/>
              </a:ext>
            </a:extLst>
          </p:cNvPr>
          <p:cNvCxnSpPr>
            <a:cxnSpLocks/>
            <a:stCxn id="69" idx="3"/>
            <a:endCxn id="94" idx="1"/>
          </p:cNvCxnSpPr>
          <p:nvPr/>
        </p:nvCxnSpPr>
        <p:spPr>
          <a:xfrm>
            <a:off x="8473674" y="3085218"/>
            <a:ext cx="3174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순서도: 대체 처리 32">
            <a:extLst>
              <a:ext uri="{FF2B5EF4-FFF2-40B4-BE49-F238E27FC236}">
                <a16:creationId xmlns:a16="http://schemas.microsoft.com/office/drawing/2014/main" id="{9575A5E5-8BAD-8BF5-0EDD-D15094B82175}"/>
              </a:ext>
            </a:extLst>
          </p:cNvPr>
          <p:cNvSpPr/>
          <p:nvPr/>
        </p:nvSpPr>
        <p:spPr>
          <a:xfrm>
            <a:off x="4085948" y="2822478"/>
            <a:ext cx="900000" cy="540000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91440" tIns="36000" rIns="91440" bIns="0"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Cache 2</a:t>
            </a:r>
            <a:endParaRPr lang="ko-KR" altLang="en-US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5ED82C2-22D9-BF7C-9938-013A76756391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4985948" y="3092478"/>
            <a:ext cx="2801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순서도: 대체 처리 34">
            <a:extLst>
              <a:ext uri="{FF2B5EF4-FFF2-40B4-BE49-F238E27FC236}">
                <a16:creationId xmlns:a16="http://schemas.microsoft.com/office/drawing/2014/main" id="{C106D5F8-5664-5B69-33C1-2ECCCC687E0A}"/>
              </a:ext>
            </a:extLst>
          </p:cNvPr>
          <p:cNvSpPr/>
          <p:nvPr/>
        </p:nvSpPr>
        <p:spPr>
          <a:xfrm>
            <a:off x="5266056" y="1820085"/>
            <a:ext cx="1101620" cy="254478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Workflow 2</a:t>
            </a: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36" name="순서도: 대체 처리 35">
            <a:extLst>
              <a:ext uri="{FF2B5EF4-FFF2-40B4-BE49-F238E27FC236}">
                <a16:creationId xmlns:a16="http://schemas.microsoft.com/office/drawing/2014/main" id="{CF219AE4-3F93-A124-BDF4-A2507E33B56F}"/>
              </a:ext>
            </a:extLst>
          </p:cNvPr>
          <p:cNvSpPr/>
          <p:nvPr/>
        </p:nvSpPr>
        <p:spPr>
          <a:xfrm>
            <a:off x="5376272" y="2169032"/>
            <a:ext cx="900000" cy="33135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IR-Converter</a:t>
            </a:r>
          </a:p>
        </p:txBody>
      </p: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5595359F-33A1-F14A-32EC-F4CF18AC4E11}"/>
              </a:ext>
            </a:extLst>
          </p:cNvPr>
          <p:cNvSpPr/>
          <p:nvPr/>
        </p:nvSpPr>
        <p:spPr>
          <a:xfrm>
            <a:off x="5376272" y="2740966"/>
            <a:ext cx="900000" cy="35857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Optimizer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38" name="순서도: 대체 처리 37">
            <a:extLst>
              <a:ext uri="{FF2B5EF4-FFF2-40B4-BE49-F238E27FC236}">
                <a16:creationId xmlns:a16="http://schemas.microsoft.com/office/drawing/2014/main" id="{F1B6C015-6D91-F996-870E-C773EF5AB093}"/>
              </a:ext>
            </a:extLst>
          </p:cNvPr>
          <p:cNvSpPr/>
          <p:nvPr/>
        </p:nvSpPr>
        <p:spPr>
          <a:xfrm>
            <a:off x="5376272" y="3330172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>
              <a:solidFill>
                <a:prstClr val="black"/>
              </a:solidFill>
            </a:endParaRPr>
          </a:p>
        </p:txBody>
      </p:sp>
      <p:sp>
        <p:nvSpPr>
          <p:cNvPr id="39" name="순서도: 대체 처리 38">
            <a:extLst>
              <a:ext uri="{FF2B5EF4-FFF2-40B4-BE49-F238E27FC236}">
                <a16:creationId xmlns:a16="http://schemas.microsoft.com/office/drawing/2014/main" id="{C96E1007-2DA4-D457-1574-70884BA02864}"/>
              </a:ext>
            </a:extLst>
          </p:cNvPr>
          <p:cNvSpPr/>
          <p:nvPr/>
        </p:nvSpPr>
        <p:spPr>
          <a:xfrm>
            <a:off x="5376272" y="3919816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Compiler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F4E7D3A-355A-01A7-2E6B-F5B773F00431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5826272" y="2500390"/>
            <a:ext cx="0" cy="24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78D0CD9-167A-F9A1-B8A8-EF47E52654D4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5826272" y="3099539"/>
            <a:ext cx="0" cy="230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624344DB-CD58-411B-64D7-809A4FA5FB62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5826272" y="3697815"/>
            <a:ext cx="0" cy="22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순서도: 대체 처리 68">
            <a:extLst>
              <a:ext uri="{FF2B5EF4-FFF2-40B4-BE49-F238E27FC236}">
                <a16:creationId xmlns:a16="http://schemas.microsoft.com/office/drawing/2014/main" id="{E1F4D21D-DBBC-50EF-5EE2-AE5775E2DEFD}"/>
              </a:ext>
            </a:extLst>
          </p:cNvPr>
          <p:cNvSpPr/>
          <p:nvPr/>
        </p:nvSpPr>
        <p:spPr>
          <a:xfrm>
            <a:off x="7372054" y="1812825"/>
            <a:ext cx="1101620" cy="254478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Workflow 1</a:t>
            </a: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70" name="순서도: 대체 처리 69">
            <a:extLst>
              <a:ext uri="{FF2B5EF4-FFF2-40B4-BE49-F238E27FC236}">
                <a16:creationId xmlns:a16="http://schemas.microsoft.com/office/drawing/2014/main" id="{731F725F-1A18-4AF4-BEDE-DE3E14D30115}"/>
              </a:ext>
            </a:extLst>
          </p:cNvPr>
          <p:cNvSpPr/>
          <p:nvPr/>
        </p:nvSpPr>
        <p:spPr>
          <a:xfrm>
            <a:off x="7482270" y="2161772"/>
            <a:ext cx="900000" cy="33135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IR-Converter</a:t>
            </a:r>
          </a:p>
        </p:txBody>
      </p:sp>
      <p:sp>
        <p:nvSpPr>
          <p:cNvPr id="71" name="순서도: 대체 처리 70">
            <a:extLst>
              <a:ext uri="{FF2B5EF4-FFF2-40B4-BE49-F238E27FC236}">
                <a16:creationId xmlns:a16="http://schemas.microsoft.com/office/drawing/2014/main" id="{92815BF6-1781-D165-75F9-5141E5E3CB74}"/>
              </a:ext>
            </a:extLst>
          </p:cNvPr>
          <p:cNvSpPr/>
          <p:nvPr/>
        </p:nvSpPr>
        <p:spPr>
          <a:xfrm>
            <a:off x="7482270" y="2733706"/>
            <a:ext cx="900000" cy="35857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Optimizer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72" name="순서도: 대체 처리 71">
            <a:extLst>
              <a:ext uri="{FF2B5EF4-FFF2-40B4-BE49-F238E27FC236}">
                <a16:creationId xmlns:a16="http://schemas.microsoft.com/office/drawing/2014/main" id="{41BA60A4-BB04-2795-4DAA-DC5735834F64}"/>
              </a:ext>
            </a:extLst>
          </p:cNvPr>
          <p:cNvSpPr/>
          <p:nvPr/>
        </p:nvSpPr>
        <p:spPr>
          <a:xfrm>
            <a:off x="7482270" y="3322912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>
              <a:solidFill>
                <a:prstClr val="black"/>
              </a:solidFill>
            </a:endParaRPr>
          </a:p>
        </p:txBody>
      </p:sp>
      <p:sp>
        <p:nvSpPr>
          <p:cNvPr id="73" name="순서도: 대체 처리 72">
            <a:extLst>
              <a:ext uri="{FF2B5EF4-FFF2-40B4-BE49-F238E27FC236}">
                <a16:creationId xmlns:a16="http://schemas.microsoft.com/office/drawing/2014/main" id="{C36A2440-CA75-0317-6FB3-A264FAF8F4CD}"/>
              </a:ext>
            </a:extLst>
          </p:cNvPr>
          <p:cNvSpPr/>
          <p:nvPr/>
        </p:nvSpPr>
        <p:spPr>
          <a:xfrm>
            <a:off x="7482270" y="3912556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Compiler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01523CB-0960-D3CE-A6D0-3BA9FCCD8D56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>
            <a:off x="7932270" y="2493130"/>
            <a:ext cx="0" cy="24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4EA21E5-D753-4E55-F0A4-829DCAF38988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>
            <a:off x="7932270" y="3092279"/>
            <a:ext cx="0" cy="230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A26B7F2-3FCF-7D27-B922-A0C37050FF20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>
            <a:off x="7932270" y="3690555"/>
            <a:ext cx="0" cy="22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6210BBD0-E026-E93C-F122-D412F5017FE2}"/>
              </a:ext>
            </a:extLst>
          </p:cNvPr>
          <p:cNvCxnSpPr>
            <a:cxnSpLocks/>
            <a:stCxn id="94" idx="3"/>
            <a:endCxn id="114" idx="1"/>
          </p:cNvCxnSpPr>
          <p:nvPr/>
        </p:nvCxnSpPr>
        <p:spPr>
          <a:xfrm>
            <a:off x="9691140" y="3085218"/>
            <a:ext cx="2816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순서도: 대체 처리 113">
            <a:extLst>
              <a:ext uri="{FF2B5EF4-FFF2-40B4-BE49-F238E27FC236}">
                <a16:creationId xmlns:a16="http://schemas.microsoft.com/office/drawing/2014/main" id="{F1295492-F1B9-C8B5-8858-247A25A184E0}"/>
              </a:ext>
            </a:extLst>
          </p:cNvPr>
          <p:cNvSpPr/>
          <p:nvPr/>
        </p:nvSpPr>
        <p:spPr>
          <a:xfrm>
            <a:off x="9972766" y="1812825"/>
            <a:ext cx="1101620" cy="254478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</a:rPr>
              <a:t>Workflow 2</a:t>
            </a: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  <a:p>
            <a:pPr algn="ctr"/>
            <a:endParaRPr lang="en-US" altLang="ko-KR" sz="1200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115" name="순서도: 대체 처리 114">
            <a:extLst>
              <a:ext uri="{FF2B5EF4-FFF2-40B4-BE49-F238E27FC236}">
                <a16:creationId xmlns:a16="http://schemas.microsoft.com/office/drawing/2014/main" id="{E21804D9-6D0E-89F0-6D84-81A4FEA39724}"/>
              </a:ext>
            </a:extLst>
          </p:cNvPr>
          <p:cNvSpPr/>
          <p:nvPr/>
        </p:nvSpPr>
        <p:spPr>
          <a:xfrm>
            <a:off x="10082982" y="2161772"/>
            <a:ext cx="900000" cy="331358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IR-Converter</a:t>
            </a:r>
          </a:p>
        </p:txBody>
      </p:sp>
      <p:sp>
        <p:nvSpPr>
          <p:cNvPr id="117" name="순서도: 대체 처리 116">
            <a:extLst>
              <a:ext uri="{FF2B5EF4-FFF2-40B4-BE49-F238E27FC236}">
                <a16:creationId xmlns:a16="http://schemas.microsoft.com/office/drawing/2014/main" id="{8E6B97A8-7C53-D806-84F2-326F2E96A22B}"/>
              </a:ext>
            </a:extLst>
          </p:cNvPr>
          <p:cNvSpPr/>
          <p:nvPr/>
        </p:nvSpPr>
        <p:spPr>
          <a:xfrm>
            <a:off x="10082982" y="2733706"/>
            <a:ext cx="900000" cy="35857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Optimizer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122" name="순서도: 대체 처리 121">
            <a:extLst>
              <a:ext uri="{FF2B5EF4-FFF2-40B4-BE49-F238E27FC236}">
                <a16:creationId xmlns:a16="http://schemas.microsoft.com/office/drawing/2014/main" id="{4A8FD464-85F1-1D4A-68EF-F14F18C925D1}"/>
              </a:ext>
            </a:extLst>
          </p:cNvPr>
          <p:cNvSpPr/>
          <p:nvPr/>
        </p:nvSpPr>
        <p:spPr>
          <a:xfrm>
            <a:off x="10082982" y="3322912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Quantizer</a:t>
            </a:r>
            <a:endParaRPr lang="ko-KR">
              <a:solidFill>
                <a:prstClr val="black"/>
              </a:solidFill>
            </a:endParaRPr>
          </a:p>
        </p:txBody>
      </p:sp>
      <p:sp>
        <p:nvSpPr>
          <p:cNvPr id="123" name="순서도: 대체 처리 122">
            <a:extLst>
              <a:ext uri="{FF2B5EF4-FFF2-40B4-BE49-F238E27FC236}">
                <a16:creationId xmlns:a16="http://schemas.microsoft.com/office/drawing/2014/main" id="{56DC661B-5798-F6E8-D9BB-90DB0A592326}"/>
              </a:ext>
            </a:extLst>
          </p:cNvPr>
          <p:cNvSpPr/>
          <p:nvPr/>
        </p:nvSpPr>
        <p:spPr>
          <a:xfrm>
            <a:off x="10082982" y="3912556"/>
            <a:ext cx="900000" cy="367643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wrap="none" lIns="36000" tIns="45720" rIns="36000" bIns="45720"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/>
              </a:rPr>
              <a:t>Compiler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E947ABF-CCD6-4153-7A67-9BEB27687D64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>
            <a:off x="10532982" y="2493130"/>
            <a:ext cx="0" cy="24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47DADBD0-498C-BFA9-C33F-FB883E169736}"/>
              </a:ext>
            </a:extLst>
          </p:cNvPr>
          <p:cNvCxnSpPr>
            <a:cxnSpLocks/>
            <a:stCxn id="117" idx="2"/>
            <a:endCxn id="122" idx="0"/>
          </p:cNvCxnSpPr>
          <p:nvPr/>
        </p:nvCxnSpPr>
        <p:spPr>
          <a:xfrm>
            <a:off x="10532982" y="3092279"/>
            <a:ext cx="0" cy="230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E9512FC7-3496-73D0-B9FB-0341A6063B4C}"/>
              </a:ext>
            </a:extLst>
          </p:cNvPr>
          <p:cNvCxnSpPr>
            <a:cxnSpLocks/>
            <a:stCxn id="122" idx="2"/>
            <a:endCxn id="123" idx="0"/>
          </p:cNvCxnSpPr>
          <p:nvPr/>
        </p:nvCxnSpPr>
        <p:spPr>
          <a:xfrm>
            <a:off x="10532982" y="3690555"/>
            <a:ext cx="0" cy="222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234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31B1-80A0-2F10-F625-4C7D20A4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DE4A1-AE1B-3E8B-563F-1329AE55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1876"/>
            <a:ext cx="10515600" cy="765843"/>
          </a:xfrm>
        </p:spPr>
        <p:txBody>
          <a:bodyPr>
            <a:normAutofit/>
          </a:bodyPr>
          <a:lstStyle/>
          <a:p>
            <a:pPr algn="ctr"/>
            <a:r>
              <a:rPr kumimoji="1" lang="ko-KR" altLang="en-US" sz="3600" b="1">
                <a:ea typeface="맑은 고딕"/>
              </a:rPr>
              <a:t>감사합니다</a:t>
            </a:r>
            <a:r>
              <a:rPr kumimoji="1" lang="en-US" altLang="ko-KR" sz="3600" b="1">
                <a:ea typeface="맑은 고딕"/>
              </a:rPr>
              <a:t>. </a:t>
            </a:r>
            <a:r>
              <a:rPr kumimoji="1" lang="en-US" altLang="ko-KR" sz="3600" b="1" err="1">
                <a:ea typeface="맑은 고딕"/>
              </a:rPr>
              <a:t>그리고</a:t>
            </a:r>
            <a:r>
              <a:rPr kumimoji="1" lang="en-US" altLang="ko-KR" sz="3600" b="1">
                <a:ea typeface="맑은 고딕"/>
              </a:rPr>
              <a:t> APPENDIX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FD8DE7-0BAE-FE73-DC03-A0A15D632482}"/>
              </a:ext>
            </a:extLst>
          </p:cNvPr>
          <p:cNvSpPr/>
          <p:nvPr/>
        </p:nvSpPr>
        <p:spPr>
          <a:xfrm flipV="1">
            <a:off x="5426970" y="3899102"/>
            <a:ext cx="1338059" cy="457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271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E9-DCE4-330B-07A9-6B310FB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4C08B143-18E1-891C-6E33-7F705858D267}"/>
              </a:ext>
            </a:extLst>
          </p:cNvPr>
          <p:cNvCxnSpPr>
            <a:cxnSpLocks/>
            <a:stCxn id="175" idx="3"/>
            <a:endCxn id="32" idx="1"/>
          </p:cNvCxnSpPr>
          <p:nvPr/>
        </p:nvCxnSpPr>
        <p:spPr>
          <a:xfrm>
            <a:off x="8845017" y="2714359"/>
            <a:ext cx="822931" cy="158459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F9335B2A-6674-7ED4-48B6-17C461BC34E1}"/>
              </a:ext>
            </a:extLst>
          </p:cNvPr>
          <p:cNvCxnSpPr>
            <a:cxnSpLocks/>
            <a:stCxn id="230" idx="3"/>
            <a:endCxn id="32" idx="1"/>
          </p:cNvCxnSpPr>
          <p:nvPr/>
        </p:nvCxnSpPr>
        <p:spPr>
          <a:xfrm>
            <a:off x="8845017" y="3073894"/>
            <a:ext cx="822931" cy="1225063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70A5577D-4F1D-17EF-0F7D-0529FB37F1C5}"/>
              </a:ext>
            </a:extLst>
          </p:cNvPr>
          <p:cNvCxnSpPr>
            <a:cxnSpLocks/>
            <a:stCxn id="231" idx="3"/>
            <a:endCxn id="31" idx="1"/>
          </p:cNvCxnSpPr>
          <p:nvPr/>
        </p:nvCxnSpPr>
        <p:spPr>
          <a:xfrm flipV="1">
            <a:off x="8845017" y="3351271"/>
            <a:ext cx="822931" cy="8215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직선 화살표 연결선 275">
            <a:extLst>
              <a:ext uri="{FF2B5EF4-FFF2-40B4-BE49-F238E27FC236}">
                <a16:creationId xmlns:a16="http://schemas.microsoft.com/office/drawing/2014/main" id="{1783BF5B-D90F-1F8B-3770-6445C3A918A2}"/>
              </a:ext>
            </a:extLst>
          </p:cNvPr>
          <p:cNvCxnSpPr>
            <a:cxnSpLocks/>
            <a:stCxn id="232" idx="3"/>
            <a:endCxn id="31" idx="1"/>
          </p:cNvCxnSpPr>
          <p:nvPr/>
        </p:nvCxnSpPr>
        <p:spPr>
          <a:xfrm flipV="1">
            <a:off x="8845017" y="3351271"/>
            <a:ext cx="822931" cy="44169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DC5E92E4-97BA-C479-F349-0C7966B51931}"/>
              </a:ext>
            </a:extLst>
          </p:cNvPr>
          <p:cNvCxnSpPr>
            <a:cxnSpLocks/>
            <a:stCxn id="234" idx="3"/>
            <a:endCxn id="301" idx="1"/>
          </p:cNvCxnSpPr>
          <p:nvPr/>
        </p:nvCxnSpPr>
        <p:spPr>
          <a:xfrm>
            <a:off x="8845017" y="4512034"/>
            <a:ext cx="822931" cy="16822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57A7695D-EF98-9CC5-6856-D9C73A2890AA}"/>
              </a:ext>
            </a:extLst>
          </p:cNvPr>
          <p:cNvCxnSpPr>
            <a:cxnSpLocks/>
            <a:stCxn id="236" idx="3"/>
            <a:endCxn id="301" idx="1"/>
          </p:cNvCxnSpPr>
          <p:nvPr/>
        </p:nvCxnSpPr>
        <p:spPr>
          <a:xfrm>
            <a:off x="8845017" y="5590639"/>
            <a:ext cx="822931" cy="60369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A6F28C0E-97D4-968D-36AA-B06449A89471}"/>
              </a:ext>
            </a:extLst>
          </p:cNvPr>
          <p:cNvCxnSpPr>
            <a:cxnSpLocks/>
            <a:stCxn id="294" idx="3"/>
            <a:endCxn id="301" idx="1"/>
          </p:cNvCxnSpPr>
          <p:nvPr/>
        </p:nvCxnSpPr>
        <p:spPr>
          <a:xfrm>
            <a:off x="8845017" y="5231104"/>
            <a:ext cx="822931" cy="9632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E22294B4-C205-420F-CDED-335E5D507F24}"/>
              </a:ext>
            </a:extLst>
          </p:cNvPr>
          <p:cNvCxnSpPr>
            <a:cxnSpLocks/>
            <a:stCxn id="154" idx="3"/>
            <a:endCxn id="29" idx="1"/>
          </p:cNvCxnSpPr>
          <p:nvPr/>
        </p:nvCxnSpPr>
        <p:spPr>
          <a:xfrm>
            <a:off x="8845017" y="1995289"/>
            <a:ext cx="822931" cy="40829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A961294C-A35E-6B73-CEA4-F4305D841E48}"/>
              </a:ext>
            </a:extLst>
          </p:cNvPr>
          <p:cNvCxnSpPr>
            <a:cxnSpLocks/>
            <a:stCxn id="174" idx="3"/>
            <a:endCxn id="29" idx="1"/>
          </p:cNvCxnSpPr>
          <p:nvPr/>
        </p:nvCxnSpPr>
        <p:spPr>
          <a:xfrm>
            <a:off x="8845017" y="2354824"/>
            <a:ext cx="822931" cy="4876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B8079A3B-A0AB-7821-76AD-E96B2FF55E92}"/>
              </a:ext>
            </a:extLst>
          </p:cNvPr>
          <p:cNvCxnSpPr>
            <a:cxnSpLocks/>
            <a:stCxn id="216" idx="3"/>
            <a:endCxn id="29" idx="1"/>
          </p:cNvCxnSpPr>
          <p:nvPr/>
        </p:nvCxnSpPr>
        <p:spPr>
          <a:xfrm>
            <a:off x="8845017" y="1635754"/>
            <a:ext cx="822931" cy="7678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07D9CFCC-DEA1-A8F9-DED6-086685AD33F7}"/>
              </a:ext>
            </a:extLst>
          </p:cNvPr>
          <p:cNvCxnSpPr>
            <a:cxnSpLocks/>
            <a:stCxn id="174" idx="3"/>
            <a:endCxn id="33" idx="1"/>
          </p:cNvCxnSpPr>
          <p:nvPr/>
        </p:nvCxnSpPr>
        <p:spPr>
          <a:xfrm>
            <a:off x="8845017" y="2354824"/>
            <a:ext cx="822931" cy="289181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>
            <a:extLst>
              <a:ext uri="{FF2B5EF4-FFF2-40B4-BE49-F238E27FC236}">
                <a16:creationId xmlns:a16="http://schemas.microsoft.com/office/drawing/2014/main" id="{00DBE58C-96C8-2D73-37C5-1451CB7AE43D}"/>
              </a:ext>
            </a:extLst>
          </p:cNvPr>
          <p:cNvCxnSpPr>
            <a:cxnSpLocks/>
            <a:stCxn id="233" idx="3"/>
            <a:endCxn id="33" idx="1"/>
          </p:cNvCxnSpPr>
          <p:nvPr/>
        </p:nvCxnSpPr>
        <p:spPr>
          <a:xfrm>
            <a:off x="8845017" y="4152499"/>
            <a:ext cx="822931" cy="10941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직선 화살표 연결선 284">
            <a:extLst>
              <a:ext uri="{FF2B5EF4-FFF2-40B4-BE49-F238E27FC236}">
                <a16:creationId xmlns:a16="http://schemas.microsoft.com/office/drawing/2014/main" id="{668FE8AC-1DD9-9A4E-316F-1C9519262BD1}"/>
              </a:ext>
            </a:extLst>
          </p:cNvPr>
          <p:cNvCxnSpPr>
            <a:cxnSpLocks/>
            <a:stCxn id="235" idx="3"/>
            <a:endCxn id="33" idx="1"/>
          </p:cNvCxnSpPr>
          <p:nvPr/>
        </p:nvCxnSpPr>
        <p:spPr>
          <a:xfrm>
            <a:off x="8845017" y="4871569"/>
            <a:ext cx="822931" cy="37507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직선 화살표 연결선 290">
            <a:extLst>
              <a:ext uri="{FF2B5EF4-FFF2-40B4-BE49-F238E27FC236}">
                <a16:creationId xmlns:a16="http://schemas.microsoft.com/office/drawing/2014/main" id="{D85D9A3E-E321-2B74-76BC-B55E059D7A20}"/>
              </a:ext>
            </a:extLst>
          </p:cNvPr>
          <p:cNvCxnSpPr>
            <a:cxnSpLocks/>
            <a:stCxn id="237" idx="3"/>
            <a:endCxn id="33" idx="1"/>
          </p:cNvCxnSpPr>
          <p:nvPr/>
        </p:nvCxnSpPr>
        <p:spPr>
          <a:xfrm flipV="1">
            <a:off x="8845017" y="5246643"/>
            <a:ext cx="822931" cy="7035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직선 화살표 연결선 306">
            <a:extLst>
              <a:ext uri="{FF2B5EF4-FFF2-40B4-BE49-F238E27FC236}">
                <a16:creationId xmlns:a16="http://schemas.microsoft.com/office/drawing/2014/main" id="{5F12572F-1719-E9F1-E19D-005707FFD044}"/>
              </a:ext>
            </a:extLst>
          </p:cNvPr>
          <p:cNvCxnSpPr>
            <a:cxnSpLocks/>
            <a:stCxn id="238" idx="3"/>
            <a:endCxn id="33" idx="1"/>
          </p:cNvCxnSpPr>
          <p:nvPr/>
        </p:nvCxnSpPr>
        <p:spPr>
          <a:xfrm flipV="1">
            <a:off x="8845017" y="5246643"/>
            <a:ext cx="822931" cy="10630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0E20C29E-B958-EE1D-EFDB-9B3A167C9990}"/>
              </a:ext>
            </a:extLst>
          </p:cNvPr>
          <p:cNvCxnSpPr>
            <a:cxnSpLocks/>
            <a:stCxn id="239" idx="3"/>
            <a:endCxn id="33" idx="1"/>
          </p:cNvCxnSpPr>
          <p:nvPr/>
        </p:nvCxnSpPr>
        <p:spPr>
          <a:xfrm flipV="1">
            <a:off x="8856770" y="5246643"/>
            <a:ext cx="811178" cy="142259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직선 화살표 연결선 482">
            <a:extLst>
              <a:ext uri="{FF2B5EF4-FFF2-40B4-BE49-F238E27FC236}">
                <a16:creationId xmlns:a16="http://schemas.microsoft.com/office/drawing/2014/main" id="{6A662086-C107-C25E-AE84-D7754C0CBE3E}"/>
              </a:ext>
            </a:extLst>
          </p:cNvPr>
          <p:cNvCxnSpPr>
            <a:cxnSpLocks/>
            <a:stCxn id="49" idx="3"/>
            <a:endCxn id="239" idx="1"/>
          </p:cNvCxnSpPr>
          <p:nvPr/>
        </p:nvCxnSpPr>
        <p:spPr>
          <a:xfrm>
            <a:off x="5373055" y="5870223"/>
            <a:ext cx="849432" cy="79901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직선 화살표 연결선 485">
            <a:extLst>
              <a:ext uri="{FF2B5EF4-FFF2-40B4-BE49-F238E27FC236}">
                <a16:creationId xmlns:a16="http://schemas.microsoft.com/office/drawing/2014/main" id="{8D08B44E-E837-6683-7D98-1570A50AF55F}"/>
              </a:ext>
            </a:extLst>
          </p:cNvPr>
          <p:cNvCxnSpPr>
            <a:cxnSpLocks/>
            <a:stCxn id="50" idx="3"/>
            <a:endCxn id="239" idx="1"/>
          </p:cNvCxnSpPr>
          <p:nvPr/>
        </p:nvCxnSpPr>
        <p:spPr>
          <a:xfrm>
            <a:off x="5373055" y="6135323"/>
            <a:ext cx="849432" cy="53391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직선 화살표 연결선 488">
            <a:extLst>
              <a:ext uri="{FF2B5EF4-FFF2-40B4-BE49-F238E27FC236}">
                <a16:creationId xmlns:a16="http://schemas.microsoft.com/office/drawing/2014/main" id="{724B3FC5-7E20-9257-1785-B4838481B5B4}"/>
              </a:ext>
            </a:extLst>
          </p:cNvPr>
          <p:cNvCxnSpPr>
            <a:cxnSpLocks/>
            <a:stCxn id="51" idx="3"/>
            <a:endCxn id="239" idx="1"/>
          </p:cNvCxnSpPr>
          <p:nvPr/>
        </p:nvCxnSpPr>
        <p:spPr>
          <a:xfrm>
            <a:off x="5373055" y="6400423"/>
            <a:ext cx="849432" cy="26881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직선 화살표 연결선 491">
            <a:extLst>
              <a:ext uri="{FF2B5EF4-FFF2-40B4-BE49-F238E27FC236}">
                <a16:creationId xmlns:a16="http://schemas.microsoft.com/office/drawing/2014/main" id="{C4A3C58A-88BF-6090-91A4-72152B1E816E}"/>
              </a:ext>
            </a:extLst>
          </p:cNvPr>
          <p:cNvCxnSpPr>
            <a:cxnSpLocks/>
            <a:stCxn id="52" idx="3"/>
            <a:endCxn id="294" idx="1"/>
          </p:cNvCxnSpPr>
          <p:nvPr/>
        </p:nvCxnSpPr>
        <p:spPr>
          <a:xfrm flipV="1">
            <a:off x="5373055" y="5231104"/>
            <a:ext cx="837679" cy="14344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36A44442-E537-6615-78D7-6043FBF89588}"/>
              </a:ext>
            </a:extLst>
          </p:cNvPr>
          <p:cNvCxnSpPr>
            <a:cxnSpLocks/>
            <a:stCxn id="46" idx="3"/>
            <a:endCxn id="216" idx="1"/>
          </p:cNvCxnSpPr>
          <p:nvPr/>
        </p:nvCxnSpPr>
        <p:spPr>
          <a:xfrm flipV="1">
            <a:off x="5373055" y="1635754"/>
            <a:ext cx="837679" cy="343916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5FCA8D81-ABA3-AD84-68A8-ECF252C40A34}"/>
              </a:ext>
            </a:extLst>
          </p:cNvPr>
          <p:cNvCxnSpPr>
            <a:cxnSpLocks/>
            <a:stCxn id="47" idx="3"/>
            <a:endCxn id="174" idx="1"/>
          </p:cNvCxnSpPr>
          <p:nvPr/>
        </p:nvCxnSpPr>
        <p:spPr>
          <a:xfrm flipV="1">
            <a:off x="5373055" y="2354824"/>
            <a:ext cx="837679" cy="298519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5CF33A5F-934A-1A82-C8DF-908981E82158}"/>
              </a:ext>
            </a:extLst>
          </p:cNvPr>
          <p:cNvCxnSpPr>
            <a:cxnSpLocks/>
            <a:stCxn id="48" idx="3"/>
            <a:endCxn id="154" idx="1"/>
          </p:cNvCxnSpPr>
          <p:nvPr/>
        </p:nvCxnSpPr>
        <p:spPr>
          <a:xfrm flipV="1">
            <a:off x="5373055" y="1995289"/>
            <a:ext cx="837679" cy="360983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직선 화살표 연결선 468">
            <a:extLst>
              <a:ext uri="{FF2B5EF4-FFF2-40B4-BE49-F238E27FC236}">
                <a16:creationId xmlns:a16="http://schemas.microsoft.com/office/drawing/2014/main" id="{DF370900-2DA2-87E6-809F-4D04CB437702}"/>
              </a:ext>
            </a:extLst>
          </p:cNvPr>
          <p:cNvCxnSpPr>
            <a:cxnSpLocks/>
            <a:stCxn id="46" idx="3"/>
            <a:endCxn id="174" idx="1"/>
          </p:cNvCxnSpPr>
          <p:nvPr/>
        </p:nvCxnSpPr>
        <p:spPr>
          <a:xfrm flipV="1">
            <a:off x="5373055" y="2354824"/>
            <a:ext cx="837679" cy="272009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직선 화살표 연결선 472">
            <a:extLst>
              <a:ext uri="{FF2B5EF4-FFF2-40B4-BE49-F238E27FC236}">
                <a16:creationId xmlns:a16="http://schemas.microsoft.com/office/drawing/2014/main" id="{C297ECDF-78EB-860D-E568-5B71ADDFB7EB}"/>
              </a:ext>
            </a:extLst>
          </p:cNvPr>
          <p:cNvCxnSpPr>
            <a:cxnSpLocks/>
            <a:stCxn id="47" idx="3"/>
            <a:endCxn id="237" idx="1"/>
          </p:cNvCxnSpPr>
          <p:nvPr/>
        </p:nvCxnSpPr>
        <p:spPr>
          <a:xfrm>
            <a:off x="5373055" y="5340023"/>
            <a:ext cx="837679" cy="61015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직선 화살표 연결선 476">
            <a:extLst>
              <a:ext uri="{FF2B5EF4-FFF2-40B4-BE49-F238E27FC236}">
                <a16:creationId xmlns:a16="http://schemas.microsoft.com/office/drawing/2014/main" id="{EADBB776-9B5C-56DB-31D4-A0C9FD967BEE}"/>
              </a:ext>
            </a:extLst>
          </p:cNvPr>
          <p:cNvCxnSpPr>
            <a:cxnSpLocks/>
            <a:stCxn id="48" idx="3"/>
            <a:endCxn id="238" idx="1"/>
          </p:cNvCxnSpPr>
          <p:nvPr/>
        </p:nvCxnSpPr>
        <p:spPr>
          <a:xfrm>
            <a:off x="5373055" y="5605123"/>
            <a:ext cx="837679" cy="70458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직선 화살표 연결선 479">
            <a:extLst>
              <a:ext uri="{FF2B5EF4-FFF2-40B4-BE49-F238E27FC236}">
                <a16:creationId xmlns:a16="http://schemas.microsoft.com/office/drawing/2014/main" id="{30984DC3-99FB-EC53-FFAC-B1F4AD1BEF88}"/>
              </a:ext>
            </a:extLst>
          </p:cNvPr>
          <p:cNvCxnSpPr>
            <a:cxnSpLocks/>
            <a:stCxn id="48" idx="3"/>
            <a:endCxn id="239" idx="1"/>
          </p:cNvCxnSpPr>
          <p:nvPr/>
        </p:nvCxnSpPr>
        <p:spPr>
          <a:xfrm>
            <a:off x="5373055" y="5605123"/>
            <a:ext cx="849432" cy="106411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1A69B823-0840-216E-E79A-381415E43EF6}"/>
              </a:ext>
            </a:extLst>
          </p:cNvPr>
          <p:cNvCxnSpPr>
            <a:cxnSpLocks/>
            <a:stCxn id="43" idx="3"/>
            <a:endCxn id="230" idx="1"/>
          </p:cNvCxnSpPr>
          <p:nvPr/>
        </p:nvCxnSpPr>
        <p:spPr>
          <a:xfrm flipV="1">
            <a:off x="5373055" y="3073894"/>
            <a:ext cx="837679" cy="120572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직선 화살표 연결선 337">
            <a:extLst>
              <a:ext uri="{FF2B5EF4-FFF2-40B4-BE49-F238E27FC236}">
                <a16:creationId xmlns:a16="http://schemas.microsoft.com/office/drawing/2014/main" id="{28E82BAE-0C6D-DDAA-CDB6-4640E34CDF84}"/>
              </a:ext>
            </a:extLst>
          </p:cNvPr>
          <p:cNvCxnSpPr>
            <a:cxnSpLocks/>
            <a:stCxn id="38" idx="3"/>
            <a:endCxn id="238" idx="1"/>
          </p:cNvCxnSpPr>
          <p:nvPr/>
        </p:nvCxnSpPr>
        <p:spPr>
          <a:xfrm>
            <a:off x="5373055" y="2954123"/>
            <a:ext cx="837679" cy="335558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직선 화살표 연결선 340">
            <a:extLst>
              <a:ext uri="{FF2B5EF4-FFF2-40B4-BE49-F238E27FC236}">
                <a16:creationId xmlns:a16="http://schemas.microsoft.com/office/drawing/2014/main" id="{EAE7989B-DAFF-E531-BB76-AE69EFC54F12}"/>
              </a:ext>
            </a:extLst>
          </p:cNvPr>
          <p:cNvCxnSpPr>
            <a:cxnSpLocks/>
            <a:stCxn id="39" idx="3"/>
            <a:endCxn id="238" idx="1"/>
          </p:cNvCxnSpPr>
          <p:nvPr/>
        </p:nvCxnSpPr>
        <p:spPr>
          <a:xfrm>
            <a:off x="5373055" y="3219223"/>
            <a:ext cx="837679" cy="309048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직선 화살표 연결선 433">
            <a:extLst>
              <a:ext uri="{FF2B5EF4-FFF2-40B4-BE49-F238E27FC236}">
                <a16:creationId xmlns:a16="http://schemas.microsoft.com/office/drawing/2014/main" id="{C3566C97-6558-C80F-4CD8-5BF1C523FB0A}"/>
              </a:ext>
            </a:extLst>
          </p:cNvPr>
          <p:cNvCxnSpPr>
            <a:cxnSpLocks/>
            <a:stCxn id="41" idx="3"/>
            <a:endCxn id="238" idx="1"/>
          </p:cNvCxnSpPr>
          <p:nvPr/>
        </p:nvCxnSpPr>
        <p:spPr>
          <a:xfrm>
            <a:off x="5373055" y="3749423"/>
            <a:ext cx="837679" cy="256028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직선 화살표 연결선 449">
            <a:extLst>
              <a:ext uri="{FF2B5EF4-FFF2-40B4-BE49-F238E27FC236}">
                <a16:creationId xmlns:a16="http://schemas.microsoft.com/office/drawing/2014/main" id="{6E273A2C-E50E-7510-EF74-EEFE3B071ED7}"/>
              </a:ext>
            </a:extLst>
          </p:cNvPr>
          <p:cNvCxnSpPr>
            <a:cxnSpLocks/>
            <a:stCxn id="44" idx="3"/>
            <a:endCxn id="235" idx="1"/>
          </p:cNvCxnSpPr>
          <p:nvPr/>
        </p:nvCxnSpPr>
        <p:spPr>
          <a:xfrm>
            <a:off x="5373055" y="4544723"/>
            <a:ext cx="837679" cy="32684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직선 화살표 연결선 452">
            <a:extLst>
              <a:ext uri="{FF2B5EF4-FFF2-40B4-BE49-F238E27FC236}">
                <a16:creationId xmlns:a16="http://schemas.microsoft.com/office/drawing/2014/main" id="{DC839A44-77BA-C420-7046-A4AC466E30CB}"/>
              </a:ext>
            </a:extLst>
          </p:cNvPr>
          <p:cNvCxnSpPr>
            <a:cxnSpLocks/>
            <a:stCxn id="44" idx="3"/>
            <a:endCxn id="238" idx="1"/>
          </p:cNvCxnSpPr>
          <p:nvPr/>
        </p:nvCxnSpPr>
        <p:spPr>
          <a:xfrm>
            <a:off x="5373055" y="4544723"/>
            <a:ext cx="837679" cy="176498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직선 화살표 연결선 455">
            <a:extLst>
              <a:ext uri="{FF2B5EF4-FFF2-40B4-BE49-F238E27FC236}">
                <a16:creationId xmlns:a16="http://schemas.microsoft.com/office/drawing/2014/main" id="{CDDC551E-D468-3414-184B-889775F5D199}"/>
              </a:ext>
            </a:extLst>
          </p:cNvPr>
          <p:cNvCxnSpPr>
            <a:cxnSpLocks/>
            <a:stCxn id="44" idx="3"/>
            <a:endCxn id="239" idx="1"/>
          </p:cNvCxnSpPr>
          <p:nvPr/>
        </p:nvCxnSpPr>
        <p:spPr>
          <a:xfrm>
            <a:off x="5373055" y="4544723"/>
            <a:ext cx="849432" cy="212451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직선 화살표 연결선 458">
            <a:extLst>
              <a:ext uri="{FF2B5EF4-FFF2-40B4-BE49-F238E27FC236}">
                <a16:creationId xmlns:a16="http://schemas.microsoft.com/office/drawing/2014/main" id="{0B412A48-F023-7DE2-48AD-701641A0F37C}"/>
              </a:ext>
            </a:extLst>
          </p:cNvPr>
          <p:cNvCxnSpPr>
            <a:cxnSpLocks/>
            <a:stCxn id="45" idx="3"/>
            <a:endCxn id="231" idx="1"/>
          </p:cNvCxnSpPr>
          <p:nvPr/>
        </p:nvCxnSpPr>
        <p:spPr>
          <a:xfrm flipV="1">
            <a:off x="5373055" y="3433429"/>
            <a:ext cx="837679" cy="137639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직선 화살표 연결선 461">
            <a:extLst>
              <a:ext uri="{FF2B5EF4-FFF2-40B4-BE49-F238E27FC236}">
                <a16:creationId xmlns:a16="http://schemas.microsoft.com/office/drawing/2014/main" id="{A11E8CD0-68B3-DE3A-3DBE-2354FBE70426}"/>
              </a:ext>
            </a:extLst>
          </p:cNvPr>
          <p:cNvCxnSpPr>
            <a:cxnSpLocks/>
            <a:stCxn id="45" idx="3"/>
            <a:endCxn id="232" idx="1"/>
          </p:cNvCxnSpPr>
          <p:nvPr/>
        </p:nvCxnSpPr>
        <p:spPr>
          <a:xfrm flipV="1">
            <a:off x="5373055" y="3792964"/>
            <a:ext cx="837679" cy="101685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직선 화살표 연결선 464">
            <a:extLst>
              <a:ext uri="{FF2B5EF4-FFF2-40B4-BE49-F238E27FC236}">
                <a16:creationId xmlns:a16="http://schemas.microsoft.com/office/drawing/2014/main" id="{C576B83C-038A-DA0A-8EAE-377AE5D04FD2}"/>
              </a:ext>
            </a:extLst>
          </p:cNvPr>
          <p:cNvCxnSpPr>
            <a:cxnSpLocks/>
            <a:stCxn id="45" idx="3"/>
            <a:endCxn id="238" idx="1"/>
          </p:cNvCxnSpPr>
          <p:nvPr/>
        </p:nvCxnSpPr>
        <p:spPr>
          <a:xfrm>
            <a:off x="5373055" y="4809823"/>
            <a:ext cx="837679" cy="149988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337BDB8D-AB87-7789-ED27-15FCBB0DB22F}"/>
              </a:ext>
            </a:extLst>
          </p:cNvPr>
          <p:cNvCxnSpPr>
            <a:cxnSpLocks/>
            <a:stCxn id="42" idx="3"/>
            <a:endCxn id="175" idx="1"/>
          </p:cNvCxnSpPr>
          <p:nvPr/>
        </p:nvCxnSpPr>
        <p:spPr>
          <a:xfrm flipV="1">
            <a:off x="5373055" y="2714359"/>
            <a:ext cx="837679" cy="13001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직선 화살표 연결선 216">
            <a:extLst>
              <a:ext uri="{FF2B5EF4-FFF2-40B4-BE49-F238E27FC236}">
                <a16:creationId xmlns:a16="http://schemas.microsoft.com/office/drawing/2014/main" id="{FBE4517C-B78A-5794-26D8-E5998E036CE7}"/>
              </a:ext>
            </a:extLst>
          </p:cNvPr>
          <p:cNvCxnSpPr>
            <a:cxnSpLocks/>
            <a:stCxn id="40" idx="3"/>
            <a:endCxn id="233" idx="1"/>
          </p:cNvCxnSpPr>
          <p:nvPr/>
        </p:nvCxnSpPr>
        <p:spPr>
          <a:xfrm>
            <a:off x="5373055" y="3484323"/>
            <a:ext cx="837679" cy="66817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71EDF233-F1E1-859E-20B4-106EFFB14FAB}"/>
              </a:ext>
            </a:extLst>
          </p:cNvPr>
          <p:cNvCxnSpPr>
            <a:cxnSpLocks/>
            <a:stCxn id="41" idx="3"/>
            <a:endCxn id="216" idx="1"/>
          </p:cNvCxnSpPr>
          <p:nvPr/>
        </p:nvCxnSpPr>
        <p:spPr>
          <a:xfrm flipV="1">
            <a:off x="5373055" y="1635754"/>
            <a:ext cx="837679" cy="211366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직선 화살표 연결선 343">
            <a:extLst>
              <a:ext uri="{FF2B5EF4-FFF2-40B4-BE49-F238E27FC236}">
                <a16:creationId xmlns:a16="http://schemas.microsoft.com/office/drawing/2014/main" id="{4F789960-A4DA-D6C2-0642-F3AB88429F1D}"/>
              </a:ext>
            </a:extLst>
          </p:cNvPr>
          <p:cNvCxnSpPr>
            <a:cxnSpLocks/>
            <a:stCxn id="38" idx="3"/>
            <a:endCxn id="236" idx="1"/>
          </p:cNvCxnSpPr>
          <p:nvPr/>
        </p:nvCxnSpPr>
        <p:spPr>
          <a:xfrm>
            <a:off x="5373055" y="2954123"/>
            <a:ext cx="837679" cy="263651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직선 화살표 연결선 347">
            <a:extLst>
              <a:ext uri="{FF2B5EF4-FFF2-40B4-BE49-F238E27FC236}">
                <a16:creationId xmlns:a16="http://schemas.microsoft.com/office/drawing/2014/main" id="{3D280F8F-62DF-277B-27DA-A6B9038ED20D}"/>
              </a:ext>
            </a:extLst>
          </p:cNvPr>
          <p:cNvCxnSpPr>
            <a:cxnSpLocks/>
            <a:stCxn id="39" idx="3"/>
            <a:endCxn id="233" idx="1"/>
          </p:cNvCxnSpPr>
          <p:nvPr/>
        </p:nvCxnSpPr>
        <p:spPr>
          <a:xfrm>
            <a:off x="5373055" y="3219223"/>
            <a:ext cx="837679" cy="93327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직선 화살표 연결선 350">
            <a:extLst>
              <a:ext uri="{FF2B5EF4-FFF2-40B4-BE49-F238E27FC236}">
                <a16:creationId xmlns:a16="http://schemas.microsoft.com/office/drawing/2014/main" id="{3B87B00F-429B-248D-60B7-2B784E706088}"/>
              </a:ext>
            </a:extLst>
          </p:cNvPr>
          <p:cNvCxnSpPr>
            <a:cxnSpLocks/>
            <a:stCxn id="40" idx="3"/>
            <a:endCxn id="174" idx="1"/>
          </p:cNvCxnSpPr>
          <p:nvPr/>
        </p:nvCxnSpPr>
        <p:spPr>
          <a:xfrm flipV="1">
            <a:off x="5373055" y="2354824"/>
            <a:ext cx="837679" cy="11294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직선 화살표 연결선 354">
            <a:extLst>
              <a:ext uri="{FF2B5EF4-FFF2-40B4-BE49-F238E27FC236}">
                <a16:creationId xmlns:a16="http://schemas.microsoft.com/office/drawing/2014/main" id="{BC44D6EF-D9F0-2EC8-65BE-479A8306C8A5}"/>
              </a:ext>
            </a:extLst>
          </p:cNvPr>
          <p:cNvCxnSpPr>
            <a:cxnSpLocks/>
            <a:stCxn id="41" idx="3"/>
            <a:endCxn id="174" idx="1"/>
          </p:cNvCxnSpPr>
          <p:nvPr/>
        </p:nvCxnSpPr>
        <p:spPr>
          <a:xfrm flipV="1">
            <a:off x="5373055" y="2354824"/>
            <a:ext cx="837679" cy="13945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직선 화살표 연결선 436">
            <a:extLst>
              <a:ext uri="{FF2B5EF4-FFF2-40B4-BE49-F238E27FC236}">
                <a16:creationId xmlns:a16="http://schemas.microsoft.com/office/drawing/2014/main" id="{6D91BE22-5773-879D-D8EC-9642C2C80FDD}"/>
              </a:ext>
            </a:extLst>
          </p:cNvPr>
          <p:cNvCxnSpPr>
            <a:cxnSpLocks/>
            <a:stCxn id="42" idx="3"/>
            <a:endCxn id="231" idx="1"/>
          </p:cNvCxnSpPr>
          <p:nvPr/>
        </p:nvCxnSpPr>
        <p:spPr>
          <a:xfrm flipV="1">
            <a:off x="5373055" y="3433429"/>
            <a:ext cx="837679" cy="58109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직선 화살표 연결선 439">
            <a:extLst>
              <a:ext uri="{FF2B5EF4-FFF2-40B4-BE49-F238E27FC236}">
                <a16:creationId xmlns:a16="http://schemas.microsoft.com/office/drawing/2014/main" id="{02D5F903-B451-F6CD-7D7A-8F41700228F4}"/>
              </a:ext>
            </a:extLst>
          </p:cNvPr>
          <p:cNvCxnSpPr>
            <a:cxnSpLocks/>
            <a:stCxn id="42" idx="3"/>
            <a:endCxn id="232" idx="1"/>
          </p:cNvCxnSpPr>
          <p:nvPr/>
        </p:nvCxnSpPr>
        <p:spPr>
          <a:xfrm flipV="1">
            <a:off x="5373055" y="3792964"/>
            <a:ext cx="837679" cy="22155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직선 화살표 연결선 443">
            <a:extLst>
              <a:ext uri="{FF2B5EF4-FFF2-40B4-BE49-F238E27FC236}">
                <a16:creationId xmlns:a16="http://schemas.microsoft.com/office/drawing/2014/main" id="{915D0CE7-1B06-78D8-9EDF-911D387B0E89}"/>
              </a:ext>
            </a:extLst>
          </p:cNvPr>
          <p:cNvCxnSpPr>
            <a:cxnSpLocks/>
            <a:stCxn id="43" idx="3"/>
            <a:endCxn id="216" idx="1"/>
          </p:cNvCxnSpPr>
          <p:nvPr/>
        </p:nvCxnSpPr>
        <p:spPr>
          <a:xfrm flipV="1">
            <a:off x="5373055" y="1635754"/>
            <a:ext cx="837679" cy="264386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직선 화살표 연결선 446">
            <a:extLst>
              <a:ext uri="{FF2B5EF4-FFF2-40B4-BE49-F238E27FC236}">
                <a16:creationId xmlns:a16="http://schemas.microsoft.com/office/drawing/2014/main" id="{225DF659-E29F-FCBC-8B55-E35381E8ACFF}"/>
              </a:ext>
            </a:extLst>
          </p:cNvPr>
          <p:cNvCxnSpPr>
            <a:cxnSpLocks/>
            <a:stCxn id="43" idx="3"/>
            <a:endCxn id="239" idx="1"/>
          </p:cNvCxnSpPr>
          <p:nvPr/>
        </p:nvCxnSpPr>
        <p:spPr>
          <a:xfrm>
            <a:off x="5373055" y="4279623"/>
            <a:ext cx="849432" cy="238961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B99196C5-03F9-77F4-6606-F4610972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기능 요구사항 </a:t>
            </a:r>
            <a:r>
              <a:rPr kumimoji="1" lang="en-US" altLang="ko-KR" sz="3600" b="1"/>
              <a:t>- APPENDIX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7FA8B-AACC-3E24-37FC-94992AE5CDE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D6574B-D594-8956-2E3E-366667ED668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659710-4195-1B1C-2D09-09A9C7BBE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931907-5E62-5EE8-35D6-48DD83B0AD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E6D2E37-FB19-1366-2D86-B00B69D99DA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9EAB8F-D863-025D-35E3-42E792EFC40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3668ED-7958-FE9D-FC9E-47B4E172F6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AAC01B4-9CEE-62F2-517E-5B4A906EDE14}"/>
              </a:ext>
            </a:extLst>
          </p:cNvPr>
          <p:cNvSpPr/>
          <p:nvPr/>
        </p:nvSpPr>
        <p:spPr>
          <a:xfrm>
            <a:off x="2105087" y="1501354"/>
            <a:ext cx="3267968" cy="2545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프로젝트</a:t>
            </a:r>
            <a:r>
              <a:rPr lang="en-US" altLang="ko-KR" sz="1000">
                <a:effectLst/>
                <a:latin typeface="+mn-ea"/>
              </a:rPr>
              <a:t>/Workflow </a:t>
            </a:r>
            <a:r>
              <a:rPr lang="ko-KR" altLang="en-US" sz="1000">
                <a:effectLst/>
                <a:latin typeface="+mn-ea"/>
              </a:rPr>
              <a:t>진척 현황 파악</a:t>
            </a:r>
            <a:endParaRPr lang="en-US" altLang="ko-KR" sz="1000">
              <a:latin typeface="+mn-ea"/>
            </a:endParaRP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집계 → 자동 집계</a:t>
            </a:r>
            <a:r>
              <a:rPr lang="en-US" altLang="ko-KR" sz="800" i="1">
                <a:effectLst/>
                <a:latin typeface="+mn-ea"/>
              </a:rPr>
              <a:t>·</a:t>
            </a:r>
            <a:r>
              <a:rPr lang="ko-KR" altLang="en-US" sz="800" i="1">
                <a:effectLst/>
                <a:latin typeface="+mn-ea"/>
              </a:rPr>
              <a:t>시각화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0FDEBB-6C1E-923B-16AD-A55142B45D2E}"/>
              </a:ext>
            </a:extLst>
          </p:cNvPr>
          <p:cNvSpPr txBox="1"/>
          <p:nvPr/>
        </p:nvSpPr>
        <p:spPr>
          <a:xfrm>
            <a:off x="2900932" y="1187053"/>
            <a:ext cx="1906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&lt;User Scenario&gt;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17A8F8B-BB7F-7F03-88FA-CE4C0350230C}"/>
              </a:ext>
            </a:extLst>
          </p:cNvPr>
          <p:cNvSpPr/>
          <p:nvPr/>
        </p:nvSpPr>
        <p:spPr>
          <a:xfrm>
            <a:off x="2105087" y="1766454"/>
            <a:ext cx="3267968" cy="2545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MM </a:t>
            </a:r>
            <a:r>
              <a:rPr lang="ko-KR" altLang="en-US" sz="1000">
                <a:effectLst/>
                <a:latin typeface="+mn-ea"/>
              </a:rPr>
              <a:t>확인 및 예측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감각 의존 → 실행 이력 기반 정량화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558681F-1A6B-0671-4A31-9E15F111D01F}"/>
              </a:ext>
            </a:extLst>
          </p:cNvPr>
          <p:cNvSpPr/>
          <p:nvPr/>
        </p:nvSpPr>
        <p:spPr>
          <a:xfrm>
            <a:off x="2105087" y="2031554"/>
            <a:ext cx="3267968" cy="2545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Agent </a:t>
            </a:r>
            <a:r>
              <a:rPr lang="ko-KR" altLang="en-US" sz="1000">
                <a:effectLst/>
                <a:latin typeface="+mn-ea"/>
              </a:rPr>
              <a:t>수행 현황 및 비용 모니터링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i="1">
                <a:effectLst/>
                <a:latin typeface="+mn-ea"/>
              </a:rPr>
              <a:t>(</a:t>
            </a:r>
            <a:r>
              <a:rPr lang="ko-KR" altLang="en-US" sz="800" i="1">
                <a:effectLst/>
                <a:latin typeface="+mn-ea"/>
              </a:rPr>
              <a:t>신규 역량</a:t>
            </a:r>
            <a:r>
              <a:rPr lang="en-US" altLang="ko-KR" sz="800" i="1">
                <a:effectLst/>
                <a:latin typeface="+mn-ea"/>
              </a:rPr>
              <a:t>) Agent </a:t>
            </a:r>
            <a:r>
              <a:rPr lang="ko-KR" altLang="en-US" sz="800" i="1">
                <a:effectLst/>
                <a:latin typeface="+mn-ea"/>
              </a:rPr>
              <a:t>운영 가시성 확보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D6888FE-6F34-E4C9-D9F2-50C298FE9C44}"/>
              </a:ext>
            </a:extLst>
          </p:cNvPr>
          <p:cNvSpPr/>
          <p:nvPr/>
        </p:nvSpPr>
        <p:spPr>
          <a:xfrm>
            <a:off x="2105087" y="2296654"/>
            <a:ext cx="3267968" cy="2545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주요 결정 사항 추적</a:t>
            </a:r>
            <a:r>
              <a:rPr lang="en-US" altLang="ko-KR" sz="1000">
                <a:effectLst/>
                <a:latin typeface="+mn-ea"/>
              </a:rPr>
              <a:t>·</a:t>
            </a:r>
            <a:r>
              <a:rPr lang="ko-KR" altLang="en-US" sz="1000">
                <a:effectLst/>
                <a:latin typeface="+mn-ea"/>
              </a:rPr>
              <a:t>관리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800" i="1">
                <a:effectLst/>
                <a:latin typeface="+mn-ea"/>
              </a:rPr>
              <a:t>Jira </a:t>
            </a:r>
            <a:r>
              <a:rPr lang="ko-KR" altLang="en-US" sz="800" i="1">
                <a:effectLst/>
                <a:latin typeface="+mn-ea"/>
              </a:rPr>
              <a:t>우회 → 채팅↔</a:t>
            </a:r>
            <a:r>
              <a:rPr lang="en-US" altLang="ko-KR" sz="800" i="1">
                <a:effectLst/>
                <a:latin typeface="+mn-ea"/>
              </a:rPr>
              <a:t>Jira </a:t>
            </a:r>
            <a:r>
              <a:rPr lang="ko-KR" altLang="en-US" sz="800" i="1">
                <a:effectLst/>
                <a:latin typeface="+mn-ea"/>
              </a:rPr>
              <a:t>자동 동기화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8DB60B3-C222-B887-0AF0-C499A6EE3F83}"/>
              </a:ext>
            </a:extLst>
          </p:cNvPr>
          <p:cNvSpPr/>
          <p:nvPr/>
        </p:nvSpPr>
        <p:spPr>
          <a:xfrm>
            <a:off x="2105087" y="2561754"/>
            <a:ext cx="3267968" cy="25453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신규 </a:t>
            </a:r>
            <a:r>
              <a:rPr lang="en-US" altLang="ko-KR" sz="1000" err="1">
                <a:effectLst/>
                <a:latin typeface="+mn-ea"/>
              </a:rPr>
              <a:t>Exynos</a:t>
            </a:r>
            <a:r>
              <a:rPr lang="en-US" altLang="ko-KR" sz="1000">
                <a:effectLst/>
                <a:latin typeface="+mn-ea"/>
              </a:rPr>
              <a:t> </a:t>
            </a:r>
            <a:r>
              <a:rPr lang="ko-KR" altLang="en-US" sz="1000">
                <a:effectLst/>
                <a:latin typeface="+mn-ea"/>
              </a:rPr>
              <a:t>세대 </a:t>
            </a:r>
            <a:r>
              <a:rPr lang="ko-KR" altLang="en-US" sz="1000" err="1">
                <a:effectLst/>
                <a:latin typeface="+mn-ea"/>
              </a:rPr>
              <a:t>온보딩</a:t>
            </a:r>
            <a:endParaRPr lang="ko-KR" altLang="en-US" sz="1000">
              <a:effectLst/>
              <a:latin typeface="+mn-ea"/>
            </a:endParaRP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매 세대 재설정 → 이력 기반 마이그레이션 템플릿 자동 생성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D5FB880-4A0C-1317-EA59-134EE7B11DA8}"/>
              </a:ext>
            </a:extLst>
          </p:cNvPr>
          <p:cNvSpPr/>
          <p:nvPr/>
        </p:nvSpPr>
        <p:spPr>
          <a:xfrm>
            <a:off x="2105087" y="28268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금일 수행 업무 파악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산발 알림 → 맞춤 알림 </a:t>
            </a:r>
            <a:r>
              <a:rPr lang="en-US" altLang="ko-KR" sz="800" i="1">
                <a:effectLst/>
                <a:latin typeface="+mn-ea"/>
              </a:rPr>
              <a:t>+ </a:t>
            </a:r>
            <a:r>
              <a:rPr lang="ko-KR" altLang="en-US" sz="800" i="1">
                <a:effectLst/>
                <a:latin typeface="+mn-ea"/>
              </a:rPr>
              <a:t>통합 뷰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8D4E96A-9C83-2556-6A84-EF8E6AB1C2B4}"/>
              </a:ext>
            </a:extLst>
          </p:cNvPr>
          <p:cNvSpPr/>
          <p:nvPr/>
        </p:nvSpPr>
        <p:spPr>
          <a:xfrm>
            <a:off x="2105087" y="30919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이슈 분석 </a:t>
            </a:r>
            <a:r>
              <a:rPr lang="en-US" altLang="ko-KR" sz="1000">
                <a:effectLst/>
                <a:latin typeface="+mn-ea"/>
              </a:rPr>
              <a:t>— </a:t>
            </a:r>
            <a:r>
              <a:rPr lang="ko-KR" altLang="en-US" sz="1000">
                <a:effectLst/>
                <a:latin typeface="+mn-ea"/>
              </a:rPr>
              <a:t>컨텍스트 확인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컨텍스트 수집 → </a:t>
            </a:r>
            <a:r>
              <a:rPr lang="en-US" altLang="ko-KR" sz="800" i="1">
                <a:effectLst/>
                <a:latin typeface="+mn-ea"/>
              </a:rPr>
              <a:t>Agent </a:t>
            </a:r>
            <a:r>
              <a:rPr lang="ko-KR" altLang="en-US" sz="800" i="1">
                <a:effectLst/>
                <a:latin typeface="+mn-ea"/>
              </a:rPr>
              <a:t>자동 수집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CDAE70F-8173-0BE1-A9EA-9D01789DE3CE}"/>
              </a:ext>
            </a:extLst>
          </p:cNvPr>
          <p:cNvSpPr/>
          <p:nvPr/>
        </p:nvSpPr>
        <p:spPr>
          <a:xfrm>
            <a:off x="2105087" y="33570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이슈 분석 </a:t>
            </a:r>
            <a:r>
              <a:rPr lang="en-US" altLang="ko-KR" sz="1000">
                <a:effectLst/>
                <a:latin typeface="+mn-ea"/>
              </a:rPr>
              <a:t>— </a:t>
            </a:r>
            <a:r>
              <a:rPr lang="ko-KR" altLang="en-US" sz="1000">
                <a:effectLst/>
                <a:latin typeface="+mn-ea"/>
              </a:rPr>
              <a:t>실행 환경 재현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재구성 → 바인딩 스냅샷 자동 기록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9E22397-515F-9D36-C89B-EAE070F302C9}"/>
              </a:ext>
            </a:extLst>
          </p:cNvPr>
          <p:cNvSpPr/>
          <p:nvPr/>
        </p:nvSpPr>
        <p:spPr>
          <a:xfrm>
            <a:off x="2105087" y="36221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코드 수정 후 노드 재실행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전 구간 수동 → 트리거 후 자동화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DAC329D-DE00-81DA-B995-C099FF149935}"/>
              </a:ext>
            </a:extLst>
          </p:cNvPr>
          <p:cNvSpPr/>
          <p:nvPr/>
        </p:nvSpPr>
        <p:spPr>
          <a:xfrm>
            <a:off x="2105087" y="38872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모델 실행 및 바인딩 관리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개인 로컬 → 중앙 </a:t>
            </a:r>
            <a:r>
              <a:rPr lang="en-US" altLang="ko-KR" sz="800" i="1">
                <a:effectLst/>
                <a:latin typeface="+mn-ea"/>
              </a:rPr>
              <a:t>Registry + </a:t>
            </a:r>
            <a:r>
              <a:rPr lang="ko-KR" altLang="en-US" sz="800" i="1">
                <a:effectLst/>
                <a:latin typeface="+mn-ea"/>
              </a:rPr>
              <a:t>무결성 보장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EFC79BE-6081-7E38-FACE-AD6E4D54A7A3}"/>
              </a:ext>
            </a:extLst>
          </p:cNvPr>
          <p:cNvSpPr/>
          <p:nvPr/>
        </p:nvSpPr>
        <p:spPr>
          <a:xfrm>
            <a:off x="2105087" y="41523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신규 </a:t>
            </a:r>
            <a:r>
              <a:rPr lang="en-US" altLang="ko-KR" sz="1000">
                <a:effectLst/>
                <a:latin typeface="+mn-ea"/>
              </a:rPr>
              <a:t>Tool </a:t>
            </a:r>
            <a:r>
              <a:rPr lang="ko-KR" altLang="en-US" sz="1000">
                <a:effectLst/>
                <a:latin typeface="+mn-ea"/>
              </a:rPr>
              <a:t>버전 릴리스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기억 의존 → 영향 범위 가시화 </a:t>
            </a:r>
            <a:r>
              <a:rPr lang="en-US" altLang="ko-KR" sz="800" i="1">
                <a:effectLst/>
                <a:latin typeface="+mn-ea"/>
              </a:rPr>
              <a:t>+ </a:t>
            </a:r>
            <a:r>
              <a:rPr lang="ko-KR" altLang="en-US" sz="800" i="1">
                <a:effectLst/>
                <a:latin typeface="+mn-ea"/>
              </a:rPr>
              <a:t>우선순위 예측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B039570-B641-865A-9AB0-6246C9898A29}"/>
              </a:ext>
            </a:extLst>
          </p:cNvPr>
          <p:cNvSpPr/>
          <p:nvPr/>
        </p:nvSpPr>
        <p:spPr>
          <a:xfrm>
            <a:off x="2105087" y="44174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Triage — </a:t>
            </a:r>
            <a:r>
              <a:rPr lang="ko-KR" altLang="en-US" sz="1000">
                <a:effectLst/>
                <a:latin typeface="+mn-ea"/>
              </a:rPr>
              <a:t>불량 원인 추론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역방향 순차 수동 검증 → </a:t>
            </a:r>
            <a:r>
              <a:rPr lang="en-US" altLang="ko-KR" sz="800" i="1">
                <a:effectLst/>
                <a:latin typeface="+mn-ea"/>
              </a:rPr>
              <a:t>Agent </a:t>
            </a:r>
            <a:r>
              <a:rPr lang="ko-KR" altLang="en-US" sz="800" i="1">
                <a:effectLst/>
                <a:latin typeface="+mn-ea"/>
              </a:rPr>
              <a:t>기반 원인 우선순위 제시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93E205-4B5C-D9A1-FFD1-EAE868111A26}"/>
              </a:ext>
            </a:extLst>
          </p:cNvPr>
          <p:cNvSpPr/>
          <p:nvPr/>
        </p:nvSpPr>
        <p:spPr>
          <a:xfrm>
            <a:off x="2105087" y="4682554"/>
            <a:ext cx="3267968" cy="254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NPU Compiler </a:t>
            </a:r>
            <a:r>
              <a:rPr lang="ko-KR" altLang="en-US" sz="1000">
                <a:effectLst/>
                <a:latin typeface="+mn-ea"/>
              </a:rPr>
              <a:t>조직 간 산출물 인계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</a:t>
            </a:r>
            <a:r>
              <a:rPr lang="en-US" altLang="ko-KR" sz="800" i="1">
                <a:effectLst/>
                <a:latin typeface="+mn-ea"/>
              </a:rPr>
              <a:t>·</a:t>
            </a:r>
            <a:r>
              <a:rPr lang="ko-KR" altLang="en-US" sz="800" i="1">
                <a:effectLst/>
                <a:latin typeface="+mn-ea"/>
              </a:rPr>
              <a:t>비표준 전달 → </a:t>
            </a:r>
            <a:r>
              <a:rPr lang="en-US" altLang="ko-KR" sz="800" i="1">
                <a:effectLst/>
                <a:latin typeface="+mn-ea"/>
              </a:rPr>
              <a:t>Artifact Store </a:t>
            </a:r>
            <a:r>
              <a:rPr lang="ko-KR" altLang="en-US" sz="800" i="1">
                <a:effectLst/>
                <a:latin typeface="+mn-ea"/>
              </a:rPr>
              <a:t>기반 메타데이터 동반 인계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93145EB-844D-EFF5-7D83-5484322AA751}"/>
              </a:ext>
            </a:extLst>
          </p:cNvPr>
          <p:cNvSpPr/>
          <p:nvPr/>
        </p:nvSpPr>
        <p:spPr>
          <a:xfrm>
            <a:off x="2105087" y="4947654"/>
            <a:ext cx="3267968" cy="2545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신규 </a:t>
            </a:r>
            <a:r>
              <a:rPr lang="en-US" altLang="ko-KR" sz="1000">
                <a:effectLst/>
                <a:latin typeface="+mn-ea"/>
              </a:rPr>
              <a:t>Workflow·</a:t>
            </a:r>
            <a:r>
              <a:rPr lang="ko-KR" altLang="en-US" sz="1000">
                <a:effectLst/>
                <a:latin typeface="+mn-ea"/>
              </a:rPr>
              <a:t>노드 정의 및 개발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암묵적 관행 → </a:t>
            </a:r>
            <a:r>
              <a:rPr lang="en-US" altLang="ko-KR" sz="800" i="1">
                <a:effectLst/>
                <a:latin typeface="+mn-ea"/>
              </a:rPr>
              <a:t>Configurable Workflow </a:t>
            </a:r>
            <a:r>
              <a:rPr lang="ko-KR" altLang="en-US" sz="800" i="1">
                <a:effectLst/>
                <a:latin typeface="+mn-ea"/>
              </a:rPr>
              <a:t>자산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FC4289D-3987-993B-2A6F-C538C64E9628}"/>
              </a:ext>
            </a:extLst>
          </p:cNvPr>
          <p:cNvSpPr/>
          <p:nvPr/>
        </p:nvSpPr>
        <p:spPr>
          <a:xfrm>
            <a:off x="2105087" y="5212754"/>
            <a:ext cx="3267968" cy="2545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Workflow </a:t>
            </a:r>
            <a:r>
              <a:rPr lang="ko-KR" altLang="en-US" sz="1000">
                <a:effectLst/>
                <a:latin typeface="+mn-ea"/>
              </a:rPr>
              <a:t>실행 기반 시스템 관리</a:t>
            </a:r>
            <a:r>
              <a:rPr lang="en-US" altLang="ko-KR" sz="1000">
                <a:effectLst/>
                <a:latin typeface="+mn-ea"/>
              </a:rPr>
              <a:t>·</a:t>
            </a:r>
            <a:r>
              <a:rPr lang="ko-KR" altLang="en-US" sz="1000">
                <a:effectLst/>
                <a:latin typeface="+mn-ea"/>
              </a:rPr>
              <a:t>운영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중앙 기반 부재 → 통합 실행 플랫폼 운영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4D8C479-208B-63E3-CA9F-F52D698E05DE}"/>
              </a:ext>
            </a:extLst>
          </p:cNvPr>
          <p:cNvSpPr/>
          <p:nvPr/>
        </p:nvSpPr>
        <p:spPr>
          <a:xfrm>
            <a:off x="2105087" y="5477854"/>
            <a:ext cx="3267968" cy="2545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Workflow </a:t>
            </a:r>
            <a:r>
              <a:rPr lang="ko-KR" altLang="en-US" sz="1000">
                <a:effectLst/>
                <a:latin typeface="+mn-ea"/>
              </a:rPr>
              <a:t>실패 자동 복구 및 재시작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모니터링</a:t>
            </a:r>
            <a:r>
              <a:rPr lang="en-US" altLang="ko-KR" sz="800" i="1">
                <a:effectLst/>
                <a:latin typeface="+mn-ea"/>
              </a:rPr>
              <a:t>·</a:t>
            </a:r>
            <a:r>
              <a:rPr lang="ko-KR" altLang="en-US" sz="800" i="1">
                <a:effectLst/>
                <a:latin typeface="+mn-ea"/>
              </a:rPr>
              <a:t>재시작 → 에러 분류</a:t>
            </a:r>
            <a:r>
              <a:rPr lang="en-US" altLang="ko-KR" sz="800" i="1">
                <a:effectLst/>
                <a:latin typeface="+mn-ea"/>
              </a:rPr>
              <a:t>/</a:t>
            </a:r>
            <a:r>
              <a:rPr lang="ko-KR" altLang="en-US" sz="800" i="1">
                <a:effectLst/>
                <a:latin typeface="+mn-ea"/>
              </a:rPr>
              <a:t>중간 상태 기반 자동 재시도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B354034-6FC1-1FDA-0A9E-ADEA5161E9A7}"/>
              </a:ext>
            </a:extLst>
          </p:cNvPr>
          <p:cNvSpPr/>
          <p:nvPr/>
        </p:nvSpPr>
        <p:spPr>
          <a:xfrm>
            <a:off x="2105087" y="5742954"/>
            <a:ext cx="3267968" cy="2545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커스텀 분석 뷰 생성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고정 전체 보기 → 프롬프트 기반 커스텀 분석 페이지 생성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EA9C7D4-DF83-14F5-FA74-968279C68FFE}"/>
              </a:ext>
            </a:extLst>
          </p:cNvPr>
          <p:cNvSpPr/>
          <p:nvPr/>
        </p:nvSpPr>
        <p:spPr>
          <a:xfrm>
            <a:off x="2105087" y="6008054"/>
            <a:ext cx="3267968" cy="2545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latin typeface="+mn-ea"/>
              </a:rPr>
              <a:t>외부 프로파일링 도구 연계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연계 → 외부 도구 어댑터 기반 자동 가공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8816374-669D-E958-5B07-83C945925B3E}"/>
              </a:ext>
            </a:extLst>
          </p:cNvPr>
          <p:cNvSpPr/>
          <p:nvPr/>
        </p:nvSpPr>
        <p:spPr>
          <a:xfrm>
            <a:off x="2105087" y="6273154"/>
            <a:ext cx="3267968" cy="2545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대화형 이슈 해결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수동 응답 → 컨텍스트 기반 </a:t>
            </a:r>
            <a:r>
              <a:rPr lang="en-US" altLang="ko-KR" sz="800" i="1">
                <a:effectLst/>
                <a:latin typeface="+mn-ea"/>
              </a:rPr>
              <a:t>Agent </a:t>
            </a:r>
            <a:r>
              <a:rPr lang="ko-KR" altLang="en-US" sz="800" i="1">
                <a:effectLst/>
                <a:latin typeface="+mn-ea"/>
              </a:rPr>
              <a:t>자동 응답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D58289F-F762-9C1D-B687-A50432F6C811}"/>
              </a:ext>
            </a:extLst>
          </p:cNvPr>
          <p:cNvSpPr/>
          <p:nvPr/>
        </p:nvSpPr>
        <p:spPr>
          <a:xfrm>
            <a:off x="2105087" y="6538250"/>
            <a:ext cx="3267968" cy="25453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Knowledge </a:t>
            </a:r>
            <a:r>
              <a:rPr lang="ko-KR" altLang="en-US" sz="1000">
                <a:effectLst/>
                <a:latin typeface="+mn-ea"/>
              </a:rPr>
              <a:t>자산화</a:t>
            </a:r>
          </a:p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800" i="1">
                <a:effectLst/>
                <a:latin typeface="+mn-ea"/>
              </a:rPr>
              <a:t>개인 기억</a:t>
            </a:r>
            <a:r>
              <a:rPr lang="en-US" altLang="ko-KR" sz="800" i="1">
                <a:effectLst/>
                <a:latin typeface="+mn-ea"/>
              </a:rPr>
              <a:t>·</a:t>
            </a:r>
            <a:r>
              <a:rPr lang="ko-KR" altLang="en-US" sz="800" i="1">
                <a:effectLst/>
                <a:latin typeface="+mn-ea"/>
              </a:rPr>
              <a:t>분산 채팅 → 검색 가능한 조직 지식 자산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6E18E37-2C4C-E57E-FBF5-5109257741A7}"/>
              </a:ext>
            </a:extLst>
          </p:cNvPr>
          <p:cNvSpPr/>
          <p:nvPr/>
        </p:nvSpPr>
        <p:spPr>
          <a:xfrm>
            <a:off x="280636" y="1914058"/>
            <a:ext cx="1167773" cy="48952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PM</a:t>
            </a:r>
            <a:endParaRPr lang="ko-KR" altLang="en-US" sz="1100" b="1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679705-73C1-CFDC-FF4C-FE45F38AD9EA}"/>
              </a:ext>
            </a:extLst>
          </p:cNvPr>
          <p:cNvSpPr txBox="1"/>
          <p:nvPr/>
        </p:nvSpPr>
        <p:spPr>
          <a:xfrm>
            <a:off x="249019" y="1190932"/>
            <a:ext cx="1231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&lt;Actor&gt;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4A2645E-E5C0-4FEE-A4E1-8980FB890F22}"/>
              </a:ext>
            </a:extLst>
          </p:cNvPr>
          <p:cNvSpPr/>
          <p:nvPr/>
        </p:nvSpPr>
        <p:spPr>
          <a:xfrm>
            <a:off x="280636" y="3769758"/>
            <a:ext cx="1167773" cy="4895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SDK </a:t>
            </a:r>
            <a:r>
              <a:rPr lang="ko-KR" altLang="en-US" sz="1100" b="1">
                <a:effectLst/>
                <a:latin typeface="+mn-ea"/>
              </a:rPr>
              <a:t>개발자</a:t>
            </a:r>
            <a:endParaRPr lang="ko-KR" altLang="en-US" sz="1100" b="1">
              <a:effectLst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3E75FA1-95DE-EFB7-E0CF-ADC06135AF5A}"/>
              </a:ext>
            </a:extLst>
          </p:cNvPr>
          <p:cNvSpPr/>
          <p:nvPr/>
        </p:nvSpPr>
        <p:spPr>
          <a:xfrm>
            <a:off x="280636" y="5095258"/>
            <a:ext cx="1167773" cy="4895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effectLst/>
                <a:latin typeface="+mn-ea"/>
              </a:rPr>
              <a:t>플랫폼 개발자</a:t>
            </a:r>
            <a:endParaRPr lang="ko-KR" altLang="en-US" sz="1100" b="1">
              <a:effectLst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B3188B5-012B-76BC-C6BE-389D1D6831CE}"/>
              </a:ext>
            </a:extLst>
          </p:cNvPr>
          <p:cNvSpPr/>
          <p:nvPr/>
        </p:nvSpPr>
        <p:spPr>
          <a:xfrm>
            <a:off x="280636" y="6017827"/>
            <a:ext cx="1167773" cy="48952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latin typeface="+mn-ea"/>
              </a:rPr>
              <a:t>Cross-Cutting</a:t>
            </a:r>
            <a:endParaRPr lang="ko-KR" altLang="en-US" sz="1100" b="1">
              <a:effectLst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5839FB4-003A-5944-1B04-474F17E25EC5}"/>
              </a:ext>
            </a:extLst>
          </p:cNvPr>
          <p:cNvCxnSpPr>
            <a:stCxn id="23" idx="3"/>
            <a:endCxn id="8" idx="1"/>
          </p:cNvCxnSpPr>
          <p:nvPr/>
        </p:nvCxnSpPr>
        <p:spPr>
          <a:xfrm flipV="1">
            <a:off x="1448409" y="1628623"/>
            <a:ext cx="656678" cy="530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F788B00-D62F-2982-504A-D2C0DCAB5635}"/>
              </a:ext>
            </a:extLst>
          </p:cNvPr>
          <p:cNvCxnSpPr>
            <a:cxnSpLocks/>
            <a:stCxn id="23" idx="3"/>
            <a:endCxn id="34" idx="1"/>
          </p:cNvCxnSpPr>
          <p:nvPr/>
        </p:nvCxnSpPr>
        <p:spPr>
          <a:xfrm flipV="1">
            <a:off x="1448409" y="1893723"/>
            <a:ext cx="656678" cy="265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FAB7EC5-A2B3-4DFC-E3B1-428BC31FDC4F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>
            <a:off x="1448409" y="2158822"/>
            <a:ext cx="6566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A96CA73-679E-219A-D692-B558688A99EE}"/>
              </a:ext>
            </a:extLst>
          </p:cNvPr>
          <p:cNvCxnSpPr>
            <a:cxnSpLocks/>
            <a:stCxn id="23" idx="3"/>
            <a:endCxn id="36" idx="1"/>
          </p:cNvCxnSpPr>
          <p:nvPr/>
        </p:nvCxnSpPr>
        <p:spPr>
          <a:xfrm>
            <a:off x="1448409" y="2158822"/>
            <a:ext cx="656678" cy="265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6372DC1-0F36-78DE-672A-E19EE5940BE8}"/>
              </a:ext>
            </a:extLst>
          </p:cNvPr>
          <p:cNvCxnSpPr>
            <a:cxnSpLocks/>
            <a:stCxn id="23" idx="3"/>
            <a:endCxn id="37" idx="1"/>
          </p:cNvCxnSpPr>
          <p:nvPr/>
        </p:nvCxnSpPr>
        <p:spPr>
          <a:xfrm>
            <a:off x="1448409" y="2158822"/>
            <a:ext cx="656678" cy="530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EB79A15-2153-44A1-56CC-E2C9983FB995}"/>
              </a:ext>
            </a:extLst>
          </p:cNvPr>
          <p:cNvCxnSpPr>
            <a:cxnSpLocks/>
            <a:stCxn id="53" idx="3"/>
            <a:endCxn id="38" idx="1"/>
          </p:cNvCxnSpPr>
          <p:nvPr/>
        </p:nvCxnSpPr>
        <p:spPr>
          <a:xfrm flipV="1">
            <a:off x="1448409" y="2954123"/>
            <a:ext cx="656678" cy="10603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C3706B7C-CAE8-A97B-2A9F-9235C83E909A}"/>
              </a:ext>
            </a:extLst>
          </p:cNvPr>
          <p:cNvCxnSpPr>
            <a:cxnSpLocks/>
            <a:stCxn id="53" idx="3"/>
            <a:endCxn id="39" idx="1"/>
          </p:cNvCxnSpPr>
          <p:nvPr/>
        </p:nvCxnSpPr>
        <p:spPr>
          <a:xfrm flipV="1">
            <a:off x="1448409" y="3219223"/>
            <a:ext cx="656678" cy="7952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63E95D2-7633-0970-A5D1-0A21C34ECCE4}"/>
              </a:ext>
            </a:extLst>
          </p:cNvPr>
          <p:cNvCxnSpPr>
            <a:cxnSpLocks/>
            <a:stCxn id="53" idx="3"/>
            <a:endCxn id="40" idx="1"/>
          </p:cNvCxnSpPr>
          <p:nvPr/>
        </p:nvCxnSpPr>
        <p:spPr>
          <a:xfrm flipV="1">
            <a:off x="1448409" y="3484323"/>
            <a:ext cx="656678" cy="5301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FFCB30B-7698-4711-9B1F-FE4009CD1497}"/>
              </a:ext>
            </a:extLst>
          </p:cNvPr>
          <p:cNvCxnSpPr>
            <a:cxnSpLocks/>
            <a:stCxn id="53" idx="3"/>
            <a:endCxn id="41" idx="1"/>
          </p:cNvCxnSpPr>
          <p:nvPr/>
        </p:nvCxnSpPr>
        <p:spPr>
          <a:xfrm flipV="1">
            <a:off x="1448409" y="3749423"/>
            <a:ext cx="656678" cy="2650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5F0C9F9-561A-D70E-519C-5750E61C2930}"/>
              </a:ext>
            </a:extLst>
          </p:cNvPr>
          <p:cNvCxnSpPr>
            <a:cxnSpLocks/>
            <a:stCxn id="53" idx="3"/>
            <a:endCxn id="43" idx="1"/>
          </p:cNvCxnSpPr>
          <p:nvPr/>
        </p:nvCxnSpPr>
        <p:spPr>
          <a:xfrm>
            <a:off x="1448409" y="4014522"/>
            <a:ext cx="656678" cy="2651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1DA0D04-0532-BBB7-A916-E72BCE9C1C37}"/>
              </a:ext>
            </a:extLst>
          </p:cNvPr>
          <p:cNvCxnSpPr>
            <a:cxnSpLocks/>
            <a:stCxn id="53" idx="3"/>
            <a:endCxn id="42" idx="1"/>
          </p:cNvCxnSpPr>
          <p:nvPr/>
        </p:nvCxnSpPr>
        <p:spPr>
          <a:xfrm>
            <a:off x="1448409" y="4014522"/>
            <a:ext cx="656678" cy="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7ADB2944-1595-4D72-F98A-26601400CD06}"/>
              </a:ext>
            </a:extLst>
          </p:cNvPr>
          <p:cNvCxnSpPr>
            <a:cxnSpLocks/>
            <a:stCxn id="53" idx="3"/>
            <a:endCxn id="44" idx="1"/>
          </p:cNvCxnSpPr>
          <p:nvPr/>
        </p:nvCxnSpPr>
        <p:spPr>
          <a:xfrm>
            <a:off x="1448409" y="4014522"/>
            <a:ext cx="656678" cy="5302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29DB0C33-CC28-D69C-EC4E-CA41642595EF}"/>
              </a:ext>
            </a:extLst>
          </p:cNvPr>
          <p:cNvCxnSpPr>
            <a:cxnSpLocks/>
            <a:stCxn id="53" idx="3"/>
            <a:endCxn id="45" idx="1"/>
          </p:cNvCxnSpPr>
          <p:nvPr/>
        </p:nvCxnSpPr>
        <p:spPr>
          <a:xfrm>
            <a:off x="1448409" y="4014522"/>
            <a:ext cx="656678" cy="79530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FCF6B55-F8FE-5466-208F-20EE0BFFADAD}"/>
              </a:ext>
            </a:extLst>
          </p:cNvPr>
          <p:cNvCxnSpPr>
            <a:cxnSpLocks/>
            <a:stCxn id="54" idx="3"/>
            <a:endCxn id="46" idx="1"/>
          </p:cNvCxnSpPr>
          <p:nvPr/>
        </p:nvCxnSpPr>
        <p:spPr>
          <a:xfrm flipV="1">
            <a:off x="1448409" y="5074923"/>
            <a:ext cx="656678" cy="26509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3DF699FB-E220-1038-2BEC-131293082265}"/>
              </a:ext>
            </a:extLst>
          </p:cNvPr>
          <p:cNvCxnSpPr>
            <a:cxnSpLocks/>
            <a:stCxn id="54" idx="3"/>
            <a:endCxn id="47" idx="1"/>
          </p:cNvCxnSpPr>
          <p:nvPr/>
        </p:nvCxnSpPr>
        <p:spPr>
          <a:xfrm>
            <a:off x="1448409" y="5340022"/>
            <a:ext cx="656678" cy="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F7F5B3A9-D731-2DEA-E0A0-8FA291B13E8A}"/>
              </a:ext>
            </a:extLst>
          </p:cNvPr>
          <p:cNvCxnSpPr>
            <a:cxnSpLocks/>
            <a:stCxn id="54" idx="3"/>
            <a:endCxn id="48" idx="1"/>
          </p:cNvCxnSpPr>
          <p:nvPr/>
        </p:nvCxnSpPr>
        <p:spPr>
          <a:xfrm>
            <a:off x="1448409" y="5340022"/>
            <a:ext cx="656678" cy="26510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1E4BC3A8-32E1-8554-BE23-1CD00CB2E714}"/>
              </a:ext>
            </a:extLst>
          </p:cNvPr>
          <p:cNvCxnSpPr>
            <a:cxnSpLocks/>
            <a:stCxn id="55" idx="3"/>
            <a:endCxn id="49" idx="1"/>
          </p:cNvCxnSpPr>
          <p:nvPr/>
        </p:nvCxnSpPr>
        <p:spPr>
          <a:xfrm flipV="1">
            <a:off x="1448409" y="5870223"/>
            <a:ext cx="656678" cy="3923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8A048157-E3CA-F463-9C0A-53398AF040E5}"/>
              </a:ext>
            </a:extLst>
          </p:cNvPr>
          <p:cNvCxnSpPr>
            <a:cxnSpLocks/>
            <a:stCxn id="55" idx="3"/>
            <a:endCxn id="50" idx="1"/>
          </p:cNvCxnSpPr>
          <p:nvPr/>
        </p:nvCxnSpPr>
        <p:spPr>
          <a:xfrm flipV="1">
            <a:off x="1448409" y="6135323"/>
            <a:ext cx="656678" cy="12726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4896B808-F7DE-B9FF-5A53-5664D2850B9A}"/>
              </a:ext>
            </a:extLst>
          </p:cNvPr>
          <p:cNvCxnSpPr>
            <a:cxnSpLocks/>
            <a:stCxn id="55" idx="3"/>
            <a:endCxn id="51" idx="1"/>
          </p:cNvCxnSpPr>
          <p:nvPr/>
        </p:nvCxnSpPr>
        <p:spPr>
          <a:xfrm>
            <a:off x="1448409" y="6262591"/>
            <a:ext cx="656678" cy="1378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B0EB9560-481D-D8AC-0F6B-E00070FAC1C6}"/>
              </a:ext>
            </a:extLst>
          </p:cNvPr>
          <p:cNvCxnSpPr>
            <a:cxnSpLocks/>
            <a:stCxn id="55" idx="3"/>
            <a:endCxn id="52" idx="1"/>
          </p:cNvCxnSpPr>
          <p:nvPr/>
        </p:nvCxnSpPr>
        <p:spPr>
          <a:xfrm>
            <a:off x="1448409" y="6262591"/>
            <a:ext cx="656678" cy="4029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1596211-47F1-B0C6-52B5-F51DAD561EBE}"/>
              </a:ext>
            </a:extLst>
          </p:cNvPr>
          <p:cNvSpPr txBox="1"/>
          <p:nvPr/>
        </p:nvSpPr>
        <p:spPr>
          <a:xfrm>
            <a:off x="5586803" y="1187053"/>
            <a:ext cx="39174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&lt;Functional Requirements (grouping)</a:t>
            </a:r>
            <a:r>
              <a:rPr lang="ko-KR" altLang="en-US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&gt;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77F902F5-63FC-0DAB-B27D-3028C66518A5}"/>
              </a:ext>
            </a:extLst>
          </p:cNvPr>
          <p:cNvSpPr/>
          <p:nvPr/>
        </p:nvSpPr>
        <p:spPr>
          <a:xfrm>
            <a:off x="6210734" y="1862739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latin typeface="+mn-ea"/>
              </a:rPr>
              <a:t>Workflow </a:t>
            </a:r>
            <a:r>
              <a:rPr lang="ko-KR" altLang="en-US" sz="1000">
                <a:latin typeface="+mn-ea"/>
              </a:rPr>
              <a:t>복구 및 안정성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58A98C49-BDCA-4EA8-D9E0-5E9A12E801A9}"/>
              </a:ext>
            </a:extLst>
          </p:cNvPr>
          <p:cNvSpPr/>
          <p:nvPr/>
        </p:nvSpPr>
        <p:spPr>
          <a:xfrm>
            <a:off x="6210734" y="2222274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Agent </a:t>
            </a:r>
            <a:r>
              <a:rPr lang="ko-KR" altLang="en-US" sz="1000">
                <a:effectLst/>
                <a:latin typeface="+mn-ea"/>
              </a:rPr>
              <a:t>연계 </a:t>
            </a:r>
            <a:r>
              <a:rPr lang="en-US" altLang="ko-KR" sz="1000">
                <a:effectLst/>
                <a:latin typeface="+mn-ea"/>
              </a:rPr>
              <a:t>Workflow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2EBFB9B1-5393-AC0B-F570-BF46882318AE}"/>
              </a:ext>
            </a:extLst>
          </p:cNvPr>
          <p:cNvSpPr/>
          <p:nvPr/>
        </p:nvSpPr>
        <p:spPr>
          <a:xfrm>
            <a:off x="6210734" y="2581809"/>
            <a:ext cx="2634283" cy="2651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Tool </a:t>
            </a:r>
            <a:r>
              <a:rPr lang="ko-KR" altLang="en-US" sz="1000">
                <a:effectLst/>
                <a:latin typeface="+mn-ea"/>
              </a:rPr>
              <a:t>버전 및 </a:t>
            </a:r>
            <a:r>
              <a:rPr lang="en-US" altLang="ko-KR" sz="1000">
                <a:effectLst/>
                <a:latin typeface="+mn-ea"/>
              </a:rPr>
              <a:t>Config </a:t>
            </a:r>
            <a:r>
              <a:rPr lang="ko-KR" altLang="en-US" sz="1000">
                <a:effectLst/>
                <a:latin typeface="+mn-ea"/>
              </a:rPr>
              <a:t>관리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1CBF5975-0416-119B-4C0B-037376F4A49B}"/>
              </a:ext>
            </a:extLst>
          </p:cNvPr>
          <p:cNvSpPr/>
          <p:nvPr/>
        </p:nvSpPr>
        <p:spPr>
          <a:xfrm>
            <a:off x="6210734" y="1503204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latin typeface="+mn-ea"/>
              </a:rPr>
              <a:t>Workflow </a:t>
            </a:r>
            <a:r>
              <a:rPr lang="ko-KR" altLang="en-US" sz="1000">
                <a:latin typeface="+mn-ea"/>
              </a:rPr>
              <a:t>정의 및 실행</a:t>
            </a:r>
          </a:p>
        </p:txBody>
      </p: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7B681870-40BB-90F7-219A-8F06742DB88A}"/>
              </a:ext>
            </a:extLst>
          </p:cNvPr>
          <p:cNvSpPr/>
          <p:nvPr/>
        </p:nvSpPr>
        <p:spPr>
          <a:xfrm>
            <a:off x="6210734" y="2941344"/>
            <a:ext cx="2634283" cy="2651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변경 영향 분석 및 </a:t>
            </a:r>
            <a:r>
              <a:rPr lang="en-US" altLang="ko-KR" sz="1000">
                <a:effectLst/>
                <a:latin typeface="+mn-ea"/>
              </a:rPr>
              <a:t>Migration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7CE27E8-501D-23EA-F0A4-4CFC55C1D306}"/>
              </a:ext>
            </a:extLst>
          </p:cNvPr>
          <p:cNvSpPr/>
          <p:nvPr/>
        </p:nvSpPr>
        <p:spPr>
          <a:xfrm>
            <a:off x="6210734" y="3300879"/>
            <a:ext cx="2634283" cy="2651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대용량 </a:t>
            </a:r>
            <a:r>
              <a:rPr lang="en-US" altLang="ko-KR" sz="1000">
                <a:effectLst/>
                <a:latin typeface="+mn-ea"/>
              </a:rPr>
              <a:t>Artifact </a:t>
            </a:r>
            <a:r>
              <a:rPr lang="ko-KR" altLang="en-US" sz="1000">
                <a:effectLst/>
                <a:latin typeface="+mn-ea"/>
              </a:rPr>
              <a:t>저장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86B1E267-66CA-83E6-2330-02DA415561B5}"/>
              </a:ext>
            </a:extLst>
          </p:cNvPr>
          <p:cNvSpPr/>
          <p:nvPr/>
        </p:nvSpPr>
        <p:spPr>
          <a:xfrm>
            <a:off x="6210734" y="3660414"/>
            <a:ext cx="2634283" cy="2651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Artifact </a:t>
            </a:r>
            <a:r>
              <a:rPr lang="ko-KR" altLang="en-US" sz="1000">
                <a:effectLst/>
                <a:latin typeface="+mn-ea"/>
              </a:rPr>
              <a:t>메타데이터 및 전달</a:t>
            </a:r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5E498D61-54F8-7EA8-4299-D41555ACFE61}"/>
              </a:ext>
            </a:extLst>
          </p:cNvPr>
          <p:cNvSpPr/>
          <p:nvPr/>
        </p:nvSpPr>
        <p:spPr>
          <a:xfrm>
            <a:off x="6210734" y="4019949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실행 이력 및 </a:t>
            </a:r>
            <a:r>
              <a:rPr lang="en-US" altLang="ko-KR" sz="1000">
                <a:effectLst/>
                <a:latin typeface="+mn-ea"/>
              </a:rPr>
              <a:t>Snapshot </a:t>
            </a:r>
            <a:r>
              <a:rPr lang="ko-KR" altLang="en-US" sz="1000">
                <a:effectLst/>
                <a:latin typeface="+mn-ea"/>
              </a:rPr>
              <a:t>관리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33C60818-13D9-3FD9-4F12-1ADA8A5795C1}"/>
              </a:ext>
            </a:extLst>
          </p:cNvPr>
          <p:cNvSpPr/>
          <p:nvPr/>
        </p:nvSpPr>
        <p:spPr>
          <a:xfrm>
            <a:off x="6210734" y="4379484"/>
            <a:ext cx="2634283" cy="2651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운영 데이터 분석 및 예측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037C4D2C-8E8E-343A-2815-E94392F8130D}"/>
              </a:ext>
            </a:extLst>
          </p:cNvPr>
          <p:cNvSpPr/>
          <p:nvPr/>
        </p:nvSpPr>
        <p:spPr>
          <a:xfrm>
            <a:off x="6210734" y="4739019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Knowledge Layer </a:t>
            </a:r>
            <a:r>
              <a:rPr lang="ko-KR" altLang="en-US" sz="1000">
                <a:effectLst/>
                <a:latin typeface="+mn-ea"/>
              </a:rPr>
              <a:t>연동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916E74A3-39D2-8E01-7F9A-AF536D3F5146}"/>
              </a:ext>
            </a:extLst>
          </p:cNvPr>
          <p:cNvSpPr/>
          <p:nvPr/>
        </p:nvSpPr>
        <p:spPr>
          <a:xfrm>
            <a:off x="6210734" y="5458089"/>
            <a:ext cx="2634283" cy="2651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사용자 운영 지원</a:t>
            </a:r>
          </a:p>
        </p:txBody>
      </p:sp>
      <p:sp>
        <p:nvSpPr>
          <p:cNvPr id="237" name="사각형: 둥근 모서리 236">
            <a:extLst>
              <a:ext uri="{FF2B5EF4-FFF2-40B4-BE49-F238E27FC236}">
                <a16:creationId xmlns:a16="http://schemas.microsoft.com/office/drawing/2014/main" id="{EEBA2E07-53E0-2BF0-75C0-04558F996AB7}"/>
              </a:ext>
            </a:extLst>
          </p:cNvPr>
          <p:cNvSpPr/>
          <p:nvPr/>
        </p:nvSpPr>
        <p:spPr>
          <a:xfrm>
            <a:off x="6210734" y="5817624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Agent </a:t>
            </a:r>
            <a:r>
              <a:rPr lang="ko-KR" altLang="en-US" sz="1000">
                <a:effectLst/>
                <a:latin typeface="+mn-ea"/>
              </a:rPr>
              <a:t>운영 및 비용 제어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6ABF0E1-AC67-4DC4-C127-ADA0ED11E2EE}"/>
              </a:ext>
            </a:extLst>
          </p:cNvPr>
          <p:cNvSpPr/>
          <p:nvPr/>
        </p:nvSpPr>
        <p:spPr>
          <a:xfrm>
            <a:off x="6210734" y="6177159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운영 자동화 </a:t>
            </a:r>
            <a:r>
              <a:rPr lang="en-US" altLang="ko-KR" sz="1000">
                <a:effectLst/>
                <a:latin typeface="+mn-ea"/>
              </a:rPr>
              <a:t>Skill Agent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42DE6B9E-8B95-6460-74C4-9EA776FBE22E}"/>
              </a:ext>
            </a:extLst>
          </p:cNvPr>
          <p:cNvSpPr/>
          <p:nvPr/>
        </p:nvSpPr>
        <p:spPr>
          <a:xfrm>
            <a:off x="6222487" y="6536690"/>
            <a:ext cx="2634283" cy="265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000">
                <a:effectLst/>
                <a:latin typeface="+mn-ea"/>
              </a:rPr>
              <a:t>AI </a:t>
            </a:r>
            <a:r>
              <a:rPr lang="ko-KR" altLang="en-US" sz="1000">
                <a:effectLst/>
                <a:latin typeface="+mn-ea"/>
              </a:rPr>
              <a:t>기반 분석 및 자율화</a:t>
            </a:r>
          </a:p>
        </p:txBody>
      </p:sp>
      <p:sp>
        <p:nvSpPr>
          <p:cNvPr id="294" name="사각형: 둥근 모서리 293">
            <a:extLst>
              <a:ext uri="{FF2B5EF4-FFF2-40B4-BE49-F238E27FC236}">
                <a16:creationId xmlns:a16="http://schemas.microsoft.com/office/drawing/2014/main" id="{40A18E59-057E-89EA-10B9-E637C4EAE0C7}"/>
              </a:ext>
            </a:extLst>
          </p:cNvPr>
          <p:cNvSpPr/>
          <p:nvPr/>
        </p:nvSpPr>
        <p:spPr>
          <a:xfrm>
            <a:off x="6210734" y="5098554"/>
            <a:ext cx="2634283" cy="2651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600"/>
              </a:lnSpc>
              <a:spcBef>
                <a:spcPts val="100"/>
              </a:spcBef>
              <a:spcAft>
                <a:spcPts val="100"/>
              </a:spcAft>
            </a:pPr>
            <a:r>
              <a:rPr lang="ko-KR" altLang="en-US" sz="1000">
                <a:effectLst/>
                <a:latin typeface="+mn-ea"/>
              </a:rPr>
              <a:t>운영 </a:t>
            </a:r>
            <a:r>
              <a:rPr lang="en-US" altLang="ko-KR" sz="1000">
                <a:effectLst/>
                <a:latin typeface="+mn-ea"/>
              </a:rPr>
              <a:t>Dashboard </a:t>
            </a:r>
            <a:r>
              <a:rPr lang="ko-KR" altLang="en-US" sz="1000">
                <a:effectLst/>
                <a:latin typeface="+mn-ea"/>
              </a:rPr>
              <a:t>및 </a:t>
            </a:r>
            <a:r>
              <a:rPr lang="en-US" altLang="ko-KR" sz="1000">
                <a:effectLst/>
                <a:latin typeface="+mn-ea"/>
              </a:rPr>
              <a:t>Reporting</a:t>
            </a:r>
          </a:p>
        </p:txBody>
      </p:sp>
      <p:cxnSp>
        <p:nvCxnSpPr>
          <p:cNvPr id="313" name="직선 화살표 연결선 312">
            <a:extLst>
              <a:ext uri="{FF2B5EF4-FFF2-40B4-BE49-F238E27FC236}">
                <a16:creationId xmlns:a16="http://schemas.microsoft.com/office/drawing/2014/main" id="{34ACF247-BF41-1FD1-69FB-0A81D402EF89}"/>
              </a:ext>
            </a:extLst>
          </p:cNvPr>
          <p:cNvCxnSpPr>
            <a:cxnSpLocks/>
            <a:stCxn id="8" idx="3"/>
            <a:endCxn id="294" idx="1"/>
          </p:cNvCxnSpPr>
          <p:nvPr/>
        </p:nvCxnSpPr>
        <p:spPr>
          <a:xfrm>
            <a:off x="5373055" y="1628623"/>
            <a:ext cx="837679" cy="3602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86F29F0B-7D2F-4569-A4EE-D22A50BC1F6D}"/>
              </a:ext>
            </a:extLst>
          </p:cNvPr>
          <p:cNvCxnSpPr>
            <a:cxnSpLocks/>
            <a:stCxn id="34" idx="3"/>
            <a:endCxn id="233" idx="1"/>
          </p:cNvCxnSpPr>
          <p:nvPr/>
        </p:nvCxnSpPr>
        <p:spPr>
          <a:xfrm>
            <a:off x="5373055" y="1893723"/>
            <a:ext cx="837679" cy="2258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직선 화살표 연결선 318">
            <a:extLst>
              <a:ext uri="{FF2B5EF4-FFF2-40B4-BE49-F238E27FC236}">
                <a16:creationId xmlns:a16="http://schemas.microsoft.com/office/drawing/2014/main" id="{1634A808-5513-6D5F-529D-59081B65E9B9}"/>
              </a:ext>
            </a:extLst>
          </p:cNvPr>
          <p:cNvCxnSpPr>
            <a:cxnSpLocks/>
            <a:stCxn id="34" idx="3"/>
            <a:endCxn id="234" idx="1"/>
          </p:cNvCxnSpPr>
          <p:nvPr/>
        </p:nvCxnSpPr>
        <p:spPr>
          <a:xfrm>
            <a:off x="5373055" y="1893723"/>
            <a:ext cx="837679" cy="2618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B3DF4E71-AAA1-CA60-B616-3DCD25C7673F}"/>
              </a:ext>
            </a:extLst>
          </p:cNvPr>
          <p:cNvCxnSpPr>
            <a:cxnSpLocks/>
            <a:stCxn id="35" idx="3"/>
            <a:endCxn id="237" idx="1"/>
          </p:cNvCxnSpPr>
          <p:nvPr/>
        </p:nvCxnSpPr>
        <p:spPr>
          <a:xfrm>
            <a:off x="5373055" y="2158823"/>
            <a:ext cx="837679" cy="3791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EFD868D5-450C-1FE0-2D51-F9B8747696DB}"/>
              </a:ext>
            </a:extLst>
          </p:cNvPr>
          <p:cNvCxnSpPr>
            <a:cxnSpLocks/>
            <a:stCxn id="36" idx="3"/>
            <a:endCxn id="238" idx="1"/>
          </p:cNvCxnSpPr>
          <p:nvPr/>
        </p:nvCxnSpPr>
        <p:spPr>
          <a:xfrm>
            <a:off x="5373055" y="2423923"/>
            <a:ext cx="837679" cy="3885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직선 화살표 연결선 327">
            <a:extLst>
              <a:ext uri="{FF2B5EF4-FFF2-40B4-BE49-F238E27FC236}">
                <a16:creationId xmlns:a16="http://schemas.microsoft.com/office/drawing/2014/main" id="{1F7BAE8D-C1F8-DDCE-140B-F1F764362431}"/>
              </a:ext>
            </a:extLst>
          </p:cNvPr>
          <p:cNvCxnSpPr>
            <a:cxnSpLocks/>
            <a:stCxn id="37" idx="3"/>
            <a:endCxn id="230" idx="1"/>
          </p:cNvCxnSpPr>
          <p:nvPr/>
        </p:nvCxnSpPr>
        <p:spPr>
          <a:xfrm>
            <a:off x="5373055" y="2689023"/>
            <a:ext cx="837679" cy="384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직선 화살표 연결선 330">
            <a:extLst>
              <a:ext uri="{FF2B5EF4-FFF2-40B4-BE49-F238E27FC236}">
                <a16:creationId xmlns:a16="http://schemas.microsoft.com/office/drawing/2014/main" id="{40B555EF-6E50-D3C6-99FA-284DC8900CD1}"/>
              </a:ext>
            </a:extLst>
          </p:cNvPr>
          <p:cNvCxnSpPr>
            <a:cxnSpLocks/>
            <a:stCxn id="37" idx="3"/>
            <a:endCxn id="234" idx="1"/>
          </p:cNvCxnSpPr>
          <p:nvPr/>
        </p:nvCxnSpPr>
        <p:spPr>
          <a:xfrm>
            <a:off x="5373055" y="2689023"/>
            <a:ext cx="837679" cy="1823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직선 화살표 연결선 334">
            <a:extLst>
              <a:ext uri="{FF2B5EF4-FFF2-40B4-BE49-F238E27FC236}">
                <a16:creationId xmlns:a16="http://schemas.microsoft.com/office/drawing/2014/main" id="{85880A1C-7318-AD2C-EA00-F4DE887A1099}"/>
              </a:ext>
            </a:extLst>
          </p:cNvPr>
          <p:cNvCxnSpPr>
            <a:cxnSpLocks/>
            <a:stCxn id="37" idx="3"/>
            <a:endCxn id="239" idx="1"/>
          </p:cNvCxnSpPr>
          <p:nvPr/>
        </p:nvCxnSpPr>
        <p:spPr>
          <a:xfrm>
            <a:off x="5373055" y="2689023"/>
            <a:ext cx="849432" cy="3980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8A3DD8-E1AA-0B2C-6B33-E21D161E4D4D}"/>
              </a:ext>
            </a:extLst>
          </p:cNvPr>
          <p:cNvSpPr txBox="1"/>
          <p:nvPr/>
        </p:nvSpPr>
        <p:spPr>
          <a:xfrm>
            <a:off x="9335713" y="1194420"/>
            <a:ext cx="26523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&lt;Refine&gt;</a:t>
            </a:r>
            <a:endParaRPr kumimoji="0" lang="ko-KR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DAEFEFF-9448-740B-5AE2-8F6519CE2FA8}"/>
              </a:ext>
            </a:extLst>
          </p:cNvPr>
          <p:cNvSpPr/>
          <p:nvPr/>
        </p:nvSpPr>
        <p:spPr>
          <a:xfrm>
            <a:off x="9667948" y="2158821"/>
            <a:ext cx="1753136" cy="4895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Workflow </a:t>
            </a:r>
            <a:r>
              <a:rPr lang="ko-KR" altLang="en-US" sz="1100" b="1">
                <a:effectLst/>
                <a:latin typeface="+mn-ea"/>
              </a:rPr>
              <a:t>실행 인프라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C364D96-47B0-928E-D60D-94E3C0CA5820}"/>
              </a:ext>
            </a:extLst>
          </p:cNvPr>
          <p:cNvSpPr/>
          <p:nvPr/>
        </p:nvSpPr>
        <p:spPr>
          <a:xfrm>
            <a:off x="9667948" y="3106507"/>
            <a:ext cx="1753136" cy="48952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Artifact </a:t>
            </a:r>
            <a:r>
              <a:rPr lang="ko-KR" altLang="en-US" sz="1100" b="1">
                <a:effectLst/>
                <a:latin typeface="+mn-ea"/>
              </a:rPr>
              <a:t>저장</a:t>
            </a:r>
            <a:r>
              <a:rPr lang="en-US" altLang="ko-KR" sz="1100" b="1">
                <a:effectLst/>
                <a:latin typeface="+mn-ea"/>
              </a:rPr>
              <a:t>·</a:t>
            </a:r>
            <a:r>
              <a:rPr lang="ko-KR" altLang="en-US" sz="1100" b="1">
                <a:effectLst/>
                <a:latin typeface="+mn-ea"/>
              </a:rPr>
              <a:t>전달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BDEC9AF-2A57-8D14-185C-3EBBDA651BF0}"/>
              </a:ext>
            </a:extLst>
          </p:cNvPr>
          <p:cNvSpPr/>
          <p:nvPr/>
        </p:nvSpPr>
        <p:spPr>
          <a:xfrm>
            <a:off x="9667948" y="4054193"/>
            <a:ext cx="1753136" cy="48952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SDK Config </a:t>
            </a:r>
            <a:r>
              <a:rPr lang="ko-KR" altLang="en-US" sz="1100" b="1">
                <a:effectLst/>
                <a:latin typeface="+mn-ea"/>
              </a:rPr>
              <a:t>변경 추적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7E82D70-409C-8D55-03D6-EE0A905C6BBE}"/>
              </a:ext>
            </a:extLst>
          </p:cNvPr>
          <p:cNvSpPr/>
          <p:nvPr/>
        </p:nvSpPr>
        <p:spPr>
          <a:xfrm>
            <a:off x="9667948" y="5001879"/>
            <a:ext cx="1753136" cy="4895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effectLst/>
                <a:latin typeface="+mn-ea"/>
              </a:rPr>
              <a:t>Agent </a:t>
            </a:r>
            <a:r>
              <a:rPr lang="ko-KR" altLang="en-US" sz="1100" b="1">
                <a:effectLst/>
                <a:latin typeface="+mn-ea"/>
              </a:rPr>
              <a:t>제어</a:t>
            </a:r>
            <a:r>
              <a:rPr lang="en-US" altLang="ko-KR" sz="1100" b="1">
                <a:effectLst/>
                <a:latin typeface="+mn-ea"/>
              </a:rPr>
              <a:t>·</a:t>
            </a:r>
            <a:r>
              <a:rPr lang="ko-KR" altLang="en-US" sz="1100" b="1">
                <a:effectLst/>
                <a:latin typeface="+mn-ea"/>
              </a:rPr>
              <a:t>관측</a:t>
            </a:r>
          </a:p>
        </p:txBody>
      </p:sp>
      <p:sp>
        <p:nvSpPr>
          <p:cNvPr id="301" name="사각형: 둥근 모서리 300">
            <a:extLst>
              <a:ext uri="{FF2B5EF4-FFF2-40B4-BE49-F238E27FC236}">
                <a16:creationId xmlns:a16="http://schemas.microsoft.com/office/drawing/2014/main" id="{22A75FF3-EA03-2668-A87B-71AD61EC86BE}"/>
              </a:ext>
            </a:extLst>
          </p:cNvPr>
          <p:cNvSpPr/>
          <p:nvPr/>
        </p:nvSpPr>
        <p:spPr>
          <a:xfrm>
            <a:off x="9667948" y="5949565"/>
            <a:ext cx="1753136" cy="48952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latin typeface="+mn-ea"/>
              </a:rPr>
              <a:t>시스템 운영</a:t>
            </a:r>
            <a:r>
              <a:rPr lang="en-US" altLang="ko-KR" sz="1100" b="1">
                <a:effectLst/>
                <a:latin typeface="+mn-ea"/>
              </a:rPr>
              <a:t>·</a:t>
            </a:r>
            <a:r>
              <a:rPr lang="ko-KR" altLang="en-US" sz="1100" b="1">
                <a:latin typeface="+mn-ea"/>
              </a:rPr>
              <a:t>제어</a:t>
            </a:r>
            <a:endParaRPr lang="ko-KR" altLang="en-US" sz="1100" b="1">
              <a:effectLst/>
              <a:latin typeface="+mn-ea"/>
            </a:endParaRPr>
          </a:p>
        </p:txBody>
      </p:sp>
      <p:sp>
        <p:nvSpPr>
          <p:cNvPr id="495" name="순서도: 대체 처리 494">
            <a:extLst>
              <a:ext uri="{FF2B5EF4-FFF2-40B4-BE49-F238E27FC236}">
                <a16:creationId xmlns:a16="http://schemas.microsoft.com/office/drawing/2014/main" id="{E7DE0A48-170C-1235-B3DE-2B0A6238B510}"/>
              </a:ext>
            </a:extLst>
          </p:cNvPr>
          <p:cNvSpPr/>
          <p:nvPr/>
        </p:nvSpPr>
        <p:spPr>
          <a:xfrm>
            <a:off x="11462488" y="2237070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6" name="순서도: 대체 처리 495">
            <a:extLst>
              <a:ext uri="{FF2B5EF4-FFF2-40B4-BE49-F238E27FC236}">
                <a16:creationId xmlns:a16="http://schemas.microsoft.com/office/drawing/2014/main" id="{19816CAA-EC4E-0123-2BA6-97CD3FA55FA9}"/>
              </a:ext>
            </a:extLst>
          </p:cNvPr>
          <p:cNvSpPr/>
          <p:nvPr/>
        </p:nvSpPr>
        <p:spPr>
          <a:xfrm>
            <a:off x="11462488" y="3168486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7" name="순서도: 대체 처리 496">
            <a:extLst>
              <a:ext uri="{FF2B5EF4-FFF2-40B4-BE49-F238E27FC236}">
                <a16:creationId xmlns:a16="http://schemas.microsoft.com/office/drawing/2014/main" id="{A1F7AE9C-7701-F72F-1016-45152C4B94E2}"/>
              </a:ext>
            </a:extLst>
          </p:cNvPr>
          <p:cNvSpPr/>
          <p:nvPr/>
        </p:nvSpPr>
        <p:spPr>
          <a:xfrm>
            <a:off x="11462488" y="4112104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8" name="순서도: 대체 처리 497">
            <a:extLst>
              <a:ext uri="{FF2B5EF4-FFF2-40B4-BE49-F238E27FC236}">
                <a16:creationId xmlns:a16="http://schemas.microsoft.com/office/drawing/2014/main" id="{53237128-8132-0CB6-F4FC-FBEAA0067196}"/>
              </a:ext>
            </a:extLst>
          </p:cNvPr>
          <p:cNvSpPr/>
          <p:nvPr/>
        </p:nvSpPr>
        <p:spPr>
          <a:xfrm>
            <a:off x="11462488" y="5044252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9" name="순서도: 대체 처리 498">
            <a:extLst>
              <a:ext uri="{FF2B5EF4-FFF2-40B4-BE49-F238E27FC236}">
                <a16:creationId xmlns:a16="http://schemas.microsoft.com/office/drawing/2014/main" id="{4614E577-03C6-5E1D-26EA-8F7F555BF957}"/>
              </a:ext>
            </a:extLst>
          </p:cNvPr>
          <p:cNvSpPr/>
          <p:nvPr/>
        </p:nvSpPr>
        <p:spPr>
          <a:xfrm>
            <a:off x="11462488" y="5987870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FR5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060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E9-DCE4-330B-07A9-6B310FB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196C5-03F9-77F4-6606-F4610972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기능 요구사항 </a:t>
            </a:r>
            <a:r>
              <a:rPr kumimoji="1" lang="en-US" altLang="ko-KR" sz="3600" b="1"/>
              <a:t>- APPENDIX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7FA8B-AACC-3E24-37FC-94992AE5CDED}"/>
              </a:ext>
            </a:extLst>
          </p:cNvPr>
          <p:cNvSpPr/>
          <p:nvPr/>
        </p:nvSpPr>
        <p:spPr>
          <a:xfrm flipV="1">
            <a:off x="615478" y="1110393"/>
            <a:ext cx="10073715" cy="48291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D6574B-D594-8956-2E3E-366667ED668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659710-4195-1B1C-2D09-09A9C7BBE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931907-5E62-5EE8-35D6-48DD83B0AD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E6D2E37-FB19-1366-2D86-B00B69D99DA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9EAB8F-D863-025D-35E3-42E792EFC40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3668ED-7958-FE9D-FC9E-47B4E172F6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75061BB9-A6E5-B7C7-D73E-08797CFBB114}"/>
              </a:ext>
            </a:extLst>
          </p:cNvPr>
          <p:cNvGraphicFramePr>
            <a:graphicFrameLocks noGrp="1"/>
          </p:cNvGraphicFramePr>
          <p:nvPr/>
        </p:nvGraphicFramePr>
        <p:xfrm>
          <a:off x="4144070" y="1346219"/>
          <a:ext cx="3704530" cy="5006961"/>
        </p:xfrm>
        <a:graphic>
          <a:graphicData uri="http://schemas.openxmlformats.org/drawingml/2006/table">
            <a:tbl>
              <a:tblPr/>
              <a:tblGrid>
                <a:gridCol w="3704530">
                  <a:extLst>
                    <a:ext uri="{9D8B030D-6E8A-4147-A177-3AD203B41FA5}">
                      <a16:colId xmlns:a16="http://schemas.microsoft.com/office/drawing/2014/main" val="1970044177"/>
                    </a:ext>
                  </a:extLst>
                </a:gridCol>
              </a:tblGrid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대용량 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Artifact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47130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대용량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(20GB+) Artifact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안정 저장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089381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무결성 검증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체크섬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92339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&lt;Workflow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 및 실행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218373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Artifact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메타데이터 자동 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태깅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8837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조직 간 산출물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Pull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및 수신 확인 기록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897894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이력 및 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Snapshot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8298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 이력 자동 기록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596666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 바인딩 스냅샷 저장 및 조회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782653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데이터 분석 및 예측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536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MM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자동 집계 및 예측 근거 제공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518726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세대별 검증 이력 조회 및 비교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86258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&lt;Knowledge Layer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490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Knowledge Layer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인덱싱 연동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94316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Dashboard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Reporting&gt;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923605"/>
                  </a:ext>
                </a:extLst>
              </a:tr>
              <a:tr h="5012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/ Workflow / Model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레벨 현황 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실시간 집계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시각화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130052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Tool 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버전별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사용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통과율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드릴다운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371020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주기적 리포트 자동 생성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전달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38249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BB52866A-716B-2B93-A61F-2576A8268976}"/>
              </a:ext>
            </a:extLst>
          </p:cNvPr>
          <p:cNvGraphicFramePr>
            <a:graphicFrameLocks noGrp="1"/>
          </p:cNvGraphicFramePr>
          <p:nvPr/>
        </p:nvGraphicFramePr>
        <p:xfrm>
          <a:off x="230358" y="1346219"/>
          <a:ext cx="3704530" cy="5010683"/>
        </p:xfrm>
        <a:graphic>
          <a:graphicData uri="http://schemas.openxmlformats.org/drawingml/2006/table">
            <a:tbl>
              <a:tblPr/>
              <a:tblGrid>
                <a:gridCol w="3704530">
                  <a:extLst>
                    <a:ext uri="{9D8B030D-6E8A-4147-A177-3AD203B41FA5}">
                      <a16:colId xmlns:a16="http://schemas.microsoft.com/office/drawing/2014/main" val="406494946"/>
                    </a:ext>
                  </a:extLst>
                </a:gridCol>
              </a:tblGrid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&lt;Group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314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Functional Requirement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625772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&lt;Workflow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 및 실행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0671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Programmable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노드 기반 </a:t>
                      </a: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Workflow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정의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910037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Workflow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버전 관리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52806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재실행 트리거 및 자동 실행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835475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&lt;Workflow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복구 및 안정성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52159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에러 유형 분류 및 자동 재시도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1393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중간 산출물 및 실행 상태 보존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69013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&lt;Workflow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추적 및 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Agent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738356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노드 실행 시 바인딩 스냅샷 자동 기록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309110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Node-Agent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매핑 정의 및 실행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80204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&lt;Tool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 및 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017084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Tool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버전 등록 및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스키마 관리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87577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모델별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Tool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·Config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바인딩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694283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유효성 자동 검증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76183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영향 분석 및 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Migration&gt;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454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Tool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버전 변경 시 영향 모델 자동 조회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25901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세대 간 마이그레이션 템플릿 자동 생성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537523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98464872-5556-08ED-9169-96D15D565E55}"/>
              </a:ext>
            </a:extLst>
          </p:cNvPr>
          <p:cNvGraphicFramePr>
            <a:graphicFrameLocks noGrp="1"/>
          </p:cNvGraphicFramePr>
          <p:nvPr/>
        </p:nvGraphicFramePr>
        <p:xfrm>
          <a:off x="8057781" y="1346218"/>
          <a:ext cx="3704530" cy="4935881"/>
        </p:xfrm>
        <a:graphic>
          <a:graphicData uri="http://schemas.openxmlformats.org/drawingml/2006/table">
            <a:tbl>
              <a:tblPr/>
              <a:tblGrid>
                <a:gridCol w="3704530">
                  <a:extLst>
                    <a:ext uri="{9D8B030D-6E8A-4147-A177-3AD203B41FA5}">
                      <a16:colId xmlns:a16="http://schemas.microsoft.com/office/drawing/2014/main" val="4065293675"/>
                    </a:ext>
                  </a:extLst>
                </a:gridCol>
              </a:tblGrid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운영 지원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313330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담당자별 당일 업무 통합 뷰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81631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&lt;Agent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및 비용 제어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818859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Agent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운영 현황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비용 통합 조회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9950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수백 개 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Agent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동시 실행 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컴퓨트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관리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556071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호출량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비용 관측 및 상한 관리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72937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자동화 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Skill Agent&gt;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45223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맞춤 알림 생성 및 전달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495257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채팅↔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Jira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자동 동기화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2069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 컨텍스트 자동 수집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요약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17705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Jira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이슈 생성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전이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코멘트 자동화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371513"/>
                  </a:ext>
                </a:extLst>
              </a:tr>
              <a:tr h="2880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&lt;AI </a:t>
                      </a:r>
                      <a:r>
                        <a:rPr lang="ko-KR" alt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분석 및 자율화</a:t>
                      </a:r>
                      <a:r>
                        <a:rPr lang="en-US" altLang="ko-KR" sz="16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endParaRPr lang="ko-KR" altLang="en-US" sz="1600" b="1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02112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재검증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우선순위</a:t>
                      </a:r>
                      <a:r>
                        <a:rPr lang="en-US" altLang="ko-KR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고위험 모델 예측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903554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불량 원인 우선순위 추론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822"/>
                  </a:ext>
                </a:extLst>
              </a:tr>
              <a:tr h="5012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Knowledge Layer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구축 및 </a:t>
                      </a:r>
                      <a:endParaRPr lang="en-US" altLang="ko-KR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l" rtl="0" fontAlgn="ctr"/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RAG </a:t>
                      </a:r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기반 유사 사례 검색</a:t>
                      </a:r>
                      <a:endParaRPr lang="ko-KR" altLang="en-US" sz="1400" b="0" i="0" u="none" strike="noStrike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7832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자연어 기반 커스텀 분석 뷰 생성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95076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외부 프로파일링 도구 어댑터 연계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956161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컨텍스트 기반 대화형 이슈 자동 응답</a:t>
                      </a:r>
                    </a:p>
                  </a:txBody>
                  <a:tcPr marL="108000" marR="108000" marT="319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54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362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939F72A-88DB-88BF-61FB-6D593038241A}"/>
              </a:ext>
            </a:extLst>
          </p:cNvPr>
          <p:cNvGraphicFramePr>
            <a:graphicFrameLocks noGrp="1"/>
          </p:cNvGraphicFramePr>
          <p:nvPr/>
        </p:nvGraphicFramePr>
        <p:xfrm>
          <a:off x="1296480" y="1208564"/>
          <a:ext cx="10651515" cy="7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39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62744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Efficiency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Agent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토큰 사용량</a:t>
                      </a:r>
                      <a:endParaRPr lang="ko-KR" sz="11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는 업무를 수행하는데 토큰 사용량을 최소화해야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i="1">
                          <a:solidFill>
                            <a:srgbClr val="FF0000"/>
                          </a:solidFill>
                        </a:rPr>
                        <a:t>KPI: </a:t>
                      </a:r>
                      <a:r>
                        <a:rPr lang="ko-KR" altLang="en-US" sz="1100" b="0" i="1" u="none" strike="noStrike" noProof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단일 요청 총 토큰 </a:t>
                      </a:r>
                      <a:r>
                        <a:rPr lang="en-US" altLang="ko-KR" sz="1100" b="0" i="1" u="none" strike="noStrike" noProof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≤ 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973300"/>
                  </a:ext>
                </a:extLst>
              </a:tr>
            </a:tbl>
          </a:graphicData>
        </a:graphic>
      </p:graphicFrame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E03936A0-8C9C-2B4F-AB5E-09572B85C089}"/>
              </a:ext>
            </a:extLst>
          </p:cNvPr>
          <p:cNvSpPr/>
          <p:nvPr/>
        </p:nvSpPr>
        <p:spPr>
          <a:xfrm>
            <a:off x="504000" y="15093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039BB6EE-2B42-BC4A-2D47-CA05099A09B2}"/>
              </a:ext>
            </a:extLst>
          </p:cNvPr>
          <p:cNvGraphicFramePr>
            <a:graphicFrameLocks noGrp="1"/>
          </p:cNvGraphicFramePr>
          <p:nvPr/>
        </p:nvGraphicFramePr>
        <p:xfrm>
          <a:off x="1455672" y="3166543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303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112387194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Efficiency</a:t>
                      </a:r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단일 요청 총 토큰 </a:t>
                      </a:r>
                      <a:r>
                        <a:rPr lang="en-US" altLang="ko-KR" sz="1400"/>
                        <a:t>4k </a:t>
                      </a:r>
                      <a:r>
                        <a:rPr lang="ko-KR" altLang="en-US" sz="1400"/>
                        <a:t>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단일 작업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단일 요청 총 토큰 </a:t>
                      </a:r>
                      <a:r>
                        <a:rPr lang="en-US" altLang="ko-KR" sz="1400"/>
                        <a:t>4k~6k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일반 </a:t>
                      </a:r>
                      <a:r>
                        <a:rPr lang="en-US" altLang="ko-KR" sz="1400"/>
                        <a:t>Agent Workflow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★☆☆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단일 요청 총 토큰 </a:t>
                      </a:r>
                      <a:r>
                        <a:rPr lang="en-US" altLang="ko-KR" sz="1400"/>
                        <a:t>6k~8k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복합 추론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400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939F72A-88DB-88BF-61FB-6D593038241A}"/>
              </a:ext>
            </a:extLst>
          </p:cNvPr>
          <p:cNvGraphicFramePr>
            <a:graphicFrameLocks noGrp="1"/>
          </p:cNvGraphicFramePr>
          <p:nvPr/>
        </p:nvGraphicFramePr>
        <p:xfrm>
          <a:off x="1296480" y="1208564"/>
          <a:ext cx="10651515" cy="7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39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62744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시스템 확장성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대상 모델과 수행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워크플로우 수 증가에 비례하여 처리 능력을 확장할 수 있어야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i="1">
                          <a:solidFill>
                            <a:srgbClr val="FF0000"/>
                          </a:solidFill>
                        </a:rPr>
                        <a:t>KPI: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시간당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수 ≥ N,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자원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1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활용률</a:t>
                      </a:r>
                      <a:r>
                        <a:rPr lang="en-US" sz="1100" b="0" i="1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≥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25703"/>
                  </a:ext>
                </a:extLst>
              </a:tr>
            </a:tbl>
          </a:graphicData>
        </a:graphic>
      </p:graphicFrame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E03936A0-8C9C-2B4F-AB5E-09572B85C089}"/>
              </a:ext>
            </a:extLst>
          </p:cNvPr>
          <p:cNvSpPr/>
          <p:nvPr/>
        </p:nvSpPr>
        <p:spPr>
          <a:xfrm>
            <a:off x="504000" y="15093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53CBE2-25A5-F686-F5DB-ECF223CA4509}"/>
              </a:ext>
            </a:extLst>
          </p:cNvPr>
          <p:cNvGraphicFramePr>
            <a:graphicFrameLocks noGrp="1"/>
          </p:cNvGraphicFramePr>
          <p:nvPr/>
        </p:nvGraphicFramePr>
        <p:xfrm>
          <a:off x="1455672" y="3166543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303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112387194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★☆☆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316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939F72A-88DB-88BF-61FB-6D593038241A}"/>
              </a:ext>
            </a:extLst>
          </p:cNvPr>
          <p:cNvGraphicFramePr>
            <a:graphicFrameLocks noGrp="1"/>
          </p:cNvGraphicFramePr>
          <p:nvPr/>
        </p:nvGraphicFramePr>
        <p:xfrm>
          <a:off x="1296480" y="1208564"/>
          <a:ext cx="10651515" cy="7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39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62744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수행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개발자가 직접 수행한 시간 대비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 수행 시간 단축을 최대화하여야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. </a:t>
                      </a:r>
                    </a:p>
                    <a:p>
                      <a:pPr marL="0" lvl="0" algn="l" defTabSz="914400" rtl="0" eaLnBrk="1" latinLnBrk="1" hangingPunct="1">
                        <a:buNone/>
                      </a:pP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{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개발자 노드 수행 시간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– Agent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통한 자동 노드 수행 시간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} &gt; </a:t>
                      </a:r>
                      <a:r>
                        <a:rPr lang="ko-KR" altLang="en-US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최대화 </a:t>
                      </a:r>
                      <a:r>
                        <a:rPr lang="en-US" altLang="ko-KR" sz="1100" i="1" kern="1200" noProof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(%%)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25688"/>
                  </a:ext>
                </a:extLst>
              </a:tr>
            </a:tbl>
          </a:graphicData>
        </a:graphic>
      </p:graphicFrame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E03936A0-8C9C-2B4F-AB5E-09572B85C089}"/>
              </a:ext>
            </a:extLst>
          </p:cNvPr>
          <p:cNvSpPr/>
          <p:nvPr/>
        </p:nvSpPr>
        <p:spPr>
          <a:xfrm>
            <a:off x="504000" y="15093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A04E20-CD71-816F-A320-389E4F80CDEB}"/>
              </a:ext>
            </a:extLst>
          </p:cNvPr>
          <p:cNvGraphicFramePr>
            <a:graphicFrameLocks noGrp="1"/>
          </p:cNvGraphicFramePr>
          <p:nvPr/>
        </p:nvGraphicFramePr>
        <p:xfrm>
          <a:off x="1455672" y="3166543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303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112387194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★☆☆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85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939F72A-88DB-88BF-61FB-6D5930382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456325"/>
              </p:ext>
            </p:extLst>
          </p:nvPr>
        </p:nvGraphicFramePr>
        <p:xfrm>
          <a:off x="1296480" y="1208564"/>
          <a:ext cx="10651515" cy="76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395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62744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운영 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서버 오류나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오동작 등 시스템 부분 장애 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 서비스 연속성을 보장해야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i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KPI: MTTR (Mean Time To Recovery) &lt; 1분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798605"/>
                  </a:ext>
                </a:extLst>
              </a:tr>
            </a:tbl>
          </a:graphicData>
        </a:graphic>
      </p:graphicFrame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E03936A0-8C9C-2B4F-AB5E-09572B85C089}"/>
              </a:ext>
            </a:extLst>
          </p:cNvPr>
          <p:cNvSpPr/>
          <p:nvPr/>
        </p:nvSpPr>
        <p:spPr>
          <a:xfrm>
            <a:off x="504000" y="1509360"/>
            <a:ext cx="648000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0" rIns="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QA04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8C23D9F-8676-336E-6144-0E067BFBEC97}"/>
              </a:ext>
            </a:extLst>
          </p:cNvPr>
          <p:cNvGraphicFramePr>
            <a:graphicFrameLocks noGrp="1"/>
          </p:cNvGraphicFramePr>
          <p:nvPr/>
        </p:nvGraphicFramePr>
        <p:xfrm>
          <a:off x="1455672" y="3166543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303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112387194"/>
                    </a:ext>
                  </a:extLst>
                </a:gridCol>
                <a:gridCol w="4372520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★★☆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★☆☆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225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569B-EEF3-3D5F-C38D-AA08B972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A34F0-372B-D14E-3B6D-3A6B9B0D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1876"/>
            <a:ext cx="10515600" cy="765843"/>
          </a:xfrm>
        </p:spPr>
        <p:txBody>
          <a:bodyPr>
            <a:normAutofit/>
          </a:bodyPr>
          <a:lstStyle/>
          <a:p>
            <a:pPr algn="ctr"/>
            <a:r>
              <a:rPr kumimoji="1" lang="ko-KR" altLang="en-US" sz="3600" b="1">
                <a:ea typeface="맑은 고딕"/>
              </a:rPr>
              <a:t>진짜 감사합니다</a:t>
            </a:r>
            <a:r>
              <a:rPr kumimoji="1" lang="en-US" altLang="ko-KR" sz="3600" b="1">
                <a:ea typeface="맑은 고딕"/>
              </a:rPr>
              <a:t>. </a:t>
            </a:r>
            <a:r>
              <a:rPr kumimoji="1" lang="en-US" altLang="ko-KR" sz="3600" b="1" err="1">
                <a:ea typeface="맑은 고딕"/>
              </a:rPr>
              <a:t>뒤에는</a:t>
            </a:r>
            <a:r>
              <a:rPr kumimoji="1" lang="en-US" altLang="ko-KR" sz="3600" b="1">
                <a:ea typeface="맑은 고딕"/>
              </a:rPr>
              <a:t> </a:t>
            </a:r>
            <a:r>
              <a:rPr kumimoji="1" lang="en-US" altLang="ko-KR" sz="3600" b="1" err="1">
                <a:ea typeface="맑은 고딕"/>
              </a:rPr>
              <a:t>복붙해둔거</a:t>
            </a:r>
            <a:endParaRPr lang="en-US" altLang="ko-KR" sz="3600" b="1" err="1"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F424E1-0DFA-A134-28F2-4AD9BEE0F839}"/>
              </a:ext>
            </a:extLst>
          </p:cNvPr>
          <p:cNvSpPr/>
          <p:nvPr/>
        </p:nvSpPr>
        <p:spPr>
          <a:xfrm flipV="1">
            <a:off x="5426970" y="3899102"/>
            <a:ext cx="1338059" cy="457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6105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개요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Stakeholders · 1 Pipeline · Multi-Component SDK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2004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2588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 개발자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Converter / Optimizer / Compiler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단위 개발 및 릴리즈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2004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3502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개발자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CI/CD, Agentic DevOps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인프라 운영 및 자동화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2004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5029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2588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2588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릴리즈 관리, 우선순위 조정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 승인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1920240"/>
            <a:ext cx="7589520" cy="4389120"/>
          </a:xfrm>
          <a:prstGeom prst="rect">
            <a:avLst/>
          </a:prstGeom>
          <a:solidFill>
            <a:srgbClr val="F1F5F9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0" y="2286000"/>
            <a:ext cx="6675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0" y="22860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0" y="3063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Release Pipeline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03320"/>
            <a:ext cx="0" cy="54864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0" y="4343400"/>
            <a:ext cx="66751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0" y="43434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DevOps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0" y="51206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Build · Test · Deploy Agents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14800" y="6400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사람의 개입 없이 SDK 빌드부터 NPU 배포까지 자동화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 컴포넌트 구조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SDK_v0.1 = Converter + Optimizer + Compiler + Quantizer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01752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SDK_v0.1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통합 릴리즈 버전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173736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Quantizer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2011680"/>
            <a:ext cx="9144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ZR_v0.2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모델 그래프 → 내부 IR 변환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661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53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607040" y="2011680"/>
            <a:ext cx="9144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607040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Graph_v0.3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75320" y="2423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최적화 패스 적용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97680" y="3520440"/>
            <a:ext cx="35661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97680" y="3520440"/>
            <a:ext cx="73152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2628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0" y="3703320"/>
            <a:ext cx="9144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26280" y="41148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FP16 → INT8 / NVFP4 양자화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046720" y="3520440"/>
            <a:ext cx="35661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46720" y="352044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75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607040" y="3703320"/>
            <a:ext cx="9144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0704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v0.2.2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75320" y="41148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최적화 IR → NPU 바이너리 컴파일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40280" y="5120640"/>
            <a:ext cx="0" cy="54864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97280" y="5715000"/>
            <a:ext cx="2286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97280" y="5715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NPU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1480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SDK_v0.1 통합 빌드는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CI/CD 파이프라인 출력물의 최종 산출물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 파이프라인 흐름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자동화 시퀀스 + Node Pool 워크플로우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 자동화 시퀀스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830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83080" y="2468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 소스 커밋 / PR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1828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778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77840" y="2468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빌드 + 단위 테스트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2423160"/>
            <a:ext cx="1828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210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726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72600" y="2468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통합 SDK 패키징 + 배포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NODE POOL — 실행 단계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21031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444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ZR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303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Converter 실행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(모델 → IR)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0" y="3977640"/>
            <a:ext cx="21031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0" y="397764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52044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5204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346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34640" y="5303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상태 알림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(빌드/테스트 결과)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0" y="3977640"/>
            <a:ext cx="21031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0" y="397764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0644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064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206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120640" y="5303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최적화 +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15200" y="3977640"/>
            <a:ext cx="21031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15200" y="397764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09244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924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066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06640" y="5303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추가 단계 확장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(테스트, 검증 등)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601200" y="3977640"/>
            <a:ext cx="210312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601200" y="397764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378440" y="4206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784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9264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Custom Viewer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92640" y="5303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결과 시각화 /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디버그 뷰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Node Pool은 Agentic DevOps가 오케스트레이션하는 분산 실행 단위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인프라 흐름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NPU · CI/CD가 만드는 닫힌 루프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0" y="1737360"/>
            <a:ext cx="292608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4023360"/>
            <a:ext cx="2926080" cy="10972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0" y="4023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DevOps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6240" y="2834640"/>
            <a:ext cx="0" cy="11887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0" y="1737360"/>
            <a:ext cx="201168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SDK_v0.1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0" y="2286000"/>
            <a:ext cx="118872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0" y="3154680"/>
            <a:ext cx="201168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NPU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63840" y="2834640"/>
            <a:ext cx="0" cy="32004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0" y="5440680"/>
            <a:ext cx="2286000" cy="9144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0" y="5440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06240" y="5120640"/>
            <a:ext cx="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4069080"/>
            <a:ext cx="0" cy="1371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dash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418320" y="1737360"/>
            <a:ext cx="2286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18320" y="1737360"/>
            <a:ext cx="73152" cy="4572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554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55480" y="2423160"/>
            <a:ext cx="4572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554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릴리즈 흐름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554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빌드된 산출물 전달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555480" y="3703320"/>
            <a:ext cx="457200" cy="0"/>
          </a:xfrm>
          <a:prstGeom prst="line">
            <a:avLst/>
          </a:prstGeom>
          <a:noFill/>
          <a:ln w="508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5548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제어 흐름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55480" y="4206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 ↔ Agent 명령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555480" y="4983480"/>
            <a:ext cx="4572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55548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실행 / 데이터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55548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NPU 실행 및 결과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>
                <a:ln>
                  <a:noFill/>
                </a:ln>
                <a:solidFill>
                  <a:srgbClr val="F961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TOPOLOGY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CI/CD가 SDK를 빌드 → NPU에 배포 → Storage에 산출물 저장 → Agentic DevOps가 다음 사이클을 트리거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7576-F39D-F90F-8E59-17737BF8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2B517445-CB5A-C6D9-95A7-DDB5802D5A8E}"/>
              </a:ext>
            </a:extLst>
          </p:cNvPr>
          <p:cNvSpPr/>
          <p:nvPr/>
        </p:nvSpPr>
        <p:spPr>
          <a:xfrm>
            <a:off x="6773904" y="2325398"/>
            <a:ext cx="4713910" cy="6643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B4E47D-920E-CFA6-F397-6CEFBF8B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과제 배경</a:t>
            </a:r>
            <a:r>
              <a:rPr kumimoji="1" lang="en-US" altLang="ko-KR" sz="2800" b="1"/>
              <a:t>| </a:t>
            </a:r>
            <a:r>
              <a:rPr kumimoji="1" lang="ko-KR" altLang="en-US" sz="2800" b="1"/>
              <a:t>개선 시나리오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88E336-E6FE-F7C8-CC75-95CFF491C4D0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1528729-52EB-CB76-D43E-3B4F04E7AED1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F285AFD-2857-AEBB-4283-02F5CDB729DB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AE2374-4D4C-EC55-FABF-EC7CEE38BE23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6C029C9-E229-6373-520C-EB9ED361C5EA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F8155C5-AA5E-8525-1070-EA3A0CFF4855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57F628A-FEBE-73F2-D01C-CB5CB209F866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44A22D-B571-FF63-7596-3AF2715E602C}"/>
              </a:ext>
            </a:extLst>
          </p:cNvPr>
          <p:cNvSpPr txBox="1"/>
          <p:nvPr/>
        </p:nvSpPr>
        <p:spPr>
          <a:xfrm>
            <a:off x="1600366" y="1265744"/>
            <a:ext cx="2885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As-Is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개발자 직접 관리 </a:t>
            </a: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+ </a:t>
            </a:r>
            <a:r>
              <a:rPr lang="ko-KR" altLang="en-US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분리된 시스템 </a:t>
            </a:r>
            <a:r>
              <a:rPr lang="en-US" altLang="ko-KR" sz="1200" b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]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F6F64-2ECA-CDF1-1E75-540A3BF588A0}"/>
              </a:ext>
            </a:extLst>
          </p:cNvPr>
          <p:cNvSpPr txBox="1"/>
          <p:nvPr/>
        </p:nvSpPr>
        <p:spPr>
          <a:xfrm>
            <a:off x="8068794" y="1295401"/>
            <a:ext cx="2414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To-Be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[Agentic DevOps]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7E73CB0-0553-67C6-2EC6-5047CE1A3A3E}"/>
              </a:ext>
            </a:extLst>
          </p:cNvPr>
          <p:cNvCxnSpPr>
            <a:cxnSpLocks/>
          </p:cNvCxnSpPr>
          <p:nvPr/>
        </p:nvCxnSpPr>
        <p:spPr>
          <a:xfrm>
            <a:off x="1260704" y="3429000"/>
            <a:ext cx="0" cy="310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B2C3F5E4-4CF0-2E37-B5BD-967AD146005F}"/>
              </a:ext>
            </a:extLst>
          </p:cNvPr>
          <p:cNvSpPr/>
          <p:nvPr/>
        </p:nvSpPr>
        <p:spPr>
          <a:xfrm>
            <a:off x="661563" y="2047661"/>
            <a:ext cx="1198285" cy="39107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Run Quant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CFCF4199-5106-D7BA-2E10-73E4603B722A}"/>
              </a:ext>
            </a:extLst>
          </p:cNvPr>
          <p:cNvSpPr/>
          <p:nvPr/>
        </p:nvSpPr>
        <p:spPr>
          <a:xfrm>
            <a:off x="4146492" y="2047661"/>
            <a:ext cx="1198285" cy="391076"/>
          </a:xfrm>
          <a:prstGeom prst="flowChartAlternateProcess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Run Compiler</a:t>
            </a:r>
            <a:endParaRPr lang="ko-KR" alt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143527C-8770-4A53-644B-0E0134DCFC2E}"/>
              </a:ext>
            </a:extLst>
          </p:cNvPr>
          <p:cNvGrpSpPr/>
          <p:nvPr/>
        </p:nvGrpSpPr>
        <p:grpSpPr>
          <a:xfrm>
            <a:off x="809017" y="2749281"/>
            <a:ext cx="903375" cy="725392"/>
            <a:chOff x="133639" y="2741079"/>
            <a:chExt cx="1936462" cy="155494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362BEDF-0F99-F2AF-0213-E66B92057FDD}"/>
                </a:ext>
              </a:extLst>
            </p:cNvPr>
            <p:cNvGrpSpPr/>
            <p:nvPr/>
          </p:nvGrpSpPr>
          <p:grpSpPr>
            <a:xfrm>
              <a:off x="822024" y="2741079"/>
              <a:ext cx="559693" cy="685554"/>
              <a:chOff x="649770" y="2616200"/>
              <a:chExt cx="696441" cy="937043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2F2063F-7173-92A1-9F44-76453376573B}"/>
                  </a:ext>
                </a:extLst>
              </p:cNvPr>
              <p:cNvSpPr/>
              <p:nvPr/>
            </p:nvSpPr>
            <p:spPr>
              <a:xfrm>
                <a:off x="812800" y="2616200"/>
                <a:ext cx="381000" cy="381000"/>
              </a:xfrm>
              <a:prstGeom prst="ellipse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순서도: 지연 24">
                <a:extLst>
                  <a:ext uri="{FF2B5EF4-FFF2-40B4-BE49-F238E27FC236}">
                    <a16:creationId xmlns:a16="http://schemas.microsoft.com/office/drawing/2014/main" id="{8CCACEB2-C74C-C020-C152-2D3D1F15DC8A}"/>
                  </a:ext>
                </a:extLst>
              </p:cNvPr>
              <p:cNvSpPr/>
              <p:nvPr/>
            </p:nvSpPr>
            <p:spPr>
              <a:xfrm rot="16200000">
                <a:off x="759448" y="2966479"/>
                <a:ext cx="477086" cy="696441"/>
              </a:xfrm>
              <a:prstGeom prst="flowChartDelay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4FBD85-302B-C12F-BC71-5F180B92160E}"/>
                </a:ext>
              </a:extLst>
            </p:cNvPr>
            <p:cNvSpPr txBox="1"/>
            <p:nvPr/>
          </p:nvSpPr>
          <p:spPr>
            <a:xfrm>
              <a:off x="133639" y="3438349"/>
              <a:ext cx="1936462" cy="857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Quantizer Developer</a:t>
              </a:r>
              <a:endParaRPr lang="ko-KR" altLang="en-US" sz="1000"/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296834-7AAB-4CA5-BC77-789AC2588C44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1859848" y="2243199"/>
            <a:ext cx="228664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01BA27F-A653-8EFD-DD98-D2CDA8415B1A}"/>
              </a:ext>
            </a:extLst>
          </p:cNvPr>
          <p:cNvGrpSpPr/>
          <p:nvPr/>
        </p:nvGrpSpPr>
        <p:grpSpPr>
          <a:xfrm>
            <a:off x="4293946" y="2706401"/>
            <a:ext cx="903375" cy="725392"/>
            <a:chOff x="133639" y="2741079"/>
            <a:chExt cx="1936462" cy="1554940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A2DD4934-0672-A9D8-1C73-4EFC4ADE723E}"/>
                </a:ext>
              </a:extLst>
            </p:cNvPr>
            <p:cNvGrpSpPr/>
            <p:nvPr/>
          </p:nvGrpSpPr>
          <p:grpSpPr>
            <a:xfrm>
              <a:off x="822024" y="2741079"/>
              <a:ext cx="559693" cy="685554"/>
              <a:chOff x="649770" y="2616200"/>
              <a:chExt cx="696441" cy="937043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9126340A-3597-AB5E-6675-D7B60353443A}"/>
                  </a:ext>
                </a:extLst>
              </p:cNvPr>
              <p:cNvSpPr/>
              <p:nvPr/>
            </p:nvSpPr>
            <p:spPr>
              <a:xfrm>
                <a:off x="812800" y="2616200"/>
                <a:ext cx="381000" cy="381000"/>
              </a:xfrm>
              <a:prstGeom prst="ellipse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" name="순서도: 지연 31">
                <a:extLst>
                  <a:ext uri="{FF2B5EF4-FFF2-40B4-BE49-F238E27FC236}">
                    <a16:creationId xmlns:a16="http://schemas.microsoft.com/office/drawing/2014/main" id="{EC108D63-4EF7-B832-1237-3A524428642E}"/>
                  </a:ext>
                </a:extLst>
              </p:cNvPr>
              <p:cNvSpPr/>
              <p:nvPr/>
            </p:nvSpPr>
            <p:spPr>
              <a:xfrm rot="16200000">
                <a:off x="759448" y="2966479"/>
                <a:ext cx="477086" cy="696441"/>
              </a:xfrm>
              <a:prstGeom prst="flowChartDelay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F616D6-A31F-436D-AC35-6D82942C2854}"/>
                </a:ext>
              </a:extLst>
            </p:cNvPr>
            <p:cNvSpPr txBox="1"/>
            <p:nvPr/>
          </p:nvSpPr>
          <p:spPr>
            <a:xfrm>
              <a:off x="133639" y="3438349"/>
              <a:ext cx="1936462" cy="857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Compiler</a:t>
              </a:r>
              <a:br>
                <a:rPr lang="en-US" altLang="ko-KR" sz="100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Developer</a:t>
              </a:r>
              <a:endParaRPr lang="ko-KR" altLang="en-US" sz="1000"/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1A9CF7D-0075-C478-E337-8530B4E314B2}"/>
              </a:ext>
            </a:extLst>
          </p:cNvPr>
          <p:cNvCxnSpPr>
            <a:cxnSpLocks/>
          </p:cNvCxnSpPr>
          <p:nvPr/>
        </p:nvCxnSpPr>
        <p:spPr>
          <a:xfrm>
            <a:off x="4727233" y="3429000"/>
            <a:ext cx="0" cy="310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66D9CF4-DD21-251E-D75F-C5E249D590D0}"/>
              </a:ext>
            </a:extLst>
          </p:cNvPr>
          <p:cNvSpPr txBox="1"/>
          <p:nvPr/>
        </p:nvSpPr>
        <p:spPr>
          <a:xfrm>
            <a:off x="1264369" y="3762914"/>
            <a:ext cx="3075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①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Quantizer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(Version, Config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관리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②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TV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생성 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③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Artifact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업로드 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(Quantized Model, TV-in/-Out, 20GB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이상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④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Notify to Compiler Developer (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⑤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JIRA Update (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05331B-33A2-6BC1-1223-87DC23F24BFA}"/>
              </a:ext>
            </a:extLst>
          </p:cNvPr>
          <p:cNvSpPr txBox="1"/>
          <p:nvPr/>
        </p:nvSpPr>
        <p:spPr>
          <a:xfrm>
            <a:off x="1669674" y="5237608"/>
            <a:ext cx="3075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①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Artifact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다운로드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②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Compiler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(Version, Config </a:t>
            </a:r>
            <a:r>
              <a:rPr lang="ko-KR" altLang="en-US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수동 관리</a:t>
            </a:r>
            <a:r>
              <a:rPr lang="en-US" altLang="ko-KR" sz="120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③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NPU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Binary Loading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④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Verification (TV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정합성 검증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endParaRPr lang="en-US" altLang="ko-KR" sz="1200">
              <a:solidFill>
                <a:srgbClr val="FF0000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 IF Pass ]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⑤ 종료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latinLnBrk="0"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[ IF Fail   ]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</a:rPr>
              <a:t>⑥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</a:rPr>
              <a:t> Quantizer Developer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</a:rPr>
              <a:t>에 전달 </a:t>
            </a:r>
            <a:endParaRPr lang="en-US" altLang="ko-KR" sz="12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73437DF-69A4-E88A-7889-4E72003D4C02}"/>
              </a:ext>
            </a:extLst>
          </p:cNvPr>
          <p:cNvCxnSpPr/>
          <p:nvPr/>
        </p:nvCxnSpPr>
        <p:spPr>
          <a:xfrm>
            <a:off x="1334115" y="3714750"/>
            <a:ext cx="33420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F68A10C-8A2A-E9F9-01C9-7A0759D9D837}"/>
              </a:ext>
            </a:extLst>
          </p:cNvPr>
          <p:cNvCxnSpPr/>
          <p:nvPr/>
        </p:nvCxnSpPr>
        <p:spPr>
          <a:xfrm>
            <a:off x="1362690" y="5194728"/>
            <a:ext cx="334208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FB4D1189-D09C-F136-1DA1-D89282EE1801}"/>
              </a:ext>
            </a:extLst>
          </p:cNvPr>
          <p:cNvSpPr/>
          <p:nvPr/>
        </p:nvSpPr>
        <p:spPr>
          <a:xfrm>
            <a:off x="5795253" y="3093151"/>
            <a:ext cx="386906" cy="202274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21D0C4D-8801-4E4A-4A02-8BDF229669EC}"/>
              </a:ext>
            </a:extLst>
          </p:cNvPr>
          <p:cNvGrpSpPr/>
          <p:nvPr/>
        </p:nvGrpSpPr>
        <p:grpSpPr>
          <a:xfrm>
            <a:off x="10996947" y="3235277"/>
            <a:ext cx="377169" cy="457104"/>
            <a:chOff x="649770" y="2616200"/>
            <a:chExt cx="696441" cy="937043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7971CEC8-55AB-6320-8DD6-4479262E5574}"/>
                </a:ext>
              </a:extLst>
            </p:cNvPr>
            <p:cNvSpPr/>
            <p:nvPr/>
          </p:nvSpPr>
          <p:spPr>
            <a:xfrm>
              <a:off x="812800" y="2616200"/>
              <a:ext cx="381000" cy="381000"/>
            </a:xfrm>
            <a:prstGeom prst="ellipse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순서도: 지연 91">
              <a:extLst>
                <a:ext uri="{FF2B5EF4-FFF2-40B4-BE49-F238E27FC236}">
                  <a16:creationId xmlns:a16="http://schemas.microsoft.com/office/drawing/2014/main" id="{16A582C8-4877-5421-E885-9D95634886DB}"/>
                </a:ext>
              </a:extLst>
            </p:cNvPr>
            <p:cNvSpPr/>
            <p:nvPr/>
          </p:nvSpPr>
          <p:spPr>
            <a:xfrm rot="16200000">
              <a:off x="759448" y="2966479"/>
              <a:ext cx="477086" cy="696441"/>
            </a:xfrm>
            <a:prstGeom prst="flowChartDelay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746052E-7C36-8969-641E-54F9576C634B}"/>
              </a:ext>
            </a:extLst>
          </p:cNvPr>
          <p:cNvSpPr/>
          <p:nvPr/>
        </p:nvSpPr>
        <p:spPr>
          <a:xfrm>
            <a:off x="6696910" y="2022126"/>
            <a:ext cx="4868349" cy="4495317"/>
          </a:xfrm>
          <a:prstGeom prst="rect">
            <a:avLst/>
          </a:prstGeom>
          <a:noFill/>
          <a:ln w="127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sz="1200" b="1">
                <a:latin typeface="Calibri" panose="020F0502020204030204"/>
              </a:rPr>
              <a:t>Agentic</a:t>
            </a:r>
            <a:r>
              <a:rPr lang="ko-KR" altLang="en-US" sz="1200" b="1">
                <a:latin typeface="Calibri" panose="020F0502020204030204"/>
              </a:rPr>
              <a:t> </a:t>
            </a:r>
            <a:r>
              <a:rPr lang="en-US" altLang="ko-KR" sz="1200" b="1">
                <a:latin typeface="Calibri" panose="020F0502020204030204"/>
              </a:rPr>
              <a:t>DevOps</a:t>
            </a:r>
            <a:r>
              <a:rPr lang="ko-KR" altLang="en-US" sz="1200" b="1">
                <a:latin typeface="Calibri" panose="020F0502020204030204"/>
              </a:rPr>
              <a:t> </a:t>
            </a:r>
            <a:r>
              <a:rPr lang="en-US" altLang="ko-KR" sz="1200" b="1">
                <a:latin typeface="Calibri" panose="020F0502020204030204"/>
              </a:rPr>
              <a:t>System</a:t>
            </a:r>
            <a:endParaRPr lang="ko-KR" altLang="en-US" sz="1200" b="1">
              <a:latin typeface="Calibri" panose="020F0502020204030204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639C104-8B79-1D18-EA64-602229D5F629}"/>
              </a:ext>
            </a:extLst>
          </p:cNvPr>
          <p:cNvGrpSpPr/>
          <p:nvPr/>
        </p:nvGrpSpPr>
        <p:grpSpPr>
          <a:xfrm>
            <a:off x="6826361" y="2435474"/>
            <a:ext cx="4542279" cy="391076"/>
            <a:chOff x="1079173" y="2012889"/>
            <a:chExt cx="4542279" cy="391076"/>
          </a:xfrm>
        </p:grpSpPr>
        <p:sp>
          <p:nvSpPr>
            <p:cNvPr id="86" name="순서도: 대체 처리 85">
              <a:extLst>
                <a:ext uri="{FF2B5EF4-FFF2-40B4-BE49-F238E27FC236}">
                  <a16:creationId xmlns:a16="http://schemas.microsoft.com/office/drawing/2014/main" id="{F8C306D5-148B-8099-BB3A-7BB0C11F1EE0}"/>
                </a:ext>
              </a:extLst>
            </p:cNvPr>
            <p:cNvSpPr/>
            <p:nvPr/>
          </p:nvSpPr>
          <p:spPr>
            <a:xfrm>
              <a:off x="1079173" y="2012889"/>
              <a:ext cx="1198285" cy="391076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prstClr val="black"/>
                  </a:solidFill>
                  <a:latin typeface="Calibri" panose="020F0502020204030204"/>
                </a:rPr>
                <a:t>Run Quant</a:t>
              </a:r>
              <a:endParaRPr lang="ko-KR" alt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" name="순서도: 대체 처리 86">
              <a:extLst>
                <a:ext uri="{FF2B5EF4-FFF2-40B4-BE49-F238E27FC236}">
                  <a16:creationId xmlns:a16="http://schemas.microsoft.com/office/drawing/2014/main" id="{1EEF919D-48D9-BE0A-5B83-B7ABA4362A77}"/>
                </a:ext>
              </a:extLst>
            </p:cNvPr>
            <p:cNvSpPr/>
            <p:nvPr/>
          </p:nvSpPr>
          <p:spPr>
            <a:xfrm>
              <a:off x="2784755" y="2012889"/>
              <a:ext cx="1198285" cy="391076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prstClr val="black"/>
                  </a:solidFill>
                  <a:latin typeface="Calibri" panose="020F0502020204030204"/>
                </a:rPr>
                <a:t>Run Compiler</a:t>
              </a:r>
              <a:endParaRPr lang="ko-KR" alt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B0B47022-4213-1E67-82DD-173DD2D77B79}"/>
                </a:ext>
              </a:extLst>
            </p:cNvPr>
            <p:cNvCxnSpPr>
              <a:stCxn id="86" idx="3"/>
              <a:endCxn id="87" idx="1"/>
            </p:cNvCxnSpPr>
            <p:nvPr/>
          </p:nvCxnSpPr>
          <p:spPr>
            <a:xfrm>
              <a:off x="2277458" y="2208427"/>
              <a:ext cx="507297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순서도: 대체 처리 88">
              <a:extLst>
                <a:ext uri="{FF2B5EF4-FFF2-40B4-BE49-F238E27FC236}">
                  <a16:creationId xmlns:a16="http://schemas.microsoft.com/office/drawing/2014/main" id="{E4517B80-9DAD-597D-DD22-DD0B836EE200}"/>
                </a:ext>
              </a:extLst>
            </p:cNvPr>
            <p:cNvSpPr/>
            <p:nvPr/>
          </p:nvSpPr>
          <p:spPr>
            <a:xfrm>
              <a:off x="4423167" y="2012889"/>
              <a:ext cx="1198285" cy="391076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200">
                  <a:solidFill>
                    <a:prstClr val="black"/>
                  </a:solidFill>
                  <a:latin typeface="Calibri" panose="020F0502020204030204"/>
                </a:rPr>
                <a:t>Verify Results</a:t>
              </a:r>
              <a:endParaRPr lang="ko-KR" alt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123135A0-77CC-C19A-02F3-4E57B57E3979}"/>
                </a:ext>
              </a:extLst>
            </p:cNvPr>
            <p:cNvCxnSpPr>
              <a:cxnSpLocks/>
              <a:stCxn id="87" idx="3"/>
              <a:endCxn id="89" idx="1"/>
            </p:cNvCxnSpPr>
            <p:nvPr/>
          </p:nvCxnSpPr>
          <p:spPr>
            <a:xfrm>
              <a:off x="3983040" y="2208427"/>
              <a:ext cx="440127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27EBF12-728B-6DDC-0FAD-D347D2197163}"/>
              </a:ext>
            </a:extLst>
          </p:cNvPr>
          <p:cNvGrpSpPr/>
          <p:nvPr/>
        </p:nvGrpSpPr>
        <p:grpSpPr>
          <a:xfrm>
            <a:off x="6601636" y="4050703"/>
            <a:ext cx="903375" cy="636810"/>
            <a:chOff x="2978043" y="2852584"/>
            <a:chExt cx="903375" cy="636810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EFDA237E-0730-A880-4ACB-DC600908E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014B3EB-4BCD-FB2E-AD17-4A62850BAD89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  <p:sp>
        <p:nvSpPr>
          <p:cNvPr id="74" name="말풍선: 모서리가 둥근 사각형 73">
            <a:extLst>
              <a:ext uri="{FF2B5EF4-FFF2-40B4-BE49-F238E27FC236}">
                <a16:creationId xmlns:a16="http://schemas.microsoft.com/office/drawing/2014/main" id="{84574E63-00BE-4334-C1B1-73EF05CF9D4A}"/>
              </a:ext>
            </a:extLst>
          </p:cNvPr>
          <p:cNvSpPr/>
          <p:nvPr/>
        </p:nvSpPr>
        <p:spPr>
          <a:xfrm>
            <a:off x="8985688" y="3258128"/>
            <a:ext cx="1712192" cy="391076"/>
          </a:xfrm>
          <a:prstGeom prst="wedgeRoundRectCallout">
            <a:avLst>
              <a:gd name="adj1" fmla="val 60439"/>
              <a:gd name="adj2" fmla="val 357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Quantizer_v0.1</a:t>
            </a:r>
            <a:r>
              <a:rPr lang="ko-KR" altLang="en-US" sz="1050"/>
              <a:t>을 돌려줘</a:t>
            </a:r>
          </a:p>
        </p:txBody>
      </p:sp>
      <p:sp>
        <p:nvSpPr>
          <p:cNvPr id="75" name="말풍선: 모서리가 둥근 사각형 74">
            <a:extLst>
              <a:ext uri="{FF2B5EF4-FFF2-40B4-BE49-F238E27FC236}">
                <a16:creationId xmlns:a16="http://schemas.microsoft.com/office/drawing/2014/main" id="{74AAE6BE-A0C0-71ED-3B35-9843039A2C36}"/>
              </a:ext>
            </a:extLst>
          </p:cNvPr>
          <p:cNvSpPr/>
          <p:nvPr/>
        </p:nvSpPr>
        <p:spPr>
          <a:xfrm>
            <a:off x="7765490" y="3832205"/>
            <a:ext cx="2967470" cy="595661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Git Clone </a:t>
            </a:r>
            <a:r>
              <a:rPr lang="ko-KR" altLang="en-US" sz="1050"/>
              <a:t>후 </a:t>
            </a:r>
            <a:r>
              <a:rPr lang="en-US" altLang="ko-KR" sz="1050"/>
              <a:t>VM</a:t>
            </a:r>
            <a:r>
              <a:rPr lang="ko-KR" altLang="en-US" sz="1050"/>
              <a:t>에서 수행하겠습니다</a:t>
            </a:r>
            <a:r>
              <a:rPr lang="en-US" altLang="ko-KR" sz="1050"/>
              <a:t>.</a:t>
            </a:r>
          </a:p>
          <a:p>
            <a:r>
              <a:rPr lang="ko-KR" altLang="en-US" sz="1050"/>
              <a:t>수행 버전은 </a:t>
            </a:r>
            <a:r>
              <a:rPr lang="en-US" altLang="ko-KR" sz="1050"/>
              <a:t>v0.1</a:t>
            </a:r>
            <a:r>
              <a:rPr lang="ko-KR" altLang="en-US" sz="1050"/>
              <a:t>이고</a:t>
            </a:r>
            <a:r>
              <a:rPr lang="en-US" altLang="ko-KR" sz="1050"/>
              <a:t>, Config_1.JSON </a:t>
            </a:r>
            <a:r>
              <a:rPr lang="ko-KR" altLang="en-US" sz="1050"/>
              <a:t>사용하였습니다</a:t>
            </a:r>
            <a:r>
              <a:rPr lang="en-US" altLang="ko-KR" sz="1050"/>
              <a:t>. </a:t>
            </a:r>
            <a:endParaRPr lang="ko-KR" altLang="en-US" sz="1050"/>
          </a:p>
        </p:txBody>
      </p:sp>
      <p:sp>
        <p:nvSpPr>
          <p:cNvPr id="76" name="말풍선: 모서리가 둥근 사각형 75">
            <a:extLst>
              <a:ext uri="{FF2B5EF4-FFF2-40B4-BE49-F238E27FC236}">
                <a16:creationId xmlns:a16="http://schemas.microsoft.com/office/drawing/2014/main" id="{3E159581-47EF-B9D6-66A6-BFAA0A0C6BD6}"/>
              </a:ext>
            </a:extLst>
          </p:cNvPr>
          <p:cNvSpPr/>
          <p:nvPr/>
        </p:nvSpPr>
        <p:spPr>
          <a:xfrm>
            <a:off x="7754540" y="4654859"/>
            <a:ext cx="2967470" cy="595661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/>
              <a:t>정상 수행 되었습니다</a:t>
            </a:r>
            <a:r>
              <a:rPr lang="en-US" altLang="ko-KR" sz="1050"/>
              <a:t>. </a:t>
            </a:r>
          </a:p>
          <a:p>
            <a:r>
              <a:rPr lang="en-US" altLang="ko-KR" sz="1050"/>
              <a:t>Artifact</a:t>
            </a:r>
            <a:r>
              <a:rPr lang="ko-KR" altLang="en-US" sz="1050"/>
              <a:t>는 </a:t>
            </a:r>
            <a:r>
              <a:rPr lang="en-US" altLang="ko-KR" sz="1050"/>
              <a:t>\</a:t>
            </a:r>
            <a:r>
              <a:rPr lang="en-US" altLang="ko-KR" sz="1050" err="1"/>
              <a:t>model_a</a:t>
            </a:r>
            <a:r>
              <a:rPr lang="en-US" altLang="ko-KR" sz="1050"/>
              <a:t>\quantizer\202605 </a:t>
            </a:r>
            <a:r>
              <a:rPr lang="ko-KR" altLang="en-US" sz="1050"/>
              <a:t>폴더에 저장하였습니다</a:t>
            </a:r>
            <a:r>
              <a:rPr lang="en-US" altLang="ko-KR" sz="1050"/>
              <a:t>.</a:t>
            </a:r>
            <a:endParaRPr lang="ko-KR" altLang="en-US" sz="105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D5E1EBB-5478-F20A-53F6-8395112E4130}"/>
              </a:ext>
            </a:extLst>
          </p:cNvPr>
          <p:cNvGrpSpPr/>
          <p:nvPr/>
        </p:nvGrpSpPr>
        <p:grpSpPr>
          <a:xfrm>
            <a:off x="6619916" y="4927311"/>
            <a:ext cx="903375" cy="636810"/>
            <a:chOff x="2978043" y="2852584"/>
            <a:chExt cx="903375" cy="636810"/>
          </a:xfrm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43AF504C-62DA-864E-9E57-2C38BE30B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DE7F9F1-2A6D-8DD3-31F3-50B5295B3101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  <p:sp>
        <p:nvSpPr>
          <p:cNvPr id="78" name="말풍선: 모서리가 둥근 사각형 77">
            <a:extLst>
              <a:ext uri="{FF2B5EF4-FFF2-40B4-BE49-F238E27FC236}">
                <a16:creationId xmlns:a16="http://schemas.microsoft.com/office/drawing/2014/main" id="{C0D6D2F7-9C6D-D288-B0A9-BB45A10FAC77}"/>
              </a:ext>
            </a:extLst>
          </p:cNvPr>
          <p:cNvSpPr/>
          <p:nvPr/>
        </p:nvSpPr>
        <p:spPr>
          <a:xfrm>
            <a:off x="7730410" y="5490318"/>
            <a:ext cx="2967470" cy="595661"/>
          </a:xfrm>
          <a:prstGeom prst="wedgeRoundRectCallout">
            <a:avLst>
              <a:gd name="adj1" fmla="val -60055"/>
              <a:gd name="adj2" fmla="val 3779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/>
              <a:t>JIRA </a:t>
            </a:r>
            <a:r>
              <a:rPr lang="ko-KR" altLang="en-US" sz="1050"/>
              <a:t>업데이트하고</a:t>
            </a:r>
            <a:r>
              <a:rPr lang="en-US" altLang="ko-KR" sz="1050"/>
              <a:t>, </a:t>
            </a:r>
          </a:p>
          <a:p>
            <a:r>
              <a:rPr lang="en-US" altLang="ko-KR" sz="1050"/>
              <a:t>Compiler </a:t>
            </a:r>
            <a:r>
              <a:rPr lang="ko-KR" altLang="en-US" sz="1050"/>
              <a:t>개발자에게 </a:t>
            </a:r>
            <a:r>
              <a:rPr lang="en-US" altLang="ko-KR" sz="1050"/>
              <a:t>NOTI</a:t>
            </a:r>
            <a:r>
              <a:rPr lang="ko-KR" altLang="en-US" sz="1050"/>
              <a:t>하겠습니다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6FE82D2-F3EA-8B50-F3CD-71F32CDE1EB6}"/>
              </a:ext>
            </a:extLst>
          </p:cNvPr>
          <p:cNvGrpSpPr/>
          <p:nvPr/>
        </p:nvGrpSpPr>
        <p:grpSpPr>
          <a:xfrm>
            <a:off x="6595786" y="5762770"/>
            <a:ext cx="903375" cy="636810"/>
            <a:chOff x="2978043" y="2852584"/>
            <a:chExt cx="903375" cy="63681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076A63CF-72E2-C4B3-8205-A74AF8C67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241147" y="2852584"/>
              <a:ext cx="377169" cy="37716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2A2AB5D-35D4-DAAB-ABFC-94E5BB85B58D}"/>
                </a:ext>
              </a:extLst>
            </p:cNvPr>
            <p:cNvSpPr txBox="1"/>
            <p:nvPr/>
          </p:nvSpPr>
          <p:spPr>
            <a:xfrm>
              <a:off x="2978043" y="3243173"/>
              <a:ext cx="9033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Agent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2510408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A73D-1D14-FDD6-3C46-331FE01D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25A74023-FFC8-3600-1A4E-906B49538EC9}"/>
              </a:ext>
            </a:extLst>
          </p:cNvPr>
          <p:cNvSpPr/>
          <p:nvPr/>
        </p:nvSpPr>
        <p:spPr>
          <a:xfrm>
            <a:off x="571447" y="1765165"/>
            <a:ext cx="7601422" cy="1128832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UI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857E2A1-5045-D1C1-37BE-F84290A444B9}"/>
              </a:ext>
            </a:extLst>
          </p:cNvPr>
          <p:cNvSpPr/>
          <p:nvPr/>
        </p:nvSpPr>
        <p:spPr>
          <a:xfrm>
            <a:off x="571447" y="4278616"/>
            <a:ext cx="7645453" cy="2140535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43BD85C-1887-6256-6CDB-398F7EF1D6C4}"/>
              </a:ext>
            </a:extLst>
          </p:cNvPr>
          <p:cNvSpPr/>
          <p:nvPr/>
        </p:nvSpPr>
        <p:spPr>
          <a:xfrm>
            <a:off x="615478" y="3045860"/>
            <a:ext cx="7601422" cy="1128832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Backend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64F231-7B6B-010E-DABD-5C65E8F6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Domain Diagram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3C425E-E892-A575-1D8E-95B3629A7803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E13F2FD-0999-DC6D-4A58-BF0BB1BB164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F3B3F2-0DA4-9D01-03CD-4092B1D8DE62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9D8E500-F84D-CB7B-8FC8-C5507B18559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3D2D525-102B-A321-13B5-5F160CB20385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8D6796D-FE22-C745-44E1-03F780A9562A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967D42B-A94E-3FD5-8DA1-9AF74923F645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10" name="Shape 4">
            <a:extLst>
              <a:ext uri="{FF2B5EF4-FFF2-40B4-BE49-F238E27FC236}">
                <a16:creationId xmlns:a16="http://schemas.microsoft.com/office/drawing/2014/main" id="{E3C2D36B-A1FE-17C0-B210-9C93AE8D48E2}"/>
              </a:ext>
            </a:extLst>
          </p:cNvPr>
          <p:cNvSpPr/>
          <p:nvPr/>
        </p:nvSpPr>
        <p:spPr>
          <a:xfrm>
            <a:off x="422875" y="1546831"/>
            <a:ext cx="9209768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&lt; SDK </a:t>
            </a:r>
            <a:r>
              <a:rPr lang="ko-KR" altLang="en-US" sz="1000" b="1">
                <a:solidFill>
                  <a:prstClr val="black"/>
                </a:solidFill>
                <a:latin typeface="Calibri" panose="020F0502020204030204"/>
              </a:rPr>
              <a:t>개발 자동화 시스템 </a:t>
            </a:r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F23EA38-D825-FC65-2EBB-A40B968744D1}"/>
              </a:ext>
            </a:extLst>
          </p:cNvPr>
          <p:cNvGrpSpPr/>
          <p:nvPr/>
        </p:nvGrpSpPr>
        <p:grpSpPr>
          <a:xfrm>
            <a:off x="9999829" y="1546829"/>
            <a:ext cx="2058235" cy="1896233"/>
            <a:chOff x="10689193" y="2067352"/>
            <a:chExt cx="3033362" cy="2723295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358F6E84-121B-D845-5972-CA7D12FA3EF8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IR Converter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Shape 4">
              <a:extLst>
                <a:ext uri="{FF2B5EF4-FFF2-40B4-BE49-F238E27FC236}">
                  <a16:creationId xmlns:a16="http://schemas.microsoft.com/office/drawing/2014/main" id="{8E613143-AD9A-45E2-999F-3B170CA3FCA4}"/>
                </a:ext>
              </a:extLst>
            </p:cNvPr>
            <p:cNvSpPr/>
            <p:nvPr/>
          </p:nvSpPr>
          <p:spPr>
            <a:xfrm>
              <a:off x="10689193" y="2067352"/>
              <a:ext cx="3033362" cy="2723295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algn="ctr" latinLnBrk="0"/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&lt; On-device AI SDK</a:t>
              </a:r>
              <a:r>
                <a:rPr lang="ko-KR" altLang="en-US" sz="10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&gt;</a:t>
              </a:r>
              <a:endParaRPr lang="ko-KR" altLang="en-US" sz="1000" b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FE5227BA-9F2E-BE3A-468F-B49D9CEF1FD2}"/>
                </a:ext>
              </a:extLst>
            </p:cNvPr>
            <p:cNvSpPr/>
            <p:nvPr/>
          </p:nvSpPr>
          <p:spPr>
            <a:xfrm>
              <a:off x="11278190" y="307487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Graph Optimizer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B8E4645-EC3A-BDA0-0337-C2E0AD782577}"/>
                </a:ext>
              </a:extLst>
            </p:cNvPr>
            <p:cNvSpPr/>
            <p:nvPr/>
          </p:nvSpPr>
          <p:spPr>
            <a:xfrm>
              <a:off x="11270061" y="3617496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Quantizer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BE7C5CAB-B7E5-6D86-2FD3-7272C58F6634}"/>
                </a:ext>
              </a:extLst>
            </p:cNvPr>
            <p:cNvSpPr/>
            <p:nvPr/>
          </p:nvSpPr>
          <p:spPr>
            <a:xfrm>
              <a:off x="11271721" y="418859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Compiler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4" name="원통형 43">
            <a:extLst>
              <a:ext uri="{FF2B5EF4-FFF2-40B4-BE49-F238E27FC236}">
                <a16:creationId xmlns:a16="http://schemas.microsoft.com/office/drawing/2014/main" id="{F9BAD7E4-3BC5-D3EF-70AD-EAE91706D202}"/>
              </a:ext>
            </a:extLst>
          </p:cNvPr>
          <p:cNvSpPr/>
          <p:nvPr/>
        </p:nvSpPr>
        <p:spPr>
          <a:xfrm>
            <a:off x="10359876" y="7185356"/>
            <a:ext cx="2616200" cy="1123195"/>
          </a:xfrm>
          <a:prstGeom prst="can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>
                <a:solidFill>
                  <a:prstClr val="black"/>
                </a:solidFill>
                <a:latin typeface="Calibri" panose="020F0502020204030204"/>
              </a:rPr>
              <a:t>NFS Storage</a:t>
            </a:r>
            <a:endParaRPr lang="ko-KR" alt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5DD3AA8-80AC-4474-0059-CE109601C31E}"/>
              </a:ext>
            </a:extLst>
          </p:cNvPr>
          <p:cNvGrpSpPr/>
          <p:nvPr/>
        </p:nvGrpSpPr>
        <p:grpSpPr>
          <a:xfrm>
            <a:off x="11269703" y="5652445"/>
            <a:ext cx="1148217" cy="1049641"/>
            <a:chOff x="5846387" y="5928869"/>
            <a:chExt cx="1263039" cy="954219"/>
          </a:xfrm>
        </p:grpSpPr>
        <p:sp>
          <p:nvSpPr>
            <p:cNvPr id="47" name="순서도: 대체 처리 46">
              <a:extLst>
                <a:ext uri="{FF2B5EF4-FFF2-40B4-BE49-F238E27FC236}">
                  <a16:creationId xmlns:a16="http://schemas.microsoft.com/office/drawing/2014/main" id="{A97B214A-6239-A3A8-BDDA-AA2AD9E8D408}"/>
                </a:ext>
              </a:extLst>
            </p:cNvPr>
            <p:cNvSpPr/>
            <p:nvPr/>
          </p:nvSpPr>
          <p:spPr>
            <a:xfrm>
              <a:off x="6121947" y="6152299"/>
              <a:ext cx="741067" cy="520522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NPU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7EDA2767-332E-C3DD-F761-01738EA4C386}"/>
                </a:ext>
              </a:extLst>
            </p:cNvPr>
            <p:cNvGrpSpPr/>
            <p:nvPr/>
          </p:nvGrpSpPr>
          <p:grpSpPr>
            <a:xfrm>
              <a:off x="6911451" y="6247617"/>
              <a:ext cx="197975" cy="329885"/>
              <a:chOff x="6278710" y="6265159"/>
              <a:chExt cx="385797" cy="584411"/>
            </a:xfrm>
          </p:grpSpPr>
          <p:sp>
            <p:nvSpPr>
              <p:cNvPr id="48" name="순서도: 대체 처리 47">
                <a:extLst>
                  <a:ext uri="{FF2B5EF4-FFF2-40B4-BE49-F238E27FC236}">
                    <a16:creationId xmlns:a16="http://schemas.microsoft.com/office/drawing/2014/main" id="{ADD08F62-8BEE-10DA-8189-7C693FCCDEA5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순서도: 대체 처리 48">
                <a:extLst>
                  <a:ext uri="{FF2B5EF4-FFF2-40B4-BE49-F238E27FC236}">
                    <a16:creationId xmlns:a16="http://schemas.microsoft.com/office/drawing/2014/main" id="{372B6846-A57D-CCB6-D340-18D0B89AF9D9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E62ABA75-CEAE-C87A-26AF-FDC9006AAB3B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26E60834-CB0C-8A5F-8E1F-5B4919B0C3A9}"/>
                </a:ext>
              </a:extLst>
            </p:cNvPr>
            <p:cNvGrpSpPr/>
            <p:nvPr/>
          </p:nvGrpSpPr>
          <p:grpSpPr>
            <a:xfrm>
              <a:off x="5846387" y="6239922"/>
              <a:ext cx="197975" cy="362874"/>
              <a:chOff x="6278710" y="6265159"/>
              <a:chExt cx="385797" cy="584411"/>
            </a:xfrm>
          </p:grpSpPr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A3CB8E9B-4F47-8C52-FDBB-65D7E5AEE7D0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4" name="순서도: 대체 처리 53">
                <a:extLst>
                  <a:ext uri="{FF2B5EF4-FFF2-40B4-BE49-F238E27FC236}">
                    <a16:creationId xmlns:a16="http://schemas.microsoft.com/office/drawing/2014/main" id="{B062DECA-488A-40A0-8EB2-129456B7E256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순서도: 대체 처리 54">
                <a:extLst>
                  <a:ext uri="{FF2B5EF4-FFF2-40B4-BE49-F238E27FC236}">
                    <a16:creationId xmlns:a16="http://schemas.microsoft.com/office/drawing/2014/main" id="{74A92E8B-2EEA-827F-70B2-DA2FB5874BC6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71A78D-97A5-5B0A-95F4-F9E1F2ED107C}"/>
                </a:ext>
              </a:extLst>
            </p:cNvPr>
            <p:cNvGrpSpPr/>
            <p:nvPr/>
          </p:nvGrpSpPr>
          <p:grpSpPr>
            <a:xfrm rot="5400000">
              <a:off x="6410672" y="5791138"/>
              <a:ext cx="163615" cy="439077"/>
              <a:chOff x="6278710" y="6265159"/>
              <a:chExt cx="385797" cy="584411"/>
            </a:xfrm>
          </p:grpSpPr>
          <p:sp>
            <p:nvSpPr>
              <p:cNvPr id="57" name="순서도: 대체 처리 56">
                <a:extLst>
                  <a:ext uri="{FF2B5EF4-FFF2-40B4-BE49-F238E27FC236}">
                    <a16:creationId xmlns:a16="http://schemas.microsoft.com/office/drawing/2014/main" id="{3E4B6722-461F-102D-9FF7-65B34F101D5A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순서도: 대체 처리 57">
                <a:extLst>
                  <a:ext uri="{FF2B5EF4-FFF2-40B4-BE49-F238E27FC236}">
                    <a16:creationId xmlns:a16="http://schemas.microsoft.com/office/drawing/2014/main" id="{39C51D21-7815-952D-3B06-00DA6AD3428F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D0F32F49-69E3-3208-2BC9-CF453CBCBE6D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2D8EA71-CF53-9BC7-89AE-2779272ABFF5}"/>
                </a:ext>
              </a:extLst>
            </p:cNvPr>
            <p:cNvGrpSpPr/>
            <p:nvPr/>
          </p:nvGrpSpPr>
          <p:grpSpPr>
            <a:xfrm rot="5400000">
              <a:off x="6422218" y="6581742"/>
              <a:ext cx="163615" cy="439077"/>
              <a:chOff x="6278710" y="6265159"/>
              <a:chExt cx="385797" cy="584411"/>
            </a:xfrm>
          </p:grpSpPr>
          <p:sp>
            <p:nvSpPr>
              <p:cNvPr id="61" name="순서도: 대체 처리 60">
                <a:extLst>
                  <a:ext uri="{FF2B5EF4-FFF2-40B4-BE49-F238E27FC236}">
                    <a16:creationId xmlns:a16="http://schemas.microsoft.com/office/drawing/2014/main" id="{9E17E994-3733-FDAA-D18E-F907190547C5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BB9FF913-F831-8959-93AC-5C60D9504F5C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순서도: 대체 처리 62">
                <a:extLst>
                  <a:ext uri="{FF2B5EF4-FFF2-40B4-BE49-F238E27FC236}">
                    <a16:creationId xmlns:a16="http://schemas.microsoft.com/office/drawing/2014/main" id="{A1F9C211-62CF-B819-E19D-B559AADD74B4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A1DB6037-843A-AC4F-9A80-D75B4B981F9C}"/>
              </a:ext>
            </a:extLst>
          </p:cNvPr>
          <p:cNvSpPr/>
          <p:nvPr/>
        </p:nvSpPr>
        <p:spPr>
          <a:xfrm>
            <a:off x="709119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Workflow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B5CFE32-11DD-CD7C-CE5E-C7CA446F625B}"/>
              </a:ext>
            </a:extLst>
          </p:cNvPr>
          <p:cNvSpPr/>
          <p:nvPr/>
        </p:nvSpPr>
        <p:spPr>
          <a:xfrm>
            <a:off x="1697448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Node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8B86049-9CAC-DA26-228E-EDD9619809D2}"/>
              </a:ext>
            </a:extLst>
          </p:cNvPr>
          <p:cNvSpPr/>
          <p:nvPr/>
        </p:nvSpPr>
        <p:spPr>
          <a:xfrm>
            <a:off x="2706828" y="479105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Storage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989E2DC-2DD2-8476-774F-5D9631AEA698}"/>
              </a:ext>
            </a:extLst>
          </p:cNvPr>
          <p:cNvSpPr/>
          <p:nvPr/>
        </p:nvSpPr>
        <p:spPr>
          <a:xfrm>
            <a:off x="695584" y="4793354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Agent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46A287EA-D7B6-08F5-2E6D-6E404B00EDDB}"/>
              </a:ext>
            </a:extLst>
          </p:cNvPr>
          <p:cNvSpPr/>
          <p:nvPr/>
        </p:nvSpPr>
        <p:spPr>
          <a:xfrm>
            <a:off x="8459528" y="2060343"/>
            <a:ext cx="887672" cy="4305599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Metric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EA16582-5780-F4F9-99E9-B1A9B41CE6F7}"/>
              </a:ext>
            </a:extLst>
          </p:cNvPr>
          <p:cNvSpPr/>
          <p:nvPr/>
        </p:nvSpPr>
        <p:spPr>
          <a:xfrm>
            <a:off x="1694411" y="4793354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Resource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AEE369-7EA0-7A9D-094C-4DBB79067E9C}"/>
              </a:ext>
            </a:extLst>
          </p:cNvPr>
          <p:cNvSpPr/>
          <p:nvPr/>
        </p:nvSpPr>
        <p:spPr>
          <a:xfrm>
            <a:off x="2715065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SDK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59F5C0F-2DD3-89C9-4056-A033E09EFD9E}"/>
              </a:ext>
            </a:extLst>
          </p:cNvPr>
          <p:cNvSpPr/>
          <p:nvPr/>
        </p:nvSpPr>
        <p:spPr>
          <a:xfrm>
            <a:off x="695583" y="213067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Dashboard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E309BA65-370B-F3C9-A310-81E3E9585F6E}"/>
              </a:ext>
            </a:extLst>
          </p:cNvPr>
          <p:cNvSpPr/>
          <p:nvPr/>
        </p:nvSpPr>
        <p:spPr>
          <a:xfrm>
            <a:off x="3727482" y="342835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Artifact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F61EC71-908C-84FB-F9B2-0A8292C5BFE9}"/>
              </a:ext>
            </a:extLst>
          </p:cNvPr>
          <p:cNvGrpSpPr/>
          <p:nvPr/>
        </p:nvGrpSpPr>
        <p:grpSpPr>
          <a:xfrm>
            <a:off x="9999829" y="3648898"/>
            <a:ext cx="2058235" cy="762370"/>
            <a:chOff x="10689193" y="2067353"/>
            <a:chExt cx="3033362" cy="1094886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D8EC7AA9-2C4F-C4B0-7A8C-1EDB25DBB542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Device Driver 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3B8AE65B-FBB6-AFF4-03F8-D979D2525A02}"/>
                </a:ext>
              </a:extLst>
            </p:cNvPr>
            <p:cNvSpPr/>
            <p:nvPr/>
          </p:nvSpPr>
          <p:spPr>
            <a:xfrm>
              <a:off x="10689193" y="2067353"/>
              <a:ext cx="3033362" cy="1094886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algn="ctr" latinLnBrk="0"/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&lt; NPU&gt;</a:t>
              </a:r>
              <a:endParaRPr lang="ko-KR" altLang="en-US" sz="1000" b="1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Shape 4">
            <a:extLst>
              <a:ext uri="{FF2B5EF4-FFF2-40B4-BE49-F238E27FC236}">
                <a16:creationId xmlns:a16="http://schemas.microsoft.com/office/drawing/2014/main" id="{B593B6EB-3C1E-5614-066C-510E4F0BABA8}"/>
              </a:ext>
            </a:extLst>
          </p:cNvPr>
          <p:cNvSpPr/>
          <p:nvPr/>
        </p:nvSpPr>
        <p:spPr>
          <a:xfrm>
            <a:off x="709119" y="5478067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LLM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Endpoint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39" name="순서도: 문서 38">
            <a:extLst>
              <a:ext uri="{FF2B5EF4-FFF2-40B4-BE49-F238E27FC236}">
                <a16:creationId xmlns:a16="http://schemas.microsoft.com/office/drawing/2014/main" id="{822C7F57-4C23-F734-D8DB-1E9417684FF4}"/>
              </a:ext>
            </a:extLst>
          </p:cNvPr>
          <p:cNvSpPr/>
          <p:nvPr/>
        </p:nvSpPr>
        <p:spPr>
          <a:xfrm>
            <a:off x="4966833" y="3424835"/>
            <a:ext cx="657225" cy="559734"/>
          </a:xfrm>
          <a:prstGeom prst="flowChartDocument">
            <a:avLst/>
          </a:prstGeom>
          <a:solidFill>
            <a:srgbClr val="BFD0E5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Artifact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409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BF1D-4C3A-C05F-E560-371BEE30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>
            <a:extLst>
              <a:ext uri="{FF2B5EF4-FFF2-40B4-BE49-F238E27FC236}">
                <a16:creationId xmlns:a16="http://schemas.microsoft.com/office/drawing/2014/main" id="{0F802369-998A-DD15-7B92-D6D337C3C64A}"/>
              </a:ext>
            </a:extLst>
          </p:cNvPr>
          <p:cNvSpPr/>
          <p:nvPr/>
        </p:nvSpPr>
        <p:spPr>
          <a:xfrm>
            <a:off x="4790338" y="3028843"/>
            <a:ext cx="3302004" cy="1128832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Agent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FD013D1-3F59-434B-E0C2-426177905E93}"/>
              </a:ext>
            </a:extLst>
          </p:cNvPr>
          <p:cNvSpPr/>
          <p:nvPr/>
        </p:nvSpPr>
        <p:spPr>
          <a:xfrm>
            <a:off x="571447" y="1765165"/>
            <a:ext cx="7601422" cy="1128832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UI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FBECB4D-46F9-33B8-10C5-74BA34305599}"/>
              </a:ext>
            </a:extLst>
          </p:cNvPr>
          <p:cNvSpPr/>
          <p:nvPr/>
        </p:nvSpPr>
        <p:spPr>
          <a:xfrm>
            <a:off x="571447" y="4278616"/>
            <a:ext cx="7645453" cy="2140535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Resource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DF3CBB6-45E6-BFD5-5E1B-A0B0137B2803}"/>
              </a:ext>
            </a:extLst>
          </p:cNvPr>
          <p:cNvSpPr/>
          <p:nvPr/>
        </p:nvSpPr>
        <p:spPr>
          <a:xfrm>
            <a:off x="615479" y="3045860"/>
            <a:ext cx="3302004" cy="1128832"/>
          </a:xfrm>
          <a:prstGeom prst="rect">
            <a:avLst/>
          </a:prstGeom>
          <a:solidFill>
            <a:srgbClr val="F8FAFC"/>
          </a:solidFill>
          <a:ln w="25400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/>
          <a:p>
            <a:pPr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CI/CD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5371F8-D11F-CCFC-BE15-753022B8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Domain Diagram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5A7DFF-4579-482A-16A0-4C8F08E4D7C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5230AB-245D-01D3-88A2-28D4A8662240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456213D-7464-3495-6067-4FD3DC583A4D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39849F8-4595-5732-4CB4-60D9856527CA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21CE4E2-2DBB-7B90-A26C-266FC5AF207F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09C5B51-F8B0-CB37-5E76-64E92F10F77C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DDB47D2-91A7-FA0B-7B6E-F0CB9E13A930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10" name="Shape 4">
            <a:extLst>
              <a:ext uri="{FF2B5EF4-FFF2-40B4-BE49-F238E27FC236}">
                <a16:creationId xmlns:a16="http://schemas.microsoft.com/office/drawing/2014/main" id="{B9AC6912-CE50-E5E1-198A-622F815D1DD3}"/>
              </a:ext>
            </a:extLst>
          </p:cNvPr>
          <p:cNvSpPr/>
          <p:nvPr/>
        </p:nvSpPr>
        <p:spPr>
          <a:xfrm>
            <a:off x="422875" y="1546831"/>
            <a:ext cx="9209768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&lt; SDK </a:t>
            </a:r>
            <a:r>
              <a:rPr lang="ko-KR" altLang="en-US" sz="1000" b="1">
                <a:solidFill>
                  <a:prstClr val="black"/>
                </a:solidFill>
                <a:latin typeface="Calibri" panose="020F0502020204030204"/>
              </a:rPr>
              <a:t>개발 자동화 시스템 </a:t>
            </a:r>
            <a:r>
              <a:rPr lang="en-US" altLang="ko-KR" sz="1000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sz="1000" b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2A02085-A438-8667-327F-792D2FB9BEA1}"/>
              </a:ext>
            </a:extLst>
          </p:cNvPr>
          <p:cNvGrpSpPr/>
          <p:nvPr/>
        </p:nvGrpSpPr>
        <p:grpSpPr>
          <a:xfrm>
            <a:off x="9999829" y="1546829"/>
            <a:ext cx="2058235" cy="1896233"/>
            <a:chOff x="10689193" y="2067352"/>
            <a:chExt cx="3033362" cy="2723295"/>
          </a:xfrm>
        </p:grpSpPr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F7BDF6EC-29A1-A057-8994-36166EA4B1D8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IR Converter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Shape 4">
              <a:extLst>
                <a:ext uri="{FF2B5EF4-FFF2-40B4-BE49-F238E27FC236}">
                  <a16:creationId xmlns:a16="http://schemas.microsoft.com/office/drawing/2014/main" id="{0209D433-F383-195E-08B2-C1EE339A7EFF}"/>
                </a:ext>
              </a:extLst>
            </p:cNvPr>
            <p:cNvSpPr/>
            <p:nvPr/>
          </p:nvSpPr>
          <p:spPr>
            <a:xfrm>
              <a:off x="10689193" y="2067352"/>
              <a:ext cx="3033362" cy="2723295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algn="ctr" latinLnBrk="0"/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&lt; On-device AI SDK</a:t>
              </a:r>
              <a:r>
                <a:rPr lang="ko-KR" altLang="en-US" sz="1000" b="1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&gt;</a:t>
              </a:r>
              <a:endParaRPr lang="ko-KR" altLang="en-US" sz="1000" b="1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6C9310C7-6E4F-B98B-FE09-AF3E9E61FBC1}"/>
                </a:ext>
              </a:extLst>
            </p:cNvPr>
            <p:cNvSpPr/>
            <p:nvPr/>
          </p:nvSpPr>
          <p:spPr>
            <a:xfrm>
              <a:off x="11278190" y="307487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Graph Optimizer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836FEF1-08C6-5FD0-CE2F-B4B339C038B9}"/>
                </a:ext>
              </a:extLst>
            </p:cNvPr>
            <p:cNvSpPr/>
            <p:nvPr/>
          </p:nvSpPr>
          <p:spPr>
            <a:xfrm>
              <a:off x="11270061" y="3617496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Quantizer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308ABEC8-34E8-3A5D-C488-3DEF6B5DF2F7}"/>
                </a:ext>
              </a:extLst>
            </p:cNvPr>
            <p:cNvSpPr/>
            <p:nvPr/>
          </p:nvSpPr>
          <p:spPr>
            <a:xfrm>
              <a:off x="11271721" y="4188592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Compiler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4" name="원통형 43">
            <a:extLst>
              <a:ext uri="{FF2B5EF4-FFF2-40B4-BE49-F238E27FC236}">
                <a16:creationId xmlns:a16="http://schemas.microsoft.com/office/drawing/2014/main" id="{AF760CFB-D542-D260-5B24-F80C9E082BA1}"/>
              </a:ext>
            </a:extLst>
          </p:cNvPr>
          <p:cNvSpPr/>
          <p:nvPr/>
        </p:nvSpPr>
        <p:spPr>
          <a:xfrm>
            <a:off x="10359876" y="7185356"/>
            <a:ext cx="2616200" cy="1123195"/>
          </a:xfrm>
          <a:prstGeom prst="can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>
                <a:solidFill>
                  <a:prstClr val="black"/>
                </a:solidFill>
                <a:latin typeface="Calibri" panose="020F0502020204030204"/>
              </a:rPr>
              <a:t>NFS Storage</a:t>
            </a:r>
            <a:endParaRPr lang="ko-KR" alt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E64B775-F399-C486-770F-52770CFB0C1A}"/>
              </a:ext>
            </a:extLst>
          </p:cNvPr>
          <p:cNvGrpSpPr/>
          <p:nvPr/>
        </p:nvGrpSpPr>
        <p:grpSpPr>
          <a:xfrm>
            <a:off x="11269703" y="5652445"/>
            <a:ext cx="1148217" cy="1049641"/>
            <a:chOff x="5846387" y="5928869"/>
            <a:chExt cx="1263039" cy="954219"/>
          </a:xfrm>
        </p:grpSpPr>
        <p:sp>
          <p:nvSpPr>
            <p:cNvPr id="47" name="순서도: 대체 처리 46">
              <a:extLst>
                <a:ext uri="{FF2B5EF4-FFF2-40B4-BE49-F238E27FC236}">
                  <a16:creationId xmlns:a16="http://schemas.microsoft.com/office/drawing/2014/main" id="{0FD42734-2AA5-77BA-FAC6-72DD5D85AB17}"/>
                </a:ext>
              </a:extLst>
            </p:cNvPr>
            <p:cNvSpPr/>
            <p:nvPr/>
          </p:nvSpPr>
          <p:spPr>
            <a:xfrm>
              <a:off x="6121947" y="6152299"/>
              <a:ext cx="741067" cy="520522"/>
            </a:xfrm>
            <a:prstGeom prst="flowChartAlternateProcess">
              <a:avLst/>
            </a:prstGeom>
            <a:solidFill>
              <a:srgbClr val="F8FAFC"/>
            </a:solidFill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NPU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331141D-F44B-0004-1CDE-DFF0A41D92D9}"/>
                </a:ext>
              </a:extLst>
            </p:cNvPr>
            <p:cNvGrpSpPr/>
            <p:nvPr/>
          </p:nvGrpSpPr>
          <p:grpSpPr>
            <a:xfrm>
              <a:off x="6911451" y="6247617"/>
              <a:ext cx="197975" cy="329885"/>
              <a:chOff x="6278710" y="6265159"/>
              <a:chExt cx="385797" cy="584411"/>
            </a:xfrm>
          </p:grpSpPr>
          <p:sp>
            <p:nvSpPr>
              <p:cNvPr id="48" name="순서도: 대체 처리 47">
                <a:extLst>
                  <a:ext uri="{FF2B5EF4-FFF2-40B4-BE49-F238E27FC236}">
                    <a16:creationId xmlns:a16="http://schemas.microsoft.com/office/drawing/2014/main" id="{07D46EE2-D734-4B3C-BB33-3BCC567E50B9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순서도: 대체 처리 48">
                <a:extLst>
                  <a:ext uri="{FF2B5EF4-FFF2-40B4-BE49-F238E27FC236}">
                    <a16:creationId xmlns:a16="http://schemas.microsoft.com/office/drawing/2014/main" id="{D0B4F06F-B3B9-6641-0356-BEDF3C45B087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9D1CAB42-8463-A4C2-3648-E68119FC0C01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C5CB532A-F846-01D7-9434-E6135EB02EAA}"/>
                </a:ext>
              </a:extLst>
            </p:cNvPr>
            <p:cNvGrpSpPr/>
            <p:nvPr/>
          </p:nvGrpSpPr>
          <p:grpSpPr>
            <a:xfrm>
              <a:off x="5846387" y="6239922"/>
              <a:ext cx="197975" cy="362874"/>
              <a:chOff x="6278710" y="6265159"/>
              <a:chExt cx="385797" cy="584411"/>
            </a:xfrm>
          </p:grpSpPr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9D70E383-C289-F2F8-1211-9D5CC194C010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4" name="순서도: 대체 처리 53">
                <a:extLst>
                  <a:ext uri="{FF2B5EF4-FFF2-40B4-BE49-F238E27FC236}">
                    <a16:creationId xmlns:a16="http://schemas.microsoft.com/office/drawing/2014/main" id="{17D1FE65-5E0D-85DC-526F-06005205B0AD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순서도: 대체 처리 54">
                <a:extLst>
                  <a:ext uri="{FF2B5EF4-FFF2-40B4-BE49-F238E27FC236}">
                    <a16:creationId xmlns:a16="http://schemas.microsoft.com/office/drawing/2014/main" id="{2308F55C-DA2D-0917-A2A9-8056792760FE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0F145C5-72B1-17F5-2AE8-D4C8AAC86969}"/>
                </a:ext>
              </a:extLst>
            </p:cNvPr>
            <p:cNvGrpSpPr/>
            <p:nvPr/>
          </p:nvGrpSpPr>
          <p:grpSpPr>
            <a:xfrm rot="5400000">
              <a:off x="6410672" y="5791138"/>
              <a:ext cx="163615" cy="439077"/>
              <a:chOff x="6278710" y="6265159"/>
              <a:chExt cx="385797" cy="584411"/>
            </a:xfrm>
          </p:grpSpPr>
          <p:sp>
            <p:nvSpPr>
              <p:cNvPr id="57" name="순서도: 대체 처리 56">
                <a:extLst>
                  <a:ext uri="{FF2B5EF4-FFF2-40B4-BE49-F238E27FC236}">
                    <a16:creationId xmlns:a16="http://schemas.microsoft.com/office/drawing/2014/main" id="{1119591B-748F-F525-375E-8689CC9A9A45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순서도: 대체 처리 57">
                <a:extLst>
                  <a:ext uri="{FF2B5EF4-FFF2-40B4-BE49-F238E27FC236}">
                    <a16:creationId xmlns:a16="http://schemas.microsoft.com/office/drawing/2014/main" id="{0AA5762F-384C-6561-6B87-2ADFCAA53A01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1D13CFDF-E652-40C9-DECF-54CCD933E3F1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24BECD1-9DF9-F306-1B07-686FE9E5FE5B}"/>
                </a:ext>
              </a:extLst>
            </p:cNvPr>
            <p:cNvGrpSpPr/>
            <p:nvPr/>
          </p:nvGrpSpPr>
          <p:grpSpPr>
            <a:xfrm rot="5400000">
              <a:off x="6422218" y="6581742"/>
              <a:ext cx="163615" cy="439077"/>
              <a:chOff x="6278710" y="6265159"/>
              <a:chExt cx="385797" cy="584411"/>
            </a:xfrm>
          </p:grpSpPr>
          <p:sp>
            <p:nvSpPr>
              <p:cNvPr id="61" name="순서도: 대체 처리 60">
                <a:extLst>
                  <a:ext uri="{FF2B5EF4-FFF2-40B4-BE49-F238E27FC236}">
                    <a16:creationId xmlns:a16="http://schemas.microsoft.com/office/drawing/2014/main" id="{3FB50D2F-CD31-ACFA-27CA-55B1A9879BFC}"/>
                  </a:ext>
                </a:extLst>
              </p:cNvPr>
              <p:cNvSpPr/>
              <p:nvPr/>
            </p:nvSpPr>
            <p:spPr>
              <a:xfrm>
                <a:off x="6278710" y="626515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5C41D346-EE7D-3D39-3263-9843B8FA90D1}"/>
                  </a:ext>
                </a:extLst>
              </p:cNvPr>
              <p:cNvSpPr/>
              <p:nvPr/>
            </p:nvSpPr>
            <p:spPr>
              <a:xfrm>
                <a:off x="6278710" y="6486979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순서도: 대체 처리 62">
                <a:extLst>
                  <a:ext uri="{FF2B5EF4-FFF2-40B4-BE49-F238E27FC236}">
                    <a16:creationId xmlns:a16="http://schemas.microsoft.com/office/drawing/2014/main" id="{789E2A89-3B67-8988-4E82-318E2B9084D6}"/>
                  </a:ext>
                </a:extLst>
              </p:cNvPr>
              <p:cNvSpPr/>
              <p:nvPr/>
            </p:nvSpPr>
            <p:spPr>
              <a:xfrm>
                <a:off x="6278710" y="6720331"/>
                <a:ext cx="385797" cy="129239"/>
              </a:xfrm>
              <a:prstGeom prst="flowChartAlternateProcess">
                <a:avLst/>
              </a:prstGeom>
              <a:solidFill>
                <a:srgbClr val="F8FAFC"/>
              </a:solidFill>
              <a:ln w="25400">
                <a:solidFill>
                  <a:srgbClr val="1E2761"/>
                </a:solidFill>
                <a:prstDash val="solid"/>
              </a:ln>
            </p:spPr>
            <p:txBody>
              <a:bodyPr anchor="ctr" anchorCtr="0"/>
              <a:lstStyle/>
              <a:p>
                <a:pPr algn="ctr" latinLnBrk="0"/>
                <a:endParaRPr lang="ko-KR" altLang="en-US" sz="10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6978006E-ABDB-8041-C2D0-EBA0F0C41D65}"/>
              </a:ext>
            </a:extLst>
          </p:cNvPr>
          <p:cNvSpPr/>
          <p:nvPr/>
        </p:nvSpPr>
        <p:spPr>
          <a:xfrm>
            <a:off x="709119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Workflow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F8803A5-39CE-D2D1-2DD5-7E347AA269A6}"/>
              </a:ext>
            </a:extLst>
          </p:cNvPr>
          <p:cNvSpPr/>
          <p:nvPr/>
        </p:nvSpPr>
        <p:spPr>
          <a:xfrm>
            <a:off x="1697448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Node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0E17D56-02F0-B6A3-3607-76D2D73B0CF3}"/>
              </a:ext>
            </a:extLst>
          </p:cNvPr>
          <p:cNvSpPr/>
          <p:nvPr/>
        </p:nvSpPr>
        <p:spPr>
          <a:xfrm>
            <a:off x="2706828" y="479105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Storage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F1B944C-FAC8-CB68-0E69-7095BF5A0253}"/>
              </a:ext>
            </a:extLst>
          </p:cNvPr>
          <p:cNvSpPr/>
          <p:nvPr/>
        </p:nvSpPr>
        <p:spPr>
          <a:xfrm>
            <a:off x="4679281" y="408849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Agent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427E3806-CF51-5276-DE7A-1828C3A7D40B}"/>
              </a:ext>
            </a:extLst>
          </p:cNvPr>
          <p:cNvSpPr/>
          <p:nvPr/>
        </p:nvSpPr>
        <p:spPr>
          <a:xfrm>
            <a:off x="8459528" y="2060343"/>
            <a:ext cx="887672" cy="4305599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Metric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23C58309-445C-0B3B-80C7-83923BCEBD26}"/>
              </a:ext>
            </a:extLst>
          </p:cNvPr>
          <p:cNvSpPr/>
          <p:nvPr/>
        </p:nvSpPr>
        <p:spPr>
          <a:xfrm>
            <a:off x="1694411" y="4793354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Resource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58FA4F-BB53-1309-69C9-1204E7244AFC}"/>
              </a:ext>
            </a:extLst>
          </p:cNvPr>
          <p:cNvSpPr/>
          <p:nvPr/>
        </p:nvSpPr>
        <p:spPr>
          <a:xfrm>
            <a:off x="2715065" y="344306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SDK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4A928C9-FF67-5AF9-6083-8EA0CA5B02F4}"/>
              </a:ext>
            </a:extLst>
          </p:cNvPr>
          <p:cNvSpPr/>
          <p:nvPr/>
        </p:nvSpPr>
        <p:spPr>
          <a:xfrm>
            <a:off x="695583" y="2130673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Dashboard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4CD6D21-74EE-0340-EF31-40DB65C7C0E0}"/>
              </a:ext>
            </a:extLst>
          </p:cNvPr>
          <p:cNvSpPr/>
          <p:nvPr/>
        </p:nvSpPr>
        <p:spPr>
          <a:xfrm>
            <a:off x="3727482" y="3428359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Artifact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88B10A2-C15E-825C-5196-2A176A4D2748}"/>
              </a:ext>
            </a:extLst>
          </p:cNvPr>
          <p:cNvGrpSpPr/>
          <p:nvPr/>
        </p:nvGrpSpPr>
        <p:grpSpPr>
          <a:xfrm>
            <a:off x="9999829" y="3648898"/>
            <a:ext cx="2058235" cy="762370"/>
            <a:chOff x="10689193" y="2067353"/>
            <a:chExt cx="3033362" cy="1094886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388F5964-CF73-1DC8-AA48-6366F24FFF9F}"/>
                </a:ext>
              </a:extLst>
            </p:cNvPr>
            <p:cNvSpPr/>
            <p:nvPr/>
          </p:nvSpPr>
          <p:spPr>
            <a:xfrm>
              <a:off x="11270061" y="2451141"/>
              <a:ext cx="1855368" cy="425649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ctr" anchorCtr="0"/>
            <a:lstStyle/>
            <a:p>
              <a:pPr algn="ctr" latinLnBrk="0"/>
              <a:r>
                <a:rPr lang="en-US" altLang="ko-KR" sz="1000">
                  <a:solidFill>
                    <a:prstClr val="black"/>
                  </a:solidFill>
                  <a:latin typeface="Calibri" panose="020F0502020204030204"/>
                </a:rPr>
                <a:t>Device Driver </a:t>
              </a:r>
              <a:endParaRPr lang="ko-KR" altLang="en-US" sz="10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F5EC78F0-D81A-AB4B-7B9F-95676AECB9CB}"/>
                </a:ext>
              </a:extLst>
            </p:cNvPr>
            <p:cNvSpPr/>
            <p:nvPr/>
          </p:nvSpPr>
          <p:spPr>
            <a:xfrm>
              <a:off x="10689193" y="2067353"/>
              <a:ext cx="3033362" cy="1094886"/>
            </a:xfrm>
            <a:prstGeom prst="rect">
              <a:avLst/>
            </a:prstGeom>
            <a:noFill/>
            <a:ln w="25400">
              <a:solidFill>
                <a:srgbClr val="1E2761"/>
              </a:solidFill>
              <a:prstDash val="solid"/>
            </a:ln>
          </p:spPr>
          <p:txBody>
            <a:bodyPr anchor="t" anchorCtr="0"/>
            <a:lstStyle/>
            <a:p>
              <a:pPr algn="ctr" latinLnBrk="0"/>
              <a:r>
                <a:rPr lang="en-US" altLang="ko-KR" sz="1000" b="1">
                  <a:solidFill>
                    <a:prstClr val="black"/>
                  </a:solidFill>
                  <a:latin typeface="Calibri" panose="020F0502020204030204"/>
                </a:rPr>
                <a:t>&lt; NPU&gt;</a:t>
              </a:r>
              <a:endParaRPr lang="ko-KR" altLang="en-US" sz="1000" b="1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6" name="Shape 4">
            <a:extLst>
              <a:ext uri="{FF2B5EF4-FFF2-40B4-BE49-F238E27FC236}">
                <a16:creationId xmlns:a16="http://schemas.microsoft.com/office/drawing/2014/main" id="{5F08D52D-8DE4-8ABC-0E58-C6787A40D496}"/>
              </a:ext>
            </a:extLst>
          </p:cNvPr>
          <p:cNvSpPr/>
          <p:nvPr/>
        </p:nvSpPr>
        <p:spPr>
          <a:xfrm>
            <a:off x="6946142" y="3399594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LLM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Endpoint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39" name="순서도: 문서 38">
            <a:extLst>
              <a:ext uri="{FF2B5EF4-FFF2-40B4-BE49-F238E27FC236}">
                <a16:creationId xmlns:a16="http://schemas.microsoft.com/office/drawing/2014/main" id="{854CCBBA-CF7D-5D73-B0DC-FE31BB9E156A}"/>
              </a:ext>
            </a:extLst>
          </p:cNvPr>
          <p:cNvSpPr/>
          <p:nvPr/>
        </p:nvSpPr>
        <p:spPr>
          <a:xfrm>
            <a:off x="6100152" y="3211378"/>
            <a:ext cx="657225" cy="559734"/>
          </a:xfrm>
          <a:prstGeom prst="flowChartDocument">
            <a:avLst/>
          </a:prstGeom>
          <a:solidFill>
            <a:srgbClr val="BFD0E5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Artifact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C413ACEB-35C0-6385-0CC7-A38135C4C37C}"/>
              </a:ext>
            </a:extLst>
          </p:cNvPr>
          <p:cNvSpPr/>
          <p:nvPr/>
        </p:nvSpPr>
        <p:spPr>
          <a:xfrm>
            <a:off x="5504473" y="4737286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Skills</a:t>
            </a: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925E4FAF-34FA-34A7-97F6-D87800F5C04B}"/>
              </a:ext>
            </a:extLst>
          </p:cNvPr>
          <p:cNvSpPr/>
          <p:nvPr/>
        </p:nvSpPr>
        <p:spPr>
          <a:xfrm>
            <a:off x="5921634" y="3955437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Permission</a:t>
            </a: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6DA92426-A68E-992C-6E97-1EEC51BAE49E}"/>
              </a:ext>
            </a:extLst>
          </p:cNvPr>
          <p:cNvSpPr/>
          <p:nvPr/>
        </p:nvSpPr>
        <p:spPr>
          <a:xfrm>
            <a:off x="-249317" y="3433332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AI Model</a:t>
            </a:r>
            <a:r>
              <a:rPr lang="ko-KR" altLang="en-US" sz="1000" b="1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n-US" altLang="ko-KR" sz="1000" b="1">
              <a:solidFill>
                <a:schemeClr val="bg1"/>
              </a:solidFill>
              <a:latin typeface="Calibri" panose="020F0502020204030204"/>
            </a:endParaRP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2DC8CE70-63B2-0D39-7A37-795B641B6947}"/>
              </a:ext>
            </a:extLst>
          </p:cNvPr>
          <p:cNvCxnSpPr>
            <a:stCxn id="7" idx="2"/>
            <a:endCxn id="9" idx="1"/>
          </p:cNvCxnSpPr>
          <p:nvPr/>
        </p:nvCxnSpPr>
        <p:spPr>
          <a:xfrm rot="16200000" flipH="1">
            <a:off x="3213575" y="2881054"/>
            <a:ext cx="387163" cy="2544249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390847B-DE36-8384-B9BB-494DD8D8C5BD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16200000" flipH="1">
            <a:off x="3722384" y="3389863"/>
            <a:ext cx="387163" cy="1526632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250CD97A-5529-50BB-9612-86B7B39880E2}"/>
              </a:ext>
            </a:extLst>
          </p:cNvPr>
          <p:cNvCxnSpPr>
            <a:cxnSpLocks/>
            <a:stCxn id="19" idx="2"/>
            <a:endCxn id="9" idx="1"/>
          </p:cNvCxnSpPr>
          <p:nvPr/>
        </p:nvCxnSpPr>
        <p:spPr>
          <a:xfrm rot="16200000" flipH="1">
            <a:off x="4221240" y="3888720"/>
            <a:ext cx="401866" cy="514215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A4C39CE4-9914-1186-A330-DDEE1EC18F1F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rot="5400000" flipH="1" flipV="1">
            <a:off x="3689697" y="3801476"/>
            <a:ext cx="444298" cy="1534869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247D8812-08E0-C279-7A7C-0BFF33E91472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2719411" y="2386890"/>
            <a:ext cx="387163" cy="3532578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Shape 4">
            <a:extLst>
              <a:ext uri="{FF2B5EF4-FFF2-40B4-BE49-F238E27FC236}">
                <a16:creationId xmlns:a16="http://schemas.microsoft.com/office/drawing/2014/main" id="{90F22BCC-DB8C-1B0C-F705-28380A97C345}"/>
              </a:ext>
            </a:extLst>
          </p:cNvPr>
          <p:cNvSpPr/>
          <p:nvPr/>
        </p:nvSpPr>
        <p:spPr>
          <a:xfrm>
            <a:off x="3911846" y="5782645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JIRA</a:t>
            </a: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FE21F2A3-6560-11B6-5138-C275A4DB81A2}"/>
              </a:ext>
            </a:extLst>
          </p:cNvPr>
          <p:cNvSpPr/>
          <p:nvPr/>
        </p:nvSpPr>
        <p:spPr>
          <a:xfrm>
            <a:off x="2716352" y="2728195"/>
            <a:ext cx="875167" cy="516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Config</a:t>
            </a:r>
          </a:p>
          <a:p>
            <a:pPr algn="ctr" latinLnBrk="0"/>
            <a:r>
              <a:rPr lang="en-US" altLang="ko-KR" sz="1000" b="1">
                <a:solidFill>
                  <a:schemeClr val="bg1"/>
                </a:solidFill>
                <a:latin typeface="Calibri" panose="020F0502020204030204"/>
              </a:rPr>
              <a:t>Manager</a:t>
            </a:r>
            <a:endParaRPr lang="ko-KR" altLang="en-US" sz="1000" b="1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5D5EBC42-D156-C8C6-56C0-84B01F8CE856}"/>
              </a:ext>
            </a:extLst>
          </p:cNvPr>
          <p:cNvCxnSpPr>
            <a:stCxn id="76" idx="2"/>
            <a:endCxn id="6" idx="0"/>
          </p:cNvCxnSpPr>
          <p:nvPr/>
        </p:nvCxnSpPr>
        <p:spPr>
          <a:xfrm flipH="1">
            <a:off x="3152649" y="3244731"/>
            <a:ext cx="1287" cy="198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433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703E-A8A2-380C-B90E-090B743B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32354-563A-10BD-6C2F-B3F3BA24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DP4 Agent </a:t>
            </a:r>
            <a:r>
              <a:rPr kumimoji="1" lang="ko-KR" altLang="en-US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외부 시스템 안정성 보장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101505-FAFA-33B2-48A6-45C0DE24FA86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D1B5E0C-8582-C2B7-EE00-B7C2BD237203}"/>
              </a:ext>
            </a:extLst>
          </p:cNvPr>
          <p:cNvSpPr/>
          <p:nvPr/>
        </p:nvSpPr>
        <p:spPr>
          <a:xfrm>
            <a:off x="422875" y="1546831"/>
            <a:ext cx="5571525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&lt;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사전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권한 체크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D1CE122-1A6F-208C-765E-72ACA8E2FCD1}"/>
              </a:ext>
            </a:extLst>
          </p:cNvPr>
          <p:cNvSpPr/>
          <p:nvPr/>
        </p:nvSpPr>
        <p:spPr>
          <a:xfrm>
            <a:off x="6391875" y="1546831"/>
            <a:ext cx="5266725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 &lt;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격리 환경 수행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FE0E37-AADA-1E9D-B5B8-E7CAD3BA61FD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C2E34C-3AC8-A9AD-82A2-7852E050D528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1500363-29BF-80AF-4960-B60A39B053D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1AC771F-8C25-94C7-4A0D-02F3BB5F8BEB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0707F90-4289-533A-2146-A994C733B833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9BF9AF9-3127-659F-BBDC-7919B1D669AD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77799C96-9282-7D33-AAA1-E694055D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8" y="2327770"/>
            <a:ext cx="4975735" cy="380265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EE8124-A5A5-EFEC-71CA-D7936A93E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861" y="2040405"/>
            <a:ext cx="4912752" cy="437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26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8881-C6DB-2679-B9B1-CBF0B0E5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D2A12-29B0-6806-71BA-568B0E88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요구사항 분석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Stakeholder</a:t>
            </a:r>
            <a:endParaRPr kumimoji="1" lang="ko-KR" altLang="en-US" sz="36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AC093-C35E-9125-09D1-E9FE36D43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038" y="1525872"/>
            <a:ext cx="10515600" cy="4351338"/>
          </a:xfrm>
        </p:spPr>
        <p:txBody>
          <a:bodyPr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kumimoji="1" lang="en-US" altLang="ko-KR" sz="2000"/>
              <a:t>TBD</a:t>
            </a:r>
            <a:endParaRPr kumimoji="1" lang="ko-KR" altLang="en-US" sz="20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DF2E5C-DECA-3CCB-C650-4A46A8B4BC82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A95B27F-C844-9CF1-BF4E-87B51429FFBB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C6F97C-FF3B-08B4-80A4-2F11C776D882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961A3C-8299-8AC4-7C90-B29B9FACFC0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5976942-BDC5-7CED-2BA2-E0708B022BF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BCBA801-8C0F-7C0E-2648-EA5D70059A19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7A35FE-E5FC-57CC-F284-EFC1C59B7A44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087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B125-618E-7CAE-3281-B86E0422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08556-5C2E-F706-CB14-52E61D1E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요구사항 분석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Stakeholder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79B664-32EE-4D4E-0DEC-E070ABF37EB2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E426DD4-6543-0248-1BE7-D3C8553B9EE3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3C34EA2-4C37-6562-AB13-E7D9FB8ACF33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ECB7EA8-118B-D112-9EC1-84B3413F820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2EB35B-6633-EC60-C8DD-6967FB4C0C11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D811763-917A-F1FE-BE94-8321C437FE6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31B2C2F-485C-BCA8-616B-0BA4B560D226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E1882FB-A6CC-5EED-135F-E43BB68D3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8" y="1502080"/>
            <a:ext cx="10515600" cy="4351338"/>
          </a:xfrm>
        </p:spPr>
        <p:txBody>
          <a:bodyPr>
            <a:noAutofit/>
          </a:bodyPr>
          <a:lstStyle/>
          <a:p>
            <a:pPr marL="311150" indent="-311150">
              <a:lnSpc>
                <a:spcPct val="150000"/>
              </a:lnSpc>
            </a:pPr>
            <a:r>
              <a:rPr kumimoji="1" lang="ko-KR" altLang="en-US" sz="1800" b="1"/>
              <a:t>현재 </a:t>
            </a:r>
            <a:r>
              <a:rPr kumimoji="1" lang="en-US" altLang="ko-KR" sz="1800" b="1"/>
              <a:t>Pain Point</a:t>
            </a:r>
            <a:endParaRPr kumimoji="1" lang="en-US" altLang="ko-KR" sz="1400" b="1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파일</a:t>
            </a:r>
            <a:r>
              <a:rPr kumimoji="1" lang="en-US" altLang="ko-KR" sz="1400"/>
              <a:t>, </a:t>
            </a:r>
            <a:r>
              <a:rPr kumimoji="1" lang="ko-KR" altLang="en-US" sz="1400"/>
              <a:t>산출물 공유 </a:t>
            </a:r>
            <a:r>
              <a:rPr kumimoji="1" lang="en-US" altLang="ko-KR" sz="1400"/>
              <a:t>(20GB)</a:t>
            </a:r>
            <a:r>
              <a:rPr kumimoji="1" lang="ko-KR" altLang="en-US" sz="1400"/>
              <a:t>가 필요하며</a:t>
            </a:r>
            <a:r>
              <a:rPr kumimoji="1" lang="en-US" altLang="ko-KR" sz="1400"/>
              <a:t>, </a:t>
            </a:r>
            <a:r>
              <a:rPr kumimoji="1" lang="ko-KR" altLang="en-US" sz="1400"/>
              <a:t>이 과정에서 파일 </a:t>
            </a:r>
            <a:r>
              <a:rPr kumimoji="1" lang="en-US" altLang="ko-KR" sz="1400"/>
              <a:t>Loss </a:t>
            </a:r>
            <a:r>
              <a:rPr kumimoji="1" lang="ko-KR" altLang="en-US" sz="1400"/>
              <a:t>등 신뢰성 이슈 발생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Tool Version, Config</a:t>
            </a:r>
            <a:r>
              <a:rPr kumimoji="1" lang="ko-KR" altLang="en-US" sz="1400"/>
              <a:t>가 개발자 개인별 관리되고 있어</a:t>
            </a:r>
            <a:r>
              <a:rPr kumimoji="1" lang="en-US" altLang="ko-KR" sz="1400"/>
              <a:t>, </a:t>
            </a:r>
            <a:r>
              <a:rPr kumimoji="1" lang="ko-KR" altLang="en-US" sz="1400"/>
              <a:t>추적성 및 </a:t>
            </a:r>
            <a:endParaRPr kumimoji="1" lang="en-US" altLang="ko-KR" sz="1400"/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Regression </a:t>
            </a:r>
            <a:r>
              <a:rPr kumimoji="1" lang="ko-KR" altLang="en-US" sz="1400"/>
              <a:t>확보가 어려움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Workflow</a:t>
            </a:r>
            <a:r>
              <a:rPr kumimoji="1" lang="ko-KR" altLang="en-US" sz="1400"/>
              <a:t>가 너무 세세함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en-US" altLang="ko-KR" sz="1400"/>
              <a:t>Jira Status </a:t>
            </a:r>
            <a:r>
              <a:rPr kumimoji="1" lang="ko-KR" altLang="en-US" sz="1400"/>
              <a:t>업데이트를 개발자에 의존 </a:t>
            </a:r>
            <a:r>
              <a:rPr kumimoji="1" lang="en-US" altLang="ko-KR" sz="1400"/>
              <a:t>-&gt; </a:t>
            </a:r>
            <a:r>
              <a:rPr kumimoji="1" lang="ko-KR" altLang="en-US" sz="1400"/>
              <a:t>최신 </a:t>
            </a:r>
            <a:r>
              <a:rPr kumimoji="1" lang="en-US" altLang="ko-KR" sz="1400"/>
              <a:t>Status </a:t>
            </a:r>
            <a:r>
              <a:rPr kumimoji="1" lang="ko-KR" altLang="en-US" sz="1400"/>
              <a:t>파악 어려움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팀이 많고</a:t>
            </a:r>
            <a:r>
              <a:rPr kumimoji="1" lang="en-US" altLang="ko-KR" sz="1400"/>
              <a:t>, </a:t>
            </a:r>
            <a:r>
              <a:rPr kumimoji="1" lang="ko-KR" altLang="en-US" sz="1400"/>
              <a:t>개발 속도가 빨라 </a:t>
            </a:r>
            <a:r>
              <a:rPr kumimoji="1" lang="en-US" altLang="ko-KR" sz="1400"/>
              <a:t>Jira </a:t>
            </a:r>
            <a:r>
              <a:rPr kumimoji="1" lang="ko-KR" altLang="en-US" sz="1400"/>
              <a:t>대신 채팅에 의존 </a:t>
            </a:r>
            <a:r>
              <a:rPr kumimoji="1" lang="en-US" altLang="ko-KR" sz="1400"/>
              <a:t>(</a:t>
            </a:r>
            <a:r>
              <a:rPr kumimoji="1" lang="ko-KR" altLang="en-US" sz="1400"/>
              <a:t>속도가 매우 빠르다</a:t>
            </a:r>
            <a:r>
              <a:rPr kumimoji="1" lang="en-US" altLang="ko-KR" sz="1400"/>
              <a:t>.)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모델이 </a:t>
            </a:r>
            <a:r>
              <a:rPr kumimoji="1" lang="en-US" altLang="ko-KR" sz="1400"/>
              <a:t>140</a:t>
            </a:r>
            <a:r>
              <a:rPr kumimoji="1" lang="ko-KR" altLang="en-US" sz="1400"/>
              <a:t>개 이상이며</a:t>
            </a:r>
            <a:r>
              <a:rPr kumimoji="1" lang="en-US" altLang="ko-KR" sz="1400"/>
              <a:t>, </a:t>
            </a:r>
            <a:r>
              <a:rPr kumimoji="1" lang="ko-KR" altLang="en-US" sz="1400"/>
              <a:t>각 </a:t>
            </a:r>
            <a:r>
              <a:rPr kumimoji="1" lang="en-US" altLang="ko-KR" sz="1400"/>
              <a:t>Step</a:t>
            </a:r>
            <a:r>
              <a:rPr kumimoji="1" lang="ko-KR" altLang="en-US" sz="1400"/>
              <a:t>의 </a:t>
            </a:r>
            <a:r>
              <a:rPr kumimoji="1" lang="en-US" altLang="ko-KR" sz="1400"/>
              <a:t>Iteration</a:t>
            </a:r>
            <a:r>
              <a:rPr kumimoji="1" lang="ko-KR" altLang="en-US" sz="1400"/>
              <a:t>도 다수</a:t>
            </a:r>
            <a:endParaRPr kumimoji="1" lang="en-US" altLang="ko-KR" sz="1800"/>
          </a:p>
          <a:p>
            <a:pPr marL="311150" indent="-311150">
              <a:lnSpc>
                <a:spcPct val="150000"/>
              </a:lnSpc>
            </a:pPr>
            <a:r>
              <a:rPr kumimoji="1" lang="ko-KR" altLang="en-US" sz="1800" b="1"/>
              <a:t>현 분석 도구 한계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현재 </a:t>
            </a:r>
            <a:r>
              <a:rPr kumimoji="1" lang="en-US" altLang="ko-KR" sz="1400"/>
              <a:t>GUI</a:t>
            </a:r>
            <a:r>
              <a:rPr kumimoji="1" lang="ko-KR" altLang="en-US" sz="1400"/>
              <a:t>는 커스텀 뷰 기능이 없으며 </a:t>
            </a:r>
            <a:r>
              <a:rPr kumimoji="1" lang="en-US" altLang="ko-KR" sz="1400"/>
              <a:t>UI </a:t>
            </a:r>
            <a:r>
              <a:rPr kumimoji="1" lang="ko-KR" altLang="en-US" sz="1400"/>
              <a:t>변경 및 워크플로우 연동 필요</a:t>
            </a:r>
            <a:endParaRPr kumimoji="1" lang="en-US" altLang="ko-KR" sz="1400"/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기존 시각화 기능은 전체 보기만 제공</a:t>
            </a:r>
            <a:r>
              <a:rPr kumimoji="1" lang="en-US" altLang="ko-KR" sz="1400"/>
              <a:t>. A,B,C </a:t>
            </a:r>
            <a:r>
              <a:rPr kumimoji="1" lang="ko-KR" altLang="en-US" sz="1400"/>
              <a:t>등 세부 정보 선택 불가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별도 툴이 없어 프롬프트로 즉시 커스텀 </a:t>
            </a:r>
            <a:r>
              <a:rPr kumimoji="1" lang="en-US" altLang="ko-KR" sz="1400"/>
              <a:t>HTML </a:t>
            </a:r>
            <a:r>
              <a:rPr kumimoji="1" lang="ko-KR" altLang="en-US" sz="1400"/>
              <a:t>페이지를 생성해야 함</a:t>
            </a:r>
          </a:p>
          <a:p>
            <a:pPr marL="768350" lvl="1" indent="-311150">
              <a:lnSpc>
                <a:spcPct val="150000"/>
              </a:lnSpc>
            </a:pPr>
            <a:r>
              <a:rPr kumimoji="1" lang="ko-KR" altLang="en-US" sz="1400"/>
              <a:t>프롬프트 기반 커스텀 페이지 구현 방안</a:t>
            </a:r>
          </a:p>
          <a:p>
            <a:pPr marL="1225550" lvl="2" indent="-311150">
              <a:lnSpc>
                <a:spcPct val="150000"/>
              </a:lnSpc>
            </a:pPr>
            <a:r>
              <a:rPr kumimoji="1" lang="ko-KR" altLang="en-US" sz="1100"/>
              <a:t>프롬프트에 </a:t>
            </a:r>
            <a:r>
              <a:rPr kumimoji="1" lang="en-US" altLang="ko-KR" sz="1100"/>
              <a:t>A,B,C </a:t>
            </a:r>
            <a:r>
              <a:rPr kumimoji="1" lang="ko-KR" altLang="en-US" sz="1100"/>
              <a:t>지정 </a:t>
            </a:r>
            <a:r>
              <a:rPr kumimoji="1" lang="en-US" altLang="ko-KR" sz="1100"/>
              <a:t>-&gt; LLM</a:t>
            </a:r>
            <a:r>
              <a:rPr kumimoji="1" lang="ko-KR" altLang="en-US" sz="1100"/>
              <a:t>이 해당 데이터만 추출해 </a:t>
            </a:r>
            <a:r>
              <a:rPr kumimoji="1" lang="en-US" altLang="ko-KR" sz="1100"/>
              <a:t>HTML </a:t>
            </a:r>
            <a:r>
              <a:rPr kumimoji="1" lang="ko-KR" altLang="en-US" sz="1100"/>
              <a:t>페이지 출력</a:t>
            </a:r>
          </a:p>
          <a:p>
            <a:pPr marL="1225550" lvl="2" indent="-311150">
              <a:lnSpc>
                <a:spcPct val="150000"/>
              </a:lnSpc>
            </a:pPr>
            <a:r>
              <a:rPr kumimoji="1" lang="en-US" altLang="ko-KR" sz="1100"/>
              <a:t>"</a:t>
            </a:r>
            <a:r>
              <a:rPr kumimoji="1" lang="ko-KR" altLang="en-US" sz="1100" err="1"/>
              <a:t>퍼펙토</a:t>
            </a:r>
            <a:r>
              <a:rPr kumimoji="1" lang="en-US" altLang="ko-KR" sz="1100"/>
              <a:t>" </a:t>
            </a:r>
            <a:r>
              <a:rPr kumimoji="1" lang="ko-KR" altLang="en-US" sz="1100"/>
              <a:t>프로파일링 툴과 연계해 에이전트가 분석 결과를 자동 가공</a:t>
            </a:r>
          </a:p>
        </p:txBody>
      </p:sp>
    </p:spTree>
    <p:extLst>
      <p:ext uri="{BB962C8B-B14F-4D97-AF65-F5344CB8AC3E}">
        <p14:creationId xmlns:p14="http://schemas.microsoft.com/office/powerpoint/2010/main" val="1521215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3DE9-DCE4-330B-07A9-6B310FB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196C5-03F9-77F4-6606-F4610972B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기능 요구사항</a:t>
            </a:r>
            <a:r>
              <a:rPr kumimoji="1" lang="en-US" altLang="ko-KR" sz="3600" b="1"/>
              <a:t>, </a:t>
            </a:r>
            <a:r>
              <a:rPr kumimoji="1" lang="ko-KR" altLang="en-US" sz="3600" b="1"/>
              <a:t>제약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C7FA8B-AACC-3E24-37FC-94992AE5CDED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D6574B-D594-8956-2E3E-366667ED6684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659710-4195-1B1C-2D09-09A9C7BBE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C931907-5E62-5EE8-35D6-48DD83B0AD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E6D2E37-FB19-1366-2D86-B00B69D99DAE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9EAB8F-D863-025D-35E3-42E792EFC40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D3668ED-7958-FE9D-FC9E-47B4E172F6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FF5587-B371-BF11-1A7E-2D7974A6B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112759"/>
              </p:ext>
            </p:extLst>
          </p:nvPr>
        </p:nvGraphicFramePr>
        <p:xfrm>
          <a:off x="1381782" y="1361411"/>
          <a:ext cx="9905343" cy="320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276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7828067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요구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상세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/>
                        <a:t>Workflow </a:t>
                      </a:r>
                      <a:r>
                        <a:rPr lang="ko-KR" altLang="en-US" sz="1400" b="1"/>
                        <a:t>실행 인프라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노드 단위로 실행을 격리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재시도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복구할 수 있는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Workflow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인프라를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Artifact 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</a:t>
                      </a:r>
                      <a:endParaRPr lang="ko-KR" altLang="en-US" sz="14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대용량 산출물을 저장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전달하는 관리 인프라를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/>
                        <a:t>SDK Config </a:t>
                      </a:r>
                      <a:r>
                        <a:rPr lang="ko-KR" altLang="en-US" sz="1400" b="1"/>
                        <a:t>변경 추적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SDK Config (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툴 버전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 파일 등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변경되었을 때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영향 범위를 자동 분석하고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 기능을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900946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 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</a:t>
                      </a:r>
                      <a:r>
                        <a:rPr lang="en-US" altLang="ko-K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관측</a:t>
                      </a:r>
                      <a:endParaRPr lang="ko-KR" altLang="en-US" sz="14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동작을 제한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통제하고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이력과 추론 과정을 추적할 수 있는 운영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관측 기능을 제공한다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880520"/>
                  </a:ext>
                </a:extLst>
              </a:tr>
              <a:tr h="5800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b="1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(?) </a:t>
                      </a:r>
                      <a:r>
                        <a:rPr lang="ko-KR" sz="1400" b="1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시스템 </a:t>
                      </a:r>
                      <a:r>
                        <a:rPr lang="ko-KR" sz="1400" b="1" i="0" u="none" strike="noStrike" kern="1200" noProof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운영·제어</a:t>
                      </a:r>
                      <a:endParaRPr lang="ko-KR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400" b="0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시스템은 전체 현황을 조회하고, </a:t>
                      </a:r>
                      <a:r>
                        <a:rPr lang="ko-KR" sz="1400" b="0" i="0" u="none" strike="noStrike" kern="1200" noProof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Workflow·Agent·Tool</a:t>
                      </a:r>
                      <a:r>
                        <a:rPr lang="ko-KR" sz="1400" b="0" i="0" u="none" strike="noStrike" kern="1200" noProof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구성을 변경할 수 있는 통합 제어 인터페이스를 제공한다.</a:t>
                      </a:r>
                      <a:endParaRPr lang="ko-KR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56401"/>
                  </a:ext>
                </a:extLst>
              </a:tr>
            </a:tbl>
          </a:graphicData>
        </a:graphic>
      </p:graphicFrame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315520CC-2423-A973-7A73-938BC5959F41}"/>
              </a:ext>
            </a:extLst>
          </p:cNvPr>
          <p:cNvSpPr/>
          <p:nvPr/>
        </p:nvSpPr>
        <p:spPr>
          <a:xfrm>
            <a:off x="569728" y="1883518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A868C4B4-3323-3DE3-2499-68F0756F45E8}"/>
              </a:ext>
            </a:extLst>
          </p:cNvPr>
          <p:cNvSpPr/>
          <p:nvPr/>
        </p:nvSpPr>
        <p:spPr>
          <a:xfrm>
            <a:off x="569728" y="2412174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4FB85804-3D64-67B3-0CB8-1246FCD29CC1}"/>
              </a:ext>
            </a:extLst>
          </p:cNvPr>
          <p:cNvSpPr/>
          <p:nvPr/>
        </p:nvSpPr>
        <p:spPr>
          <a:xfrm>
            <a:off x="569728" y="2900344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19077494-E0B4-F773-D1DD-A7E2EC5DE3E5}"/>
              </a:ext>
            </a:extLst>
          </p:cNvPr>
          <p:cNvSpPr/>
          <p:nvPr/>
        </p:nvSpPr>
        <p:spPr>
          <a:xfrm>
            <a:off x="569728" y="3429000"/>
            <a:ext cx="612452" cy="373704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FR4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4C9104C-4058-CDA4-FA5D-4117B0D50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347581"/>
              </p:ext>
            </p:extLst>
          </p:nvPr>
        </p:nvGraphicFramePr>
        <p:xfrm>
          <a:off x="1381781" y="4847561"/>
          <a:ext cx="9905343" cy="2044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276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7828067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</a:tblGrid>
              <a:tr h="287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제약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상세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/>
                        <a:t>표준 패키징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On-device SDK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 Package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형태이며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Ubuntu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기반의 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</a:t>
                      </a:r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환경에서 구동 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88805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/>
                        <a:t>배포 </a:t>
                      </a:r>
                      <a:r>
                        <a:rPr lang="ko-KR" altLang="en-US" sz="1400" b="1" err="1"/>
                        <a:t>이식성</a:t>
                      </a:r>
                      <a:endParaRPr lang="ko-KR" altLang="en-US" sz="1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시스템은 클라우드 환경 이외에도 내부 개발 서버들에 직접 구축할 수 있어야 한다</a:t>
                      </a:r>
                      <a:r>
                        <a:rPr lang="en-US" altLang="ko-K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656530"/>
                  </a:ext>
                </a:extLst>
              </a:tr>
              <a:tr h="580038">
                <a:tc>
                  <a:txBody>
                    <a:bodyPr/>
                    <a:lstStyle/>
                    <a:p>
                      <a:pPr latinLnBrk="1"/>
                      <a:endParaRPr lang="ko-KR" altLang="en-US" sz="1400" b="1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Agent가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 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오동작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하더라도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기존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시스템(</a:t>
                      </a:r>
                      <a:r>
                        <a:rPr lang="ko-KR" altLang="en-US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Workflow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altLang="en-US" sz="1400" b="0" i="0" u="none" strike="noStrike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Jira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, 빌드 서버 등)에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영향이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없어야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한다</a:t>
                      </a: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ko-KR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89390"/>
                  </a:ext>
                </a:extLst>
              </a:tr>
            </a:tbl>
          </a:graphicData>
        </a:graphic>
      </p:graphicFrame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664C2A21-8B86-62AE-F2AF-5771A2FEAE40}"/>
              </a:ext>
            </a:extLst>
          </p:cNvPr>
          <p:cNvSpPr/>
          <p:nvPr/>
        </p:nvSpPr>
        <p:spPr>
          <a:xfrm>
            <a:off x="586903" y="5270222"/>
            <a:ext cx="612452" cy="37370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C1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014CFA0D-8445-E01A-8FDE-00273AEE01E7}"/>
              </a:ext>
            </a:extLst>
          </p:cNvPr>
          <p:cNvSpPr/>
          <p:nvPr/>
        </p:nvSpPr>
        <p:spPr>
          <a:xfrm>
            <a:off x="586903" y="5798878"/>
            <a:ext cx="612452" cy="373704"/>
          </a:xfrm>
          <a:prstGeom prst="flowChartAlternateProcess">
            <a:avLst/>
          </a:prstGeom>
          <a:solidFill>
            <a:srgbClr val="BFD0E5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C2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1725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B1A-253A-2D73-96CD-D1440AD7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F4E27-A26D-3DEC-E387-CE02258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/>
              <a:t>품질 속성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E9043-7E32-E108-EB95-89D114DAEC39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7C4E214-DDEC-9280-3C36-E7164D4360DE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92F32FA-A1BD-48B5-EE89-DB9A98017487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ACDE0C-8CCA-F0AF-8D27-1089119C01A9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B8DA867-F794-F9CD-A753-0556C217FF59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C95C25A-3812-7032-564F-426FEFE39F9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EAEC5D0-A45E-3D1A-B96E-D98664E42C11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A2A2C4C-F9BC-F038-F456-C04492126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799135"/>
              </p:ext>
            </p:extLst>
          </p:nvPr>
        </p:nvGraphicFramePr>
        <p:xfrm>
          <a:off x="925005" y="1129287"/>
          <a:ext cx="10651515" cy="6700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174">
                  <a:extLst>
                    <a:ext uri="{9D8B030D-6E8A-4147-A177-3AD203B41FA5}">
                      <a16:colId xmlns:a16="http://schemas.microsoft.com/office/drawing/2014/main" val="763988909"/>
                    </a:ext>
                  </a:extLst>
                </a:gridCol>
                <a:gridCol w="2290086">
                  <a:extLst>
                    <a:ext uri="{9D8B030D-6E8A-4147-A177-3AD203B41FA5}">
                      <a16:colId xmlns:a16="http://schemas.microsoft.com/office/drawing/2014/main" val="66745765"/>
                    </a:ext>
                  </a:extLst>
                </a:gridCol>
                <a:gridCol w="5500503">
                  <a:extLst>
                    <a:ext uri="{9D8B030D-6E8A-4147-A177-3AD203B41FA5}">
                      <a16:colId xmlns:a16="http://schemas.microsoft.com/office/drawing/2014/main" val="39018211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880030967"/>
                    </a:ext>
                  </a:extLst>
                </a:gridCol>
                <a:gridCol w="755376">
                  <a:extLst>
                    <a:ext uri="{9D8B030D-6E8A-4147-A177-3AD203B41FA5}">
                      <a16:colId xmlns:a16="http://schemas.microsoft.com/office/drawing/2014/main" val="2940441955"/>
                    </a:ext>
                  </a:extLst>
                </a:gridCol>
              </a:tblGrid>
              <a:tr h="210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QA Refinement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중요도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197"/>
                  </a:ext>
                </a:extLst>
              </a:tr>
              <a:tr h="444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Efficiency</a:t>
                      </a: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Agent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토큰 사용량 최소화</a:t>
                      </a:r>
                      <a:endParaRPr lang="ko-KR" sz="11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는 업무를 수행하는데 토큰 사용량을 최소화하여야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 </a:t>
                      </a:r>
                      <a:endParaRPr lang="ko-KR" altLang="en-US" sz="11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973300"/>
                  </a:ext>
                </a:extLst>
              </a:tr>
              <a:tr h="460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Scalability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시스템 확장성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시스템은 대상 모델과 수행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워크플로우 수 증가에 비례하여 처리 능력을 확장할 수 있어야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(재작성) KPI: 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시간당 완료 모델 수 ≥ N, 자원 활용률 ≥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25703"/>
                  </a:ext>
                </a:extLst>
              </a:tr>
              <a:tr h="444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개발자가 직접 수행한 시간 대비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Agent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 수행 시간 단축을 최대화하여야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. 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KPI: {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개발자 노드 수행 시간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– Agent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통한 자동 노드 수행 시간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} &gt;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최대화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+mn-lt"/>
                          <a:ea typeface="맑은 고딕"/>
                        </a:rPr>
                        <a:t>(%%)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25688"/>
                  </a:ext>
                </a:extLst>
              </a:tr>
              <a:tr h="460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Availability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안정적 운영 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서버 오류나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오동작 등 시스템 부분 장애 시에도 데이터 무결성과 서비스 연속성을 보장해야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KPI: MTTR (Mean Time To Recovery) &lt; 1분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798605"/>
                  </a:ext>
                </a:extLst>
              </a:tr>
              <a:tr h="2108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altLang="ko-K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sz="1100" b="0" i="0" u="none" strike="noStrike" noProof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ko-KR" altLang="en-US" sz="11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20771"/>
                  </a:ext>
                </a:extLst>
              </a:tr>
              <a:tr h="590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간 독립성 보장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동시에 여러 개의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가 실행되는 환경에서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한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가 비정상 종료되더라도 다른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Workflow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가 영향을 받으면 안된다.</a:t>
                      </a:r>
                      <a:endParaRPr lang="en-US" altLang="ko-KR" sz="11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100">
                          <a:solidFill>
                            <a:srgbClr val="FF0000"/>
                          </a:solidFill>
                        </a:rPr>
                        <a:t>KPI: 타 </a:t>
                      </a:r>
                      <a:r>
                        <a:rPr lang="ko-KR" altLang="en-US" sz="1100" err="1">
                          <a:solidFill>
                            <a:srgbClr val="FF0000"/>
                          </a:solidFill>
                        </a:rPr>
                        <a:t>Workflow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</a:rPr>
                        <a:t> 실행 중단 0건, 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</a:rPr>
                        <a:t>latency 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</a:rPr>
                        <a:t>증가 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</a:rPr>
                        <a:t>10% 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</a:rPr>
                        <a:t>이내</a:t>
                      </a:r>
                      <a:endParaRPr lang="ko-KR" b="1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100">
                          <a:solidFill>
                            <a:srgbClr val="0070C0"/>
                          </a:solidFill>
                        </a:rPr>
                        <a:t>KPI 근거: SDK 수행 시간이 수 시간 단위, 수십 분 추가는 허용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499810"/>
                  </a:ext>
                </a:extLst>
              </a:tr>
              <a:tr h="980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Controllability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err="1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 제어 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Agent의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동작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범위를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정의된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내로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제한하고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범위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외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동작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시도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시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차단하며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시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사람이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개입할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수 </a:t>
                      </a:r>
                      <a:r>
                        <a:rPr lang="en-US" sz="1100" b="0" i="0" u="none" strike="noStrike" baseline="0" noProof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있다</a:t>
                      </a:r>
                      <a:r>
                        <a:rPr lang="en-US" sz="11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lang="ko-KR" altLang="en-US"/>
                    </a:p>
                    <a:p>
                      <a:pPr lvl="0" algn="l">
                        <a:buNone/>
                      </a:pPr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KPI:</a:t>
                      </a:r>
                    </a:p>
                    <a:p>
                      <a:pPr marL="171450" lvl="0" indent="-171450" algn="l">
                        <a:buFont typeface="Calibri"/>
                        <a:buChar char="-"/>
                      </a:pP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(비정상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i="0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동작시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hook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승인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게이트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도달률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100%,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승인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대기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시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부작용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= 0</a:t>
                      </a:r>
                      <a:endParaRPr lang="en-US"/>
                    </a:p>
                    <a:p>
                      <a:pPr lvl="0" algn="l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  (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일시정지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1" i="0" u="none" strike="noStrike" noProof="0">
                          <a:solidFill>
                            <a:srgbClr val="FF0000"/>
                          </a:solidFill>
                        </a:rPr>
                        <a:t>중단</a:t>
                      </a:r>
                      <a:r>
                        <a:rPr lang="en-US" sz="1100" b="1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1" i="0" u="none" strike="noStrike" noProof="0">
                          <a:solidFill>
                            <a:srgbClr val="FF0000"/>
                          </a:solidFill>
                        </a:rPr>
                        <a:t>명령</a:t>
                      </a:r>
                      <a:r>
                        <a:rPr lang="en-US" sz="1100" b="1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1" i="0" u="none" strike="noStrike" noProof="0">
                          <a:solidFill>
                            <a:srgbClr val="FF0000"/>
                          </a:solidFill>
                        </a:rPr>
                        <a:t>수용</a:t>
                      </a:r>
                      <a:r>
                        <a:rPr lang="en-US" sz="1100" b="1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1" i="0" u="none" strike="noStrike" noProof="0">
                          <a:solidFill>
                            <a:srgbClr val="FF0000"/>
                          </a:solidFill>
                        </a:rPr>
                        <a:t>시간</a:t>
                      </a:r>
                      <a:r>
                        <a:rPr lang="en-US" sz="1100" b="1" i="0" u="none" strike="noStrike" noProof="0">
                          <a:solidFill>
                            <a:srgbClr val="FF0000"/>
                          </a:solidFill>
                        </a:rPr>
                        <a:t> ≤ 5</a:t>
                      </a:r>
                      <a:r>
                        <a:rPr lang="ko-KR" altLang="en-US" sz="1100" b="1" i="0" u="none" strike="noStrike" noProof="0">
                          <a:solidFill>
                            <a:srgbClr val="FF0000"/>
                          </a:solidFill>
                        </a:rPr>
                        <a:t>초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중단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일관성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회복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100%</a:t>
                      </a:r>
                      <a:endParaRPr lang="en-US"/>
                    </a:p>
                    <a:p>
                      <a:pPr marL="171450" lvl="0" indent="-171450" algn="l">
                        <a:buFont typeface="Calibri"/>
                        <a:buChar char="-"/>
                      </a:pP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범위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외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Tool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호출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 err="1">
                          <a:solidFill>
                            <a:srgbClr val="FF0000"/>
                          </a:solidFill>
                        </a:rPr>
                        <a:t>차단율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= 100%,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토큰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예산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초과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건수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= 0, Grounding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검증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실패율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≤ 1%,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사람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승인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없는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상태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변경</a:t>
                      </a:r>
                      <a:r>
                        <a:rPr lang="en-US" altLang="ko-KR" sz="1100" b="0" i="0" u="none" strike="noStrike" noProof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100" b="0" i="0" u="none" strike="noStrike" noProof="0">
                          <a:solidFill>
                            <a:srgbClr val="FF0000"/>
                          </a:solidFill>
                        </a:rPr>
                        <a:t>건수</a:t>
                      </a:r>
                      <a:r>
                        <a:rPr lang="en-US" sz="1100" b="0" i="0" u="none" strike="noStrike" noProof="0">
                          <a:solidFill>
                            <a:srgbClr val="FF0000"/>
                          </a:solidFill>
                        </a:rPr>
                        <a:t> = 0</a:t>
                      </a:r>
                      <a:endParaRPr lang="en-US" sz="1100" b="0" i="0" u="none" strike="noStrike" noProof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855286"/>
                  </a:ext>
                </a:extLst>
              </a:tr>
              <a:tr h="444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Observability</a:t>
                      </a:r>
                    </a:p>
                    <a:p>
                      <a:pPr lvl="0" algn="ctr">
                        <a:buNone/>
                      </a:pPr>
                      <a:r>
                        <a:rPr lang="en-US" altLang="ko-KR" sz="1100" b="1" strike="noStrike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1" strike="noStrike" err="1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100" b="1" strike="noStrik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1" strike="noStrike" err="1">
                          <a:solidFill>
                            <a:schemeClr val="tx1"/>
                          </a:solidFill>
                        </a:rPr>
                        <a:t>요구사항</a:t>
                      </a:r>
                      <a:r>
                        <a:rPr lang="en-US" altLang="ko-KR" sz="1100" b="1" strike="noStrike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trike="noStrike" err="1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 작업 추적용이성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가 무슨 </a:t>
                      </a:r>
                      <a:r>
                        <a:rPr lang="ko-KR" altLang="en-US" sz="1100" strike="noStrike" err="1">
                          <a:solidFill>
                            <a:schemeClr val="tx1"/>
                          </a:solidFill>
                        </a:rPr>
                        <a:t>짓하는지</a:t>
                      </a:r>
                      <a:r>
                        <a:rPr lang="ko-KR" altLang="en-US" sz="1100" strike="noStrike">
                          <a:solidFill>
                            <a:schemeClr val="tx1"/>
                          </a:solidFill>
                        </a:rPr>
                        <a:t> 실행 이력과 추론 과정을 관찰할 수 있어야 한다</a:t>
                      </a: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 strike="noStrike">
                          <a:solidFill>
                            <a:schemeClr val="tx1"/>
                          </a:solidFill>
                        </a:rPr>
                        <a:t>KPI: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추론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완전성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100%,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의사결정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재구성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비율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≥ 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43572"/>
                  </a:ext>
                </a:extLst>
              </a:tr>
              <a:tr h="460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E2E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개발 시간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시스템은 주요 동작의 응답 시간과 처리량이 정의된 목표를 충족해야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buNone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KPI: </a:t>
                      </a:r>
                      <a:r>
                        <a:rPr lang="ko-KR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Artifact</a:t>
                      </a:r>
                      <a:r>
                        <a:rPr lang="ko-KR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전달 오버헤드 (노드 간 데이터 전달) ≤ 전체 E2E의 </a:t>
                      </a:r>
                      <a:r>
                        <a:rPr lang="ko-KR" sz="1100" b="1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lang="en-US" altLang="ko-KR" sz="1100" b="1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%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US" sz="1100" b="1" i="0" u="none" strike="noStrike" noProof="0" err="1">
                          <a:solidFill>
                            <a:schemeClr val="tx1"/>
                          </a:solidFill>
                        </a:rPr>
                        <a:t>부분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b="1" i="0" u="none" strike="noStrike" noProof="0" err="1">
                          <a:solidFill>
                            <a:schemeClr val="tx1"/>
                          </a:solidFill>
                        </a:rPr>
                        <a:t>변경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b="1" i="0" u="none" strike="noStrike" noProof="0" err="1">
                          <a:solidFill>
                            <a:schemeClr val="tx1"/>
                          </a:solidFill>
                        </a:rPr>
                        <a:t>재실행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</a:rPr>
                        <a:t> latency ≤ 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</a:rPr>
                        <a:t>첫 </a:t>
                      </a:r>
                      <a:r>
                        <a:rPr lang="en-US" sz="1100" b="1" i="0" u="none" strike="noStrike" noProof="0" err="1">
                          <a:solidFill>
                            <a:schemeClr val="tx1"/>
                          </a:solidFill>
                        </a:rPr>
                        <a:t>실행의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</a:rPr>
                        <a:t> 30%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858780"/>
                  </a:ext>
                </a:extLst>
              </a:tr>
              <a:tr h="444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err="1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 결과 일관성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는 동일한 입력 조건에서 일관된 판단을 내려야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KPI: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추론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재현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성공률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≥ </a:t>
                      </a:r>
                      <a:r>
                        <a:rPr lang="en-US" sz="1100" b="1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20097"/>
                  </a:ext>
                </a:extLst>
              </a:tr>
              <a:tr h="460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Maintainability</a:t>
                      </a:r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모듈 교체 용이성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시스템은 구성 요소(LLM, </a:t>
                      </a:r>
                      <a:r>
                        <a:rPr lang="ko-KR" altLang="en-US" sz="1100" err="1">
                          <a:solidFill>
                            <a:schemeClr val="tx1"/>
                          </a:solidFill>
                        </a:rPr>
                        <a:t>Agent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, Tool?)의 추가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교체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</a:rPr>
                        <a:t>제거가 다른 구성 요소에 미치는 영향을 최소화해야 한다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algn="l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KPI: 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Change Impact Scope ≤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lang="en-US" sz="11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2개 </a:t>
                      </a:r>
                      <a:r>
                        <a:rPr lang="en-US" sz="1100" b="0" i="0" u="none" strike="noStrike" noProof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컴포넌트</a:t>
                      </a:r>
                      <a:endParaRPr lang="en-US" altLang="ko-KR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158"/>
                  </a:ext>
                </a:extLst>
              </a:tr>
            </a:tbl>
          </a:graphicData>
        </a:graphic>
      </p:graphicFrame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2A8BF88F-4CF2-BF3B-7514-2037E86120DC}"/>
              </a:ext>
            </a:extLst>
          </p:cNvPr>
          <p:cNvSpPr/>
          <p:nvPr/>
        </p:nvSpPr>
        <p:spPr>
          <a:xfrm>
            <a:off x="256172" y="1494114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QA1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00E123E3-09B9-4EDD-9706-8CF608B7FD45}"/>
              </a:ext>
            </a:extLst>
          </p:cNvPr>
          <p:cNvSpPr/>
          <p:nvPr/>
        </p:nvSpPr>
        <p:spPr>
          <a:xfrm>
            <a:off x="256172" y="2084356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QA2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순서도: 대체 처리 2">
            <a:extLst>
              <a:ext uri="{FF2B5EF4-FFF2-40B4-BE49-F238E27FC236}">
                <a16:creationId xmlns:a16="http://schemas.microsoft.com/office/drawing/2014/main" id="{01B60882-7459-4809-66FC-3AA6E3CA1AD9}"/>
              </a:ext>
            </a:extLst>
          </p:cNvPr>
          <p:cNvSpPr/>
          <p:nvPr/>
        </p:nvSpPr>
        <p:spPr>
          <a:xfrm>
            <a:off x="247727" y="2663391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QA3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852DDAB1-4804-99D8-81D8-A74F52DE4828}"/>
              </a:ext>
            </a:extLst>
          </p:cNvPr>
          <p:cNvSpPr/>
          <p:nvPr/>
        </p:nvSpPr>
        <p:spPr>
          <a:xfrm>
            <a:off x="247727" y="3242427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</a:rPr>
              <a:t>QA4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653D3CF2-5564-B0C4-3213-646593578644}"/>
              </a:ext>
            </a:extLst>
          </p:cNvPr>
          <p:cNvSpPr/>
          <p:nvPr/>
        </p:nvSpPr>
        <p:spPr>
          <a:xfrm>
            <a:off x="244966" y="3821463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QA5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8F5A19C8-F3D4-17AE-BFD7-9E9A3F2B6213}"/>
              </a:ext>
            </a:extLst>
          </p:cNvPr>
          <p:cNvSpPr/>
          <p:nvPr/>
        </p:nvSpPr>
        <p:spPr>
          <a:xfrm>
            <a:off x="244966" y="4411705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QA6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9DE87AA6-1E34-F405-7B34-0DCD3EAD5F4A}"/>
              </a:ext>
            </a:extLst>
          </p:cNvPr>
          <p:cNvSpPr/>
          <p:nvPr/>
        </p:nvSpPr>
        <p:spPr>
          <a:xfrm>
            <a:off x="236521" y="4990740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QA7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40B7FBC6-965E-810C-361E-F3068DDA94CC}"/>
              </a:ext>
            </a:extLst>
          </p:cNvPr>
          <p:cNvSpPr/>
          <p:nvPr/>
        </p:nvSpPr>
        <p:spPr>
          <a:xfrm>
            <a:off x="236521" y="5569776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QA8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3216F56E-F797-CD96-12C0-130BD055740A}"/>
              </a:ext>
            </a:extLst>
          </p:cNvPr>
          <p:cNvSpPr/>
          <p:nvPr/>
        </p:nvSpPr>
        <p:spPr>
          <a:xfrm>
            <a:off x="236521" y="6148812"/>
            <a:ext cx="668833" cy="373704"/>
          </a:xfrm>
          <a:prstGeom prst="flowChartAlternateProcess">
            <a:avLst/>
          </a:prstGeom>
          <a:solidFill>
            <a:srgbClr val="F9ECEB"/>
          </a:solidFill>
          <a:ln w="25400">
            <a:solidFill>
              <a:schemeClr val="tx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 latinLnBrk="0"/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맑은 고딕"/>
              </a:rPr>
              <a:t>QA9</a:t>
            </a:r>
            <a:endParaRPr lang="ko-KR" alt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7012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4792-17CE-D4DE-EF45-384995FB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C2DF1-69B1-922B-3011-B1F7BD58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DP1 Workflow – Agent </a:t>
            </a:r>
            <a:r>
              <a:rPr kumimoji="1" lang="ko-KR" altLang="en-US" sz="2800" b="1">
                <a:solidFill>
                  <a:prstClr val="black"/>
                </a:solidFill>
                <a:latin typeface="맑은 고딕"/>
                <a:ea typeface="맑은 고딕"/>
              </a:rPr>
              <a:t>매핑</a:t>
            </a:r>
            <a:endParaRPr lang="en-US" altLang="ko-KR" sz="2800" b="1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D6B65F-D7B8-6B20-0657-F28FF84A18CA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9FB8C28-DF18-6C73-0F04-C0E5968AAA38}"/>
              </a:ext>
            </a:extLst>
          </p:cNvPr>
          <p:cNvSpPr/>
          <p:nvPr/>
        </p:nvSpPr>
        <p:spPr>
          <a:xfrm>
            <a:off x="425530" y="1586089"/>
            <a:ext cx="5571525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&lt; Per-Node Agent&gt;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79F8186-8ADD-6058-BB58-DAFBABF492A1}"/>
              </a:ext>
            </a:extLst>
          </p:cNvPr>
          <p:cNvSpPr/>
          <p:nvPr/>
        </p:nvSpPr>
        <p:spPr>
          <a:xfrm>
            <a:off x="6391875" y="1546831"/>
            <a:ext cx="5266725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&lt; Per-Workflow Agent&gt;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E642D46-A903-E675-610E-2BD7B8AD45D2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53899B9-AC43-E301-CD08-126DDCAD2952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요구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9AF4A8C-7331-4E62-9F5E-802C69AE16B8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61D4855-1163-A569-A29A-1BECFB92BF22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검증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800AC11-7E04-66AF-798E-F7901D669A1F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결론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AD4449E-FE17-F2A2-5919-2D37768B3C80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과제 </a:t>
              </a:r>
              <a:endPara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소개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A0D5B0C-9D2D-CB32-4E44-D55735D49FCB}"/>
              </a:ext>
            </a:extLst>
          </p:cNvPr>
          <p:cNvGrpSpPr/>
          <p:nvPr/>
        </p:nvGrpSpPr>
        <p:grpSpPr>
          <a:xfrm>
            <a:off x="6591614" y="2196086"/>
            <a:ext cx="2658996" cy="3190578"/>
            <a:chOff x="6514556" y="1876238"/>
            <a:chExt cx="2658996" cy="3190578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B3965387-9C02-4B01-1D05-DDA550713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1999" y="2118795"/>
              <a:ext cx="2451553" cy="2948021"/>
            </a:xfrm>
            <a:prstGeom prst="rect">
              <a:avLst/>
            </a:prstGeom>
          </p:spPr>
        </p:pic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371E1615-91F7-200B-2177-3A0E14039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6514556" y="1876238"/>
              <a:ext cx="414886" cy="414886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DF64137-8B43-85E5-CC97-D3C2D6FAEE2C}"/>
              </a:ext>
            </a:extLst>
          </p:cNvPr>
          <p:cNvGrpSpPr/>
          <p:nvPr/>
        </p:nvGrpSpPr>
        <p:grpSpPr>
          <a:xfrm>
            <a:off x="759739" y="2056627"/>
            <a:ext cx="2451553" cy="3215284"/>
            <a:chOff x="615478" y="1851533"/>
            <a:chExt cx="2451553" cy="3215284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B6B60048-561F-9A10-000B-41E694F6A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478" y="2118796"/>
              <a:ext cx="2451553" cy="2948021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089EBF39-3F1C-347D-10D5-5E78F1C15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841254" y="1851533"/>
              <a:ext cx="414886" cy="414886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A4E4DB5F-4780-9E93-59D9-28A66139E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841254" y="2531863"/>
              <a:ext cx="414886" cy="414886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DAC38A3F-24EE-15A4-D4C0-C1CDFD28D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841254" y="3158332"/>
              <a:ext cx="414886" cy="414886"/>
            </a:xfrm>
            <a:prstGeom prst="rect">
              <a:avLst/>
            </a:pr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AA5D6DE9-FAF4-6F31-3B43-A01DFAE33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841254" y="3802019"/>
              <a:ext cx="414886" cy="414886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32442F5-387B-70A7-C820-3341FED61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841254" y="4504309"/>
              <a:ext cx="414886" cy="414886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2C94B28F-BA1B-3619-FB8B-7F975EA52A4D}"/>
              </a:ext>
            </a:extLst>
          </p:cNvPr>
          <p:cNvSpPr txBox="1"/>
          <p:nvPr/>
        </p:nvSpPr>
        <p:spPr>
          <a:xfrm>
            <a:off x="615478" y="5418898"/>
            <a:ext cx="4561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Trade-Off: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Availability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높음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토큰 비용 높음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시간 단축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특정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 </a:t>
            </a:r>
            <a:r>
              <a:rPr lang="ko-KR" altLang="en-US" sz="120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장애시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해당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Agent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만 </a:t>
            </a:r>
            <a:r>
              <a:rPr lang="ko-KR" altLang="en-US" sz="120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재수행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구현 복잡도 높음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(A2A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설계 필요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스킬 추가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/Agent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확장이 쉬움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             Multi-Agent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 위한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Resource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요구량 ↑</a:t>
            </a:r>
            <a:endParaRPr lang="en-US" altLang="ko-KR" sz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DDB28D-6A7D-8413-DA0D-9CBC17FC8788}"/>
              </a:ext>
            </a:extLst>
          </p:cNvPr>
          <p:cNvSpPr txBox="1"/>
          <p:nvPr/>
        </p:nvSpPr>
        <p:spPr>
          <a:xfrm>
            <a:off x="6535130" y="5696805"/>
            <a:ext cx="50413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Trade-Off: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토큰 비용 낮음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(KV Reuse),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Availability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낮음 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(SPOF),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Non-Deterministic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해결 필요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노드 시작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종료 조건 명확히</a:t>
            </a:r>
            <a:r>
              <a:rPr lang="en-US" altLang="ko-KR" sz="12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긴 워크플로우 처리능력 ↓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(Context Lot)</a:t>
            </a:r>
            <a:endParaRPr kumimoji="0" lang="ko-KR" altLang="en-US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7CC135C-8ED9-E13E-6F9D-B6B965CF3F95}"/>
              </a:ext>
            </a:extLst>
          </p:cNvPr>
          <p:cNvSpPr/>
          <p:nvPr/>
        </p:nvSpPr>
        <p:spPr>
          <a:xfrm>
            <a:off x="10816528" y="2196086"/>
            <a:ext cx="1684143" cy="650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후보 </a:t>
            </a:r>
            <a:r>
              <a:rPr lang="en-US" altLang="ko-KR" sz="1050"/>
              <a:t>3. </a:t>
            </a:r>
            <a:r>
              <a:rPr lang="ko-KR" altLang="en-US" sz="1050"/>
              <a:t>동일 </a:t>
            </a:r>
            <a:r>
              <a:rPr lang="en-US" altLang="ko-KR" sz="1050"/>
              <a:t>IR</a:t>
            </a:r>
            <a:r>
              <a:rPr lang="ko-KR" altLang="en-US" sz="1050"/>
              <a:t> 노드에 대한 단일 </a:t>
            </a:r>
            <a:r>
              <a:rPr lang="en-US" altLang="ko-KR" sz="1050"/>
              <a:t>Agent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C0CD4A8-8F45-E0AC-D302-D01FDBB52FCF}"/>
              </a:ext>
            </a:extLst>
          </p:cNvPr>
          <p:cNvSpPr/>
          <p:nvPr/>
        </p:nvSpPr>
        <p:spPr>
          <a:xfrm>
            <a:off x="10757416" y="3449144"/>
            <a:ext cx="1684143" cy="650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후보 </a:t>
            </a:r>
            <a:r>
              <a:rPr lang="en-US" altLang="ko-KR" sz="1050"/>
              <a:t>4. Agent</a:t>
            </a:r>
            <a:r>
              <a:rPr lang="ko-KR" altLang="en-US" sz="1050"/>
              <a:t> </a:t>
            </a:r>
            <a:r>
              <a:rPr lang="en-US" altLang="ko-KR" sz="1050"/>
              <a:t>Pool</a:t>
            </a:r>
          </a:p>
          <a:p>
            <a:pPr algn="ctr"/>
            <a:r>
              <a:rPr lang="en-US" altLang="ko-KR" sz="1050"/>
              <a:t>w/ Dynamic Skill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CC9671E-FA20-3874-2826-29FA1B5F5C44}"/>
              </a:ext>
            </a:extLst>
          </p:cNvPr>
          <p:cNvSpPr/>
          <p:nvPr/>
        </p:nvSpPr>
        <p:spPr>
          <a:xfrm>
            <a:off x="10757416" y="4678115"/>
            <a:ext cx="1684143" cy="650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후보 </a:t>
            </a:r>
            <a:r>
              <a:rPr lang="en-US" altLang="ko-KR" sz="1050"/>
              <a:t>5. Per-Workflow Agent + Per-Node Subagent</a:t>
            </a:r>
          </a:p>
        </p:txBody>
      </p:sp>
    </p:spTree>
    <p:extLst>
      <p:ext uri="{BB962C8B-B14F-4D97-AF65-F5344CB8AC3E}">
        <p14:creationId xmlns:p14="http://schemas.microsoft.com/office/powerpoint/2010/main" val="3767864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B95D-0D08-87C3-8EC0-312D99B3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0AA5C-F0E4-3D2A-A2D5-C57DC3BC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DP3 Agent </a:t>
            </a:r>
            <a:r>
              <a:rPr kumimoji="1" lang="ko-KR" altLang="en-US" sz="2800" b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외부 시스템 안정성 보장</a:t>
            </a:r>
            <a:endParaRPr kumimoji="1" lang="ko-KR" altLang="en-US" sz="36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412C95-280B-13CA-F256-69BA86754836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D1B3CF3-03A9-7651-DD9F-A17C5AC6E642}"/>
              </a:ext>
            </a:extLst>
          </p:cNvPr>
          <p:cNvSpPr/>
          <p:nvPr/>
        </p:nvSpPr>
        <p:spPr>
          <a:xfrm>
            <a:off x="485505" y="1546831"/>
            <a:ext cx="3682183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&lt;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사전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권한 체크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A68CD1-BF3C-9E73-7316-D2AE4A2DB2C8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6C5DBE-BACF-1192-058B-7403681318A0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03851EB-3054-807B-7E61-33002CC2942D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D38468A-28D3-2E17-F6F4-E62D845EEB24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5A5555A-FBD7-F84F-EB33-9233CA865AC3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4CD755B-6A17-B20D-06FA-BC3C9C69E6BD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5" name="Shape 4">
            <a:extLst>
              <a:ext uri="{FF2B5EF4-FFF2-40B4-BE49-F238E27FC236}">
                <a16:creationId xmlns:a16="http://schemas.microsoft.com/office/drawing/2014/main" id="{D76A7AAE-E189-96C9-03B0-661547187D0B}"/>
              </a:ext>
            </a:extLst>
          </p:cNvPr>
          <p:cNvSpPr/>
          <p:nvPr/>
        </p:nvSpPr>
        <p:spPr>
          <a:xfrm>
            <a:off x="4253750" y="1546830"/>
            <a:ext cx="3682183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&lt; </a:t>
            </a:r>
            <a:r>
              <a:rPr lang="en-US" altLang="ko-KR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격리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환경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수행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  <a:ea typeface="맑은 고딕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B0854DF-B233-8809-6F3D-EAC7D8F48260}"/>
              </a:ext>
            </a:extLst>
          </p:cNvPr>
          <p:cNvSpPr/>
          <p:nvPr/>
        </p:nvSpPr>
        <p:spPr>
          <a:xfrm>
            <a:off x="7990682" y="1546830"/>
            <a:ext cx="3682183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&lt; </a:t>
            </a:r>
            <a:r>
              <a:rPr lang="en-US" altLang="ko-KR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실시간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b="1" err="1">
                <a:solidFill>
                  <a:prstClr val="black"/>
                </a:solidFill>
                <a:latin typeface="Calibri" panose="020F0502020204030204"/>
                <a:ea typeface="맑은 고딕"/>
              </a:rPr>
              <a:t>모니터링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  <a:ea typeface="맑은 고딕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395DB094-7906-4810-5C46-E0FEDCA51FA9}"/>
              </a:ext>
            </a:extLst>
          </p:cNvPr>
          <p:cNvSpPr/>
          <p:nvPr/>
        </p:nvSpPr>
        <p:spPr>
          <a:xfrm>
            <a:off x="860765" y="2192594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1035D39-53E5-D09F-BFFC-8DF923EFD2F4}"/>
              </a:ext>
            </a:extLst>
          </p:cNvPr>
          <p:cNvSpPr/>
          <p:nvPr/>
        </p:nvSpPr>
        <p:spPr>
          <a:xfrm>
            <a:off x="860764" y="2850210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Permission Gate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C4757C86-264E-3A2E-393D-E91EE2E78642}"/>
              </a:ext>
            </a:extLst>
          </p:cNvPr>
          <p:cNvSpPr/>
          <p:nvPr/>
        </p:nvSpPr>
        <p:spPr>
          <a:xfrm>
            <a:off x="871202" y="3518265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External System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60E6F4B1-A8A1-A004-CEA0-86452B7DD16F}"/>
              </a:ext>
            </a:extLst>
          </p:cNvPr>
          <p:cNvCxnSpPr/>
          <p:nvPr/>
        </p:nvCxnSpPr>
        <p:spPr>
          <a:xfrm>
            <a:off x="1482374" y="2603542"/>
            <a:ext cx="25053" cy="2755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553DCF13-F900-C5FD-496D-06BA11A59FDF}"/>
              </a:ext>
            </a:extLst>
          </p:cNvPr>
          <p:cNvCxnSpPr>
            <a:cxnSpLocks/>
          </p:cNvCxnSpPr>
          <p:nvPr/>
        </p:nvCxnSpPr>
        <p:spPr>
          <a:xfrm>
            <a:off x="1492813" y="3282033"/>
            <a:ext cx="4177" cy="2338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hape 4">
            <a:extLst>
              <a:ext uri="{FF2B5EF4-FFF2-40B4-BE49-F238E27FC236}">
                <a16:creationId xmlns:a16="http://schemas.microsoft.com/office/drawing/2014/main" id="{8708C77B-7651-8AB6-70E6-49404B827504}"/>
              </a:ext>
            </a:extLst>
          </p:cNvPr>
          <p:cNvSpPr/>
          <p:nvPr/>
        </p:nvSpPr>
        <p:spPr>
          <a:xfrm>
            <a:off x="5098736" y="2171718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E5C45684-C2AA-8F64-0AF6-6C8CA02DFFD3}"/>
              </a:ext>
            </a:extLst>
          </p:cNvPr>
          <p:cNvSpPr/>
          <p:nvPr/>
        </p:nvSpPr>
        <p:spPr>
          <a:xfrm>
            <a:off x="5067421" y="2798018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 err="1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SandBox</a:t>
            </a: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 Execution</a:t>
            </a:r>
            <a:endParaRPr lang="ko-KR" altLang="en-US" sz="1400" err="1">
              <a:solidFill>
                <a:prstClr val="black"/>
              </a:solidFill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5F493C38-990D-2A44-1E3F-6C8A063E6E8B}"/>
              </a:ext>
            </a:extLst>
          </p:cNvPr>
          <p:cNvSpPr/>
          <p:nvPr/>
        </p:nvSpPr>
        <p:spPr>
          <a:xfrm>
            <a:off x="5098736" y="3424320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External System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846986D3-737C-35CE-F635-1670664CC4F4}"/>
              </a:ext>
            </a:extLst>
          </p:cNvPr>
          <p:cNvCxnSpPr>
            <a:cxnSpLocks/>
          </p:cNvCxnSpPr>
          <p:nvPr/>
        </p:nvCxnSpPr>
        <p:spPr>
          <a:xfrm flipH="1">
            <a:off x="5724524" y="2582667"/>
            <a:ext cx="6261" cy="2129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EB96FA54-8629-887A-5EAE-F9146616BB7D}"/>
              </a:ext>
            </a:extLst>
          </p:cNvPr>
          <p:cNvCxnSpPr>
            <a:cxnSpLocks/>
          </p:cNvCxnSpPr>
          <p:nvPr/>
        </p:nvCxnSpPr>
        <p:spPr>
          <a:xfrm flipH="1">
            <a:off x="5703647" y="3177651"/>
            <a:ext cx="48014" cy="2755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hape 4">
            <a:extLst>
              <a:ext uri="{FF2B5EF4-FFF2-40B4-BE49-F238E27FC236}">
                <a16:creationId xmlns:a16="http://schemas.microsoft.com/office/drawing/2014/main" id="{A9531E9B-D78E-F472-81B1-80E9E5D053AA}"/>
              </a:ext>
            </a:extLst>
          </p:cNvPr>
          <p:cNvSpPr/>
          <p:nvPr/>
        </p:nvSpPr>
        <p:spPr>
          <a:xfrm>
            <a:off x="8783476" y="2234347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Agent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91AE993C-AE24-9B72-312D-6C38D0C7A3D5}"/>
              </a:ext>
            </a:extLst>
          </p:cNvPr>
          <p:cNvSpPr/>
          <p:nvPr/>
        </p:nvSpPr>
        <p:spPr>
          <a:xfrm>
            <a:off x="8783476" y="3403442"/>
            <a:ext cx="1258928" cy="41120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External System</a:t>
            </a:r>
            <a:endParaRPr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410D1EDE-C145-A070-683A-DED929D0EF5E}"/>
              </a:ext>
            </a:extLst>
          </p:cNvPr>
          <p:cNvCxnSpPr>
            <a:cxnSpLocks/>
          </p:cNvCxnSpPr>
          <p:nvPr/>
        </p:nvCxnSpPr>
        <p:spPr>
          <a:xfrm flipH="1">
            <a:off x="9419701" y="2624420"/>
            <a:ext cx="6261" cy="74531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E1797B6D-A3CD-6BCB-5341-6AA4A244A968}"/>
              </a:ext>
            </a:extLst>
          </p:cNvPr>
          <p:cNvCxnSpPr>
            <a:cxnSpLocks/>
          </p:cNvCxnSpPr>
          <p:nvPr/>
        </p:nvCxnSpPr>
        <p:spPr>
          <a:xfrm flipH="1" flipV="1">
            <a:off x="10056442" y="2294585"/>
            <a:ext cx="225465" cy="63254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hape 4">
            <a:extLst>
              <a:ext uri="{FF2B5EF4-FFF2-40B4-BE49-F238E27FC236}">
                <a16:creationId xmlns:a16="http://schemas.microsoft.com/office/drawing/2014/main" id="{CC063C07-99D9-3A3C-F0B1-EFE2DA550FB4}"/>
              </a:ext>
            </a:extLst>
          </p:cNvPr>
          <p:cNvSpPr/>
          <p:nvPr/>
        </p:nvSpPr>
        <p:spPr>
          <a:xfrm>
            <a:off x="10286600" y="2724950"/>
            <a:ext cx="1258928" cy="557338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ctr" anchorCtr="0"/>
          <a:lstStyle/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Monitoring /</a:t>
            </a:r>
          </a:p>
          <a:p>
            <a:pPr algn="ctr">
              <a:defRPr/>
            </a:pPr>
            <a:r>
              <a:rPr lang="en-US" altLang="ko-KR" sz="1400">
                <a:solidFill>
                  <a:prstClr val="black"/>
                </a:solidFill>
                <a:latin typeface="Calibri" panose="020F0502020204030204"/>
                <a:ea typeface="맑은 고딕"/>
                <a:cs typeface="Calibri"/>
              </a:rPr>
              <a:t>Kill Switch</a:t>
            </a:r>
            <a:endParaRPr lang="en-US" altLang="ko-KR" sz="14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606ED7-2D5B-CFBE-D464-4076120479E9}"/>
              </a:ext>
            </a:extLst>
          </p:cNvPr>
          <p:cNvSpPr txBox="1"/>
          <p:nvPr/>
        </p:nvSpPr>
        <p:spPr>
          <a:xfrm>
            <a:off x="860412" y="4702958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ea typeface="맑은 고딕"/>
              </a:rPr>
              <a:t>Availability</a:t>
            </a:r>
            <a:r>
              <a:rPr lang="ko-KR" altLang="en-US">
                <a:ea typeface="맑은 고딕"/>
              </a:rPr>
              <a:t> </a:t>
            </a:r>
            <a:r>
              <a:rPr lang="ko-KR" altLang="ko-KR">
                <a:latin typeface="Malgun Gothic"/>
                <a:ea typeface="Malgun Gothic"/>
              </a:rPr>
              <a:t>★</a:t>
            </a:r>
            <a:r>
              <a:rPr lang="ko-KR"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B48D8A-5182-CF03-B011-DC986FFFBE78}"/>
              </a:ext>
            </a:extLst>
          </p:cNvPr>
          <p:cNvSpPr txBox="1"/>
          <p:nvPr/>
        </p:nvSpPr>
        <p:spPr>
          <a:xfrm>
            <a:off x="4670412" y="4702958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Availability </a:t>
            </a:r>
            <a:r>
              <a:rPr lang="ko-KR" altLang="en-US">
                <a:latin typeface="Malgun Gothic"/>
                <a:ea typeface="Malgun Gothic"/>
              </a:rPr>
              <a:t>★★</a:t>
            </a:r>
            <a:r>
              <a:rPr lang="ko-KR"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C1B7B9-2B13-160F-8D47-88A966A47BAC}"/>
              </a:ext>
            </a:extLst>
          </p:cNvPr>
          <p:cNvSpPr txBox="1"/>
          <p:nvPr/>
        </p:nvSpPr>
        <p:spPr>
          <a:xfrm>
            <a:off x="8511726" y="4702958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ea typeface="맑은 고딕"/>
              </a:rPr>
              <a:t>Availability</a:t>
            </a:r>
            <a:r>
              <a:rPr lang="ko-KR" altLang="en-US">
                <a:ea typeface="맑은 고딕"/>
              </a:rPr>
              <a:t> </a:t>
            </a:r>
            <a:r>
              <a:rPr lang="ko-KR">
                <a:latin typeface="Malgun Gothic"/>
                <a:ea typeface="Malgun Gothic"/>
              </a:rPr>
              <a:t>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61574A-F889-310E-AEC8-3DE9D77D6E54}"/>
              </a:ext>
            </a:extLst>
          </p:cNvPr>
          <p:cNvSpPr txBox="1"/>
          <p:nvPr/>
        </p:nvSpPr>
        <p:spPr>
          <a:xfrm>
            <a:off x="860411" y="5068301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Performance</a:t>
            </a:r>
            <a:r>
              <a:rPr lang="ko-KR" altLang="en-US">
                <a:latin typeface="Malgun Gothic"/>
                <a:ea typeface="Malgun Gothic"/>
              </a:rPr>
              <a:t> ★★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4DAF4B-E518-E13F-899E-BF83F3BEDE51}"/>
              </a:ext>
            </a:extLst>
          </p:cNvPr>
          <p:cNvSpPr txBox="1"/>
          <p:nvPr/>
        </p:nvSpPr>
        <p:spPr>
          <a:xfrm>
            <a:off x="4670411" y="5068301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Performance</a:t>
            </a:r>
            <a:r>
              <a:rPr lang="ko-KR" altLang="en-US">
                <a:latin typeface="Malgun Gothic"/>
                <a:ea typeface="Malgun Gothic"/>
              </a:rPr>
              <a:t> 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1E0389-34DB-B7FF-7AE6-418B3E9C8340}"/>
              </a:ext>
            </a:extLst>
          </p:cNvPr>
          <p:cNvSpPr txBox="1"/>
          <p:nvPr/>
        </p:nvSpPr>
        <p:spPr>
          <a:xfrm>
            <a:off x="8511726" y="5068301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Performance</a:t>
            </a:r>
            <a:r>
              <a:rPr lang="ko-KR" altLang="en-US">
                <a:latin typeface="Malgun Gothic"/>
                <a:ea typeface="Malgun Gothic"/>
              </a:rPr>
              <a:t> ★★★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FC4C8F-A0AB-AE94-5C2D-D8229242454E}"/>
              </a:ext>
            </a:extLst>
          </p:cNvPr>
          <p:cNvSpPr txBox="1"/>
          <p:nvPr/>
        </p:nvSpPr>
        <p:spPr>
          <a:xfrm>
            <a:off x="860411" y="5474407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Efficiency (Token) </a:t>
            </a:r>
            <a:r>
              <a:rPr lang="ko-KR" altLang="en-US">
                <a:latin typeface="Malgun Gothic"/>
                <a:ea typeface="Malgun Gothic"/>
              </a:rPr>
              <a:t>★★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FBA5AB-0925-87BC-D9F4-9A46F8608E1C}"/>
              </a:ext>
            </a:extLst>
          </p:cNvPr>
          <p:cNvSpPr txBox="1"/>
          <p:nvPr/>
        </p:nvSpPr>
        <p:spPr>
          <a:xfrm>
            <a:off x="4670411" y="5527588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Efficiency </a:t>
            </a:r>
            <a:r>
              <a:rPr lang="ko-KR" altLang="en-US">
                <a:latin typeface="Malgun Gothic"/>
                <a:ea typeface="Malgun Gothic"/>
              </a:rPr>
              <a:t>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8F30CD-F316-55CB-053D-8DF9BF30D059}"/>
              </a:ext>
            </a:extLst>
          </p:cNvPr>
          <p:cNvSpPr txBox="1"/>
          <p:nvPr/>
        </p:nvSpPr>
        <p:spPr>
          <a:xfrm>
            <a:off x="8626548" y="5527588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Efficiency </a:t>
            </a:r>
            <a:r>
              <a:rPr lang="ko-KR" altLang="en-US">
                <a:latin typeface="Malgun Gothic"/>
                <a:ea typeface="Malgun Gothic"/>
              </a:rPr>
              <a:t>★★</a:t>
            </a:r>
            <a:endParaRPr lang="ko-KR">
              <a:latin typeface="Malgun Gothic"/>
              <a:ea typeface="Malgun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BE483-23BB-494E-C75D-BDDAF03B37AB}"/>
              </a:ext>
            </a:extLst>
          </p:cNvPr>
          <p:cNvSpPr txBox="1"/>
          <p:nvPr/>
        </p:nvSpPr>
        <p:spPr>
          <a:xfrm>
            <a:off x="904238" y="5980379"/>
            <a:ext cx="28447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>
                <a:solidFill>
                  <a:schemeClr val="bg1">
                    <a:lumMod val="85000"/>
                  </a:schemeClr>
                </a:solidFill>
                <a:latin typeface="Malgun Gothic"/>
                <a:ea typeface="Malgun Gothic"/>
              </a:rPr>
              <a:t>Autonomy 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  <a:latin typeface="Malgun Gothic"/>
                <a:ea typeface="Malgun Gothic"/>
              </a:rPr>
              <a:t>★</a:t>
            </a:r>
            <a:endParaRPr lang="ko-KR">
              <a:solidFill>
                <a:schemeClr val="bg1">
                  <a:lumMod val="85000"/>
                </a:schemeClr>
              </a:solidFill>
              <a:latin typeface="Malgun Gothic"/>
              <a:ea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0B4145-A4F1-621C-CC27-E44AFBE6C9ED}"/>
              </a:ext>
            </a:extLst>
          </p:cNvPr>
          <p:cNvSpPr/>
          <p:nvPr/>
        </p:nvSpPr>
        <p:spPr>
          <a:xfrm>
            <a:off x="10729993" y="4526938"/>
            <a:ext cx="1684143" cy="1165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Agent </a:t>
            </a:r>
            <a:r>
              <a:rPr lang="ko-KR" altLang="en-US" sz="1050"/>
              <a:t>수행 </a:t>
            </a:r>
            <a:r>
              <a:rPr lang="en-US" altLang="ko-KR" sz="1050"/>
              <a:t>Task</a:t>
            </a:r>
            <a:r>
              <a:rPr lang="ko-KR" altLang="en-US" sz="1050"/>
              <a:t>에 따라 각자 최적 방식 선택 </a:t>
            </a:r>
            <a:endParaRPr lang="en-US" altLang="ko-KR" sz="1050"/>
          </a:p>
          <a:p>
            <a:pPr marL="171450" indent="-171450" algn="ctr">
              <a:buFontTx/>
              <a:buChar char="-"/>
            </a:pPr>
            <a:r>
              <a:rPr lang="en-US" altLang="ko-KR" sz="1050"/>
              <a:t>Storage Agent: 1</a:t>
            </a:r>
            <a:r>
              <a:rPr lang="ko-KR" altLang="en-US" sz="1050"/>
              <a:t>번</a:t>
            </a:r>
            <a:endParaRPr lang="en-US" altLang="ko-KR" sz="1050"/>
          </a:p>
          <a:p>
            <a:pPr marL="171450" indent="-171450" algn="ctr">
              <a:buFontTx/>
              <a:buChar char="-"/>
            </a:pPr>
            <a:r>
              <a:rPr lang="en-US" altLang="ko-KR" sz="1050"/>
              <a:t>SDK </a:t>
            </a:r>
            <a:r>
              <a:rPr lang="en-US" altLang="ko-KR" sz="1050" err="1"/>
              <a:t>Exeuction</a:t>
            </a:r>
            <a:r>
              <a:rPr lang="en-US" altLang="ko-KR" sz="1050"/>
              <a:t>: 2</a:t>
            </a:r>
            <a:r>
              <a:rPr lang="ko-KR" altLang="en-US" sz="1050"/>
              <a:t>번</a:t>
            </a:r>
            <a:endParaRPr lang="en-US" altLang="ko-KR" sz="1050"/>
          </a:p>
          <a:p>
            <a:pPr marL="171450" indent="-171450" algn="ctr">
              <a:buFontTx/>
              <a:buChar char="-"/>
            </a:pPr>
            <a:r>
              <a:rPr lang="en-US" altLang="ko-KR" sz="1050"/>
              <a:t>JIRA: 3</a:t>
            </a:r>
            <a:r>
              <a:rPr lang="ko-KR" altLang="en-US" sz="1050"/>
              <a:t>번</a:t>
            </a:r>
            <a:endParaRPr lang="en-US" altLang="ko-KR" sz="105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E255375-C6B5-AD37-5CEE-8014209A573D}"/>
              </a:ext>
            </a:extLst>
          </p:cNvPr>
          <p:cNvSpPr/>
          <p:nvPr/>
        </p:nvSpPr>
        <p:spPr>
          <a:xfrm>
            <a:off x="2553955" y="3346654"/>
            <a:ext cx="1684143" cy="1165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SAFETY</a:t>
            </a:r>
            <a:r>
              <a:rPr lang="ko-KR" altLang="en-US" sz="1050"/>
              <a:t> </a:t>
            </a:r>
            <a:r>
              <a:rPr lang="en-US" altLang="ko-KR" sz="1050"/>
              <a:t>QA</a:t>
            </a:r>
            <a:r>
              <a:rPr lang="ko-KR" altLang="en-US" sz="1050"/>
              <a:t>로 다시 넣는 것 고민 필요</a:t>
            </a:r>
            <a:endParaRPr lang="en-US" altLang="ko-KR" sz="1050"/>
          </a:p>
        </p:txBody>
      </p:sp>
    </p:spTree>
    <p:extLst>
      <p:ext uri="{BB962C8B-B14F-4D97-AF65-F5344CB8AC3E}">
        <p14:creationId xmlns:p14="http://schemas.microsoft.com/office/powerpoint/2010/main" val="2197507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0C8C-BA7E-DC26-D075-33CAC1D6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1E5D7-DDB1-CD20-2B4D-F9E4B4AF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DP4 </a:t>
            </a:r>
            <a:r>
              <a:rPr kumimoji="1" lang="en-US" altLang="ko-KR" sz="2800" b="1">
                <a:solidFill>
                  <a:prstClr val="black"/>
                </a:solidFill>
                <a:ea typeface="맑은 고딕"/>
              </a:rPr>
              <a:t>Workflow </a:t>
            </a:r>
            <a:r>
              <a:rPr kumimoji="1" lang="en-US" altLang="ko-KR" sz="2800" b="1" err="1">
                <a:solidFill>
                  <a:prstClr val="black"/>
                </a:solidFill>
                <a:ea typeface="맑은 고딕"/>
              </a:rPr>
              <a:t>실행</a:t>
            </a:r>
            <a:r>
              <a:rPr kumimoji="1" lang="en-US" altLang="ko-KR" sz="2800" b="1">
                <a:solidFill>
                  <a:prstClr val="black"/>
                </a:solidFill>
                <a:ea typeface="맑은 고딕"/>
              </a:rPr>
              <a:t> </a:t>
            </a:r>
            <a:r>
              <a:rPr kumimoji="1" lang="en-US" altLang="ko-KR" sz="2800" b="1" err="1">
                <a:solidFill>
                  <a:prstClr val="black"/>
                </a:solidFill>
                <a:ea typeface="맑은 고딕"/>
              </a:rPr>
              <a:t>단위</a:t>
            </a:r>
            <a:r>
              <a:rPr kumimoji="1" lang="en-US" altLang="ko-KR" sz="2800" b="1">
                <a:solidFill>
                  <a:prstClr val="black"/>
                </a:solidFill>
                <a:ea typeface="맑은 고딕"/>
              </a:rPr>
              <a:t> 및 </a:t>
            </a:r>
            <a:r>
              <a:rPr kumimoji="1" lang="en-US" altLang="ko-KR" sz="2800" b="1" err="1">
                <a:solidFill>
                  <a:prstClr val="black"/>
                </a:solidFill>
                <a:ea typeface="맑은 고딕"/>
              </a:rPr>
              <a:t>산출물</a:t>
            </a:r>
            <a:r>
              <a:rPr kumimoji="1" lang="en-US" altLang="ko-KR" sz="2800" b="1">
                <a:solidFill>
                  <a:prstClr val="black"/>
                </a:solidFill>
                <a:ea typeface="맑은 고딕"/>
              </a:rPr>
              <a:t> </a:t>
            </a:r>
            <a:r>
              <a:rPr kumimoji="1" lang="en-US" altLang="ko-KR" sz="2800" b="1" err="1">
                <a:solidFill>
                  <a:prstClr val="black"/>
                </a:solidFill>
                <a:ea typeface="맑은 고딕"/>
              </a:rPr>
              <a:t>전달</a:t>
            </a:r>
            <a:r>
              <a:rPr kumimoji="1" lang="en-US" altLang="ko-KR" sz="2800" b="1">
                <a:solidFill>
                  <a:prstClr val="black"/>
                </a:solidFill>
                <a:ea typeface="맑은 고딕"/>
              </a:rPr>
              <a:t> </a:t>
            </a:r>
            <a:r>
              <a:rPr kumimoji="1" lang="en-US" altLang="ko-KR" sz="2800" b="1" err="1">
                <a:solidFill>
                  <a:prstClr val="black"/>
                </a:solidFill>
                <a:ea typeface="맑은 고딕"/>
              </a:rPr>
              <a:t>방식</a:t>
            </a:r>
            <a:endParaRPr lang="ko-KR" altLang="en-US" sz="3600" b="1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59C22B-AA94-E762-7177-2C2AA07BE076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45C84AA-0792-5D15-8014-1BB52C413CD1}"/>
              </a:ext>
            </a:extLst>
          </p:cNvPr>
          <p:cNvSpPr/>
          <p:nvPr/>
        </p:nvSpPr>
        <p:spPr>
          <a:xfrm>
            <a:off x="422875" y="1546831"/>
            <a:ext cx="5571525" cy="5127606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&lt; A </a:t>
            </a:r>
            <a:r>
              <a:rPr lang="ko-KR" altLang="en-US" b="1">
                <a:solidFill>
                  <a:prstClr val="black"/>
                </a:solidFill>
                <a:latin typeface="Calibri" panose="020F0502020204030204"/>
              </a:rPr>
              <a:t>구조 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FA7C198-11D0-636A-6AD2-795CC688F25B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D1A2A2-DD60-2C30-A56C-C623CDA9EB2B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F1092CF-06C7-7A83-3245-F45FBCB2B21B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AF827A0-7DC9-2E9D-9235-B20CC26768A4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98A33BB-F125-51E4-D777-2ED35C2FFF8E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A33322F-41D3-F2AB-5B92-0E340B447C6B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E43350-135C-EFED-161D-8494EEFC4AEE}"/>
              </a:ext>
            </a:extLst>
          </p:cNvPr>
          <p:cNvGraphicFramePr>
            <a:graphicFrameLocks noGrp="1"/>
          </p:cNvGraphicFramePr>
          <p:nvPr/>
        </p:nvGraphicFramePr>
        <p:xfrm>
          <a:off x="760133" y="3362212"/>
          <a:ext cx="3441731" cy="8346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2353">
                  <a:extLst>
                    <a:ext uri="{9D8B030D-6E8A-4147-A177-3AD203B41FA5}">
                      <a16:colId xmlns:a16="http://schemas.microsoft.com/office/drawing/2014/main" val="3489750141"/>
                    </a:ext>
                  </a:extLst>
                </a:gridCol>
                <a:gridCol w="2399378">
                  <a:extLst>
                    <a:ext uri="{9D8B030D-6E8A-4147-A177-3AD203B41FA5}">
                      <a16:colId xmlns:a16="http://schemas.microsoft.com/office/drawing/2014/main" val="3997434957"/>
                    </a:ext>
                  </a:extLst>
                </a:gridCol>
              </a:tblGrid>
              <a:tr h="56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effectLst/>
                        </a:rPr>
                        <a:t>FR1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Workflow 실행 인프라</a:t>
                      </a:r>
                      <a:endParaRPr lang="ko-KR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40854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effectLst/>
                        </a:rPr>
                        <a:t>FR2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Artifact 저장·전달</a:t>
                      </a:r>
                      <a:endParaRPr lang="ko-KR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1049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B300146-0A47-CE6C-F038-74088EE467AB}"/>
              </a:ext>
            </a:extLst>
          </p:cNvPr>
          <p:cNvGraphicFramePr>
            <a:graphicFrameLocks noGrp="1"/>
          </p:cNvGraphicFramePr>
          <p:nvPr/>
        </p:nvGraphicFramePr>
        <p:xfrm>
          <a:off x="811306" y="4524487"/>
          <a:ext cx="1828800" cy="274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990353863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408648971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effectLst/>
                        </a:rPr>
                        <a:t>QA2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Reliability</a:t>
                      </a:r>
                      <a:endParaRPr lang="ko-KR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99184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9973B25-C296-AFE9-79CC-0393AD6CA711}"/>
              </a:ext>
            </a:extLst>
          </p:cNvPr>
          <p:cNvGraphicFramePr>
            <a:graphicFrameLocks noGrp="1"/>
          </p:cNvGraphicFramePr>
          <p:nvPr/>
        </p:nvGraphicFramePr>
        <p:xfrm>
          <a:off x="811306" y="4970032"/>
          <a:ext cx="2123111" cy="274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81423">
                  <a:extLst>
                    <a:ext uri="{9D8B030D-6E8A-4147-A177-3AD203B41FA5}">
                      <a16:colId xmlns:a16="http://schemas.microsoft.com/office/drawing/2014/main" val="72055941"/>
                    </a:ext>
                  </a:extLst>
                </a:gridCol>
                <a:gridCol w="1341688">
                  <a:extLst>
                    <a:ext uri="{9D8B030D-6E8A-4147-A177-3AD203B41FA5}">
                      <a16:colId xmlns:a16="http://schemas.microsoft.com/office/drawing/2014/main" val="27282084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effectLst/>
                        </a:rPr>
                        <a:t>QA5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Performance</a:t>
                      </a:r>
                      <a:endParaRPr lang="ko-KR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4532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08FA8AE-398E-214C-2277-7E916C39625E}"/>
              </a:ext>
            </a:extLst>
          </p:cNvPr>
          <p:cNvGraphicFramePr>
            <a:graphicFrameLocks noGrp="1"/>
          </p:cNvGraphicFramePr>
          <p:nvPr/>
        </p:nvGraphicFramePr>
        <p:xfrm>
          <a:off x="811306" y="5779545"/>
          <a:ext cx="1828800" cy="274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412925261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702918576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effectLst/>
                        </a:rPr>
                        <a:t>QA8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Reliability</a:t>
                      </a:r>
                      <a:endParaRPr lang="ko-KR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8950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AC318E8-70D0-CDFB-B64B-76DAF047BF36}"/>
              </a:ext>
            </a:extLst>
          </p:cNvPr>
          <p:cNvSpPr txBox="1"/>
          <p:nvPr/>
        </p:nvSpPr>
        <p:spPr>
          <a:xfrm>
            <a:off x="806824" y="1905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옵션</a:t>
            </a:r>
            <a:r>
              <a:rPr lang="en-US" b="1"/>
              <a:t> B. Object Storage + </a:t>
            </a:r>
            <a:r>
              <a:rPr lang="en-US" b="1" err="1"/>
              <a:t>사전</a:t>
            </a:r>
            <a:r>
              <a:rPr lang="en-US" b="1"/>
              <a:t> Staging</a:t>
            </a:r>
          </a:p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62DDE2-FEA2-ABE7-FD88-EDDED9F93B3F}"/>
              </a:ext>
            </a:extLst>
          </p:cNvPr>
          <p:cNvSpPr txBox="1"/>
          <p:nvPr/>
        </p:nvSpPr>
        <p:spPr>
          <a:xfrm>
            <a:off x="6393922" y="139262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Node-bound Workflow Execution</a:t>
            </a:r>
            <a:endParaRPr lang="ko-KR" altLang="en-US" b="1">
              <a:ea typeface="맑은 고딕"/>
            </a:endParaRPr>
          </a:p>
          <a:p>
            <a:pPr algn="ctr"/>
            <a:endParaRPr lang="ko-KR" alt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7EA62886-835F-9701-F31D-578E2D9EB5DB}"/>
              </a:ext>
            </a:extLst>
          </p:cNvPr>
          <p:cNvSpPr/>
          <p:nvPr/>
        </p:nvSpPr>
        <p:spPr>
          <a:xfrm>
            <a:off x="6391875" y="1336625"/>
            <a:ext cx="5266725" cy="5337812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 lang="en-US" altLang="ko-KR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pic>
        <p:nvPicPr>
          <p:cNvPr id="31" name="그림 3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7D3D7-B6F5-389A-3B26-58A474DF0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71" y="1890876"/>
            <a:ext cx="4892237" cy="378569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04F89F-C9DE-08C7-4C28-9B530CE6EB69}"/>
              </a:ext>
            </a:extLst>
          </p:cNvPr>
          <p:cNvSpPr/>
          <p:nvPr/>
        </p:nvSpPr>
        <p:spPr>
          <a:xfrm>
            <a:off x="5819775" y="6134100"/>
            <a:ext cx="3368285" cy="70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대안 설계 </a:t>
            </a:r>
            <a:r>
              <a:rPr lang="en-US" altLang="ko-KR" sz="1050"/>
              <a:t>C. </a:t>
            </a:r>
          </a:p>
          <a:p>
            <a:pPr algn="ctr"/>
            <a:r>
              <a:rPr lang="en-US" altLang="ko-KR" sz="1050"/>
              <a:t>B </a:t>
            </a:r>
            <a:r>
              <a:rPr lang="ko-KR" altLang="en-US" sz="1050"/>
              <a:t>기반으로 동작</a:t>
            </a:r>
            <a:r>
              <a:rPr lang="en-US" altLang="ko-KR" sz="1050"/>
              <a:t>. </a:t>
            </a:r>
            <a:r>
              <a:rPr lang="ko-KR" altLang="en-US" sz="1050"/>
              <a:t>로컬 스토리지를 </a:t>
            </a:r>
            <a:r>
              <a:rPr lang="en-US" altLang="ko-KR" sz="1050"/>
              <a:t>Cache</a:t>
            </a:r>
            <a:r>
              <a:rPr lang="ko-KR" altLang="en-US" sz="1050"/>
              <a:t>로 활용하고</a:t>
            </a:r>
            <a:r>
              <a:rPr lang="en-US" altLang="ko-KR" sz="1050"/>
              <a:t>, </a:t>
            </a:r>
            <a:r>
              <a:rPr lang="ko-KR" altLang="en-US" sz="1050"/>
              <a:t>더 많은 </a:t>
            </a:r>
            <a:r>
              <a:rPr lang="en-US" altLang="ko-KR" sz="1050"/>
              <a:t>Artifact </a:t>
            </a:r>
            <a:r>
              <a:rPr lang="ko-KR" altLang="en-US" sz="1050"/>
              <a:t>저장을 위한 외부 저장소 연결</a:t>
            </a:r>
          </a:p>
        </p:txBody>
      </p:sp>
    </p:spTree>
    <p:extLst>
      <p:ext uri="{BB962C8B-B14F-4D97-AF65-F5344CB8AC3E}">
        <p14:creationId xmlns:p14="http://schemas.microsoft.com/office/powerpoint/2010/main" val="4251672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A916-D08A-B359-CF60-6F1B538C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FC29F-CAD7-A8EE-D7AA-87F1BCD8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401220"/>
            <a:ext cx="10515600" cy="765843"/>
          </a:xfrm>
        </p:spPr>
        <p:txBody>
          <a:bodyPr>
            <a:normAutofit/>
          </a:bodyPr>
          <a:lstStyle/>
          <a:p>
            <a:r>
              <a:rPr kumimoji="1" lang="ko-KR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설계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rPr>
              <a:t>| 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DP5 Workflow </a:t>
            </a:r>
            <a:r>
              <a:rPr kumimoji="1" lang="en-US" altLang="ko-KR" sz="2800" b="1" err="1">
                <a:solidFill>
                  <a:prstClr val="black"/>
                </a:solidFill>
                <a:latin typeface="맑은 고딕"/>
                <a:ea typeface="맑은 고딕"/>
              </a:rPr>
              <a:t>실행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 </a:t>
            </a:r>
            <a:r>
              <a:rPr kumimoji="1" lang="en-US" altLang="ko-KR" sz="2800" b="1" err="1">
                <a:solidFill>
                  <a:prstClr val="black"/>
                </a:solidFill>
                <a:latin typeface="맑은 고딕"/>
                <a:ea typeface="맑은 고딕"/>
              </a:rPr>
              <a:t>정책</a:t>
            </a:r>
            <a:r>
              <a:rPr kumimoji="1" lang="en-US" altLang="ko-KR" sz="2800" b="1">
                <a:solidFill>
                  <a:prstClr val="black"/>
                </a:solidFill>
                <a:latin typeface="맑은 고딕"/>
                <a:ea typeface="맑은 고딕"/>
              </a:rPr>
              <a:t> (Performance)</a:t>
            </a:r>
            <a:endParaRPr lang="en-US" altLang="ko-KR" sz="2800" b="1">
              <a:solidFill>
                <a:prstClr val="black"/>
              </a:solidFill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E6629B-5118-5EEA-5FA1-3F73EF74B104}"/>
              </a:ext>
            </a:extLst>
          </p:cNvPr>
          <p:cNvSpPr/>
          <p:nvPr/>
        </p:nvSpPr>
        <p:spPr>
          <a:xfrm flipV="1">
            <a:off x="615478" y="1110395"/>
            <a:ext cx="10073715" cy="37785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E1B7505-A006-8E84-1C00-4E4B6C289A00}"/>
              </a:ext>
            </a:extLst>
          </p:cNvPr>
          <p:cNvSpPr/>
          <p:nvPr/>
        </p:nvSpPr>
        <p:spPr>
          <a:xfrm>
            <a:off x="422875" y="2707973"/>
            <a:ext cx="5571525" cy="3966464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&lt;</a:t>
            </a:r>
            <a:r>
              <a:rPr lang="en-US" altLang="ko-KR" b="1">
                <a:latin typeface="Calibri" panose="020F0502020204030204"/>
                <a:ea typeface="맑은 고딕"/>
              </a:rPr>
              <a:t> </a:t>
            </a:r>
            <a:r>
              <a:rPr lang="ko-KR" altLang="en-US" b="1">
                <a:ea typeface="맑은 고딕"/>
              </a:rPr>
              <a:t>전체</a:t>
            </a:r>
            <a:r>
              <a:rPr lang="en-US" b="1"/>
              <a:t> </a:t>
            </a:r>
            <a:r>
              <a:rPr lang="en-US" b="1" err="1"/>
              <a:t>스냅샷</a:t>
            </a:r>
            <a:r>
              <a:rPr lang="en-US" b="1"/>
              <a:t> + </a:t>
            </a:r>
            <a:r>
              <a:rPr lang="en-US" b="1" err="1"/>
              <a:t>동기</a:t>
            </a:r>
            <a:r>
              <a:rPr lang="en-US" b="1"/>
              <a:t> </a:t>
            </a:r>
            <a:r>
              <a:rPr lang="ko-KR" b="1">
                <a:ea typeface="맑은 고딕"/>
              </a:rPr>
              <a:t>Agent</a:t>
            </a:r>
            <a:r>
              <a:rPr lang="ko-KR" altLang="en-US" b="1">
                <a:latin typeface="Calibri" panose="020F0502020204030204"/>
                <a:ea typeface="맑은 고딕"/>
              </a:rPr>
              <a:t> 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18B9173-ED91-02C5-5F1F-6135CEB3716C}"/>
              </a:ext>
            </a:extLst>
          </p:cNvPr>
          <p:cNvSpPr/>
          <p:nvPr/>
        </p:nvSpPr>
        <p:spPr>
          <a:xfrm>
            <a:off x="6391875" y="2701926"/>
            <a:ext cx="5266725" cy="3972511"/>
          </a:xfrm>
          <a:prstGeom prst="rect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 lIns="91440" tIns="45720" rIns="91440" bIns="45720" anchor="t" anchorCtr="0"/>
          <a:lstStyle/>
          <a:p>
            <a:pPr algn="ctr" latinLnBrk="0"/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 &lt;</a:t>
            </a:r>
            <a:r>
              <a:rPr lang="en-US" altLang="ko-KR" b="1">
                <a:latin typeface="Calibri" panose="020F0502020204030204"/>
                <a:ea typeface="맑은 고딕"/>
              </a:rPr>
              <a:t> </a:t>
            </a:r>
            <a:r>
              <a:rPr lang="en-US" b="1" err="1"/>
              <a:t>경량</a:t>
            </a:r>
            <a:r>
              <a:rPr lang="en-US" b="1"/>
              <a:t> </a:t>
            </a:r>
            <a:r>
              <a:rPr lang="en-US" b="1" err="1"/>
              <a:t>체크포인트</a:t>
            </a:r>
            <a:r>
              <a:rPr lang="en-US" b="1"/>
              <a:t> + </a:t>
            </a:r>
            <a:r>
              <a:rPr lang="en-US" b="1" err="1"/>
              <a:t>비동기</a:t>
            </a:r>
            <a:r>
              <a:rPr lang="en-US" b="1"/>
              <a:t> Agent</a:t>
            </a:r>
            <a:r>
              <a:rPr lang="ko-KR" altLang="en-US" b="1">
                <a:latin typeface="Calibri" panose="020F0502020204030204"/>
                <a:ea typeface="맑은 고딕"/>
              </a:rPr>
              <a:t> </a:t>
            </a:r>
            <a:r>
              <a:rPr lang="en-US" altLang="ko-KR" b="1">
                <a:solidFill>
                  <a:prstClr val="black"/>
                </a:solidFill>
                <a:latin typeface="Calibri" panose="020F0502020204030204"/>
                <a:ea typeface="맑은 고딕"/>
              </a:rPr>
              <a:t>&gt;</a:t>
            </a:r>
            <a:endParaRPr lang="ko-KR" altLang="en-US" b="1">
              <a:solidFill>
                <a:prstClr val="black"/>
              </a:solidFill>
              <a:latin typeface="Calibri" panose="020F0502020204030204"/>
              <a:ea typeface="맑은 고딕"/>
              <a:cs typeface="Calibri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A71E4B4-F52F-C22D-50E2-7004853403CA}"/>
              </a:ext>
            </a:extLst>
          </p:cNvPr>
          <p:cNvGrpSpPr/>
          <p:nvPr/>
        </p:nvGrpSpPr>
        <p:grpSpPr>
          <a:xfrm>
            <a:off x="8508050" y="592185"/>
            <a:ext cx="3335762" cy="425425"/>
            <a:chOff x="8489000" y="573754"/>
            <a:chExt cx="3335762" cy="31962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284FD1C-34F7-CB75-571A-0F0297E45283}"/>
                </a:ext>
              </a:extLst>
            </p:cNvPr>
            <p:cNvSpPr/>
            <p:nvPr/>
          </p:nvSpPr>
          <p:spPr>
            <a:xfrm>
              <a:off x="916901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요구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분석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560BDAB-A6BD-8355-310B-26F904712354}"/>
                </a:ext>
              </a:extLst>
            </p:cNvPr>
            <p:cNvSpPr/>
            <p:nvPr/>
          </p:nvSpPr>
          <p:spPr>
            <a:xfrm>
              <a:off x="9849020" y="576304"/>
              <a:ext cx="615722" cy="317078"/>
            </a:xfrm>
            <a:prstGeom prst="rect">
              <a:avLst/>
            </a:prstGeom>
            <a:solidFill>
              <a:srgbClr val="D97757"/>
            </a:solidFill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설계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8E56DA9-486E-9A71-8828-7A0C68756B2F}"/>
                </a:ext>
              </a:extLst>
            </p:cNvPr>
            <p:cNvSpPr/>
            <p:nvPr/>
          </p:nvSpPr>
          <p:spPr>
            <a:xfrm>
              <a:off x="10529030" y="57630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검증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1E93825-3299-7033-29B4-1CA89D9431C0}"/>
                </a:ext>
              </a:extLst>
            </p:cNvPr>
            <p:cNvSpPr/>
            <p:nvPr/>
          </p:nvSpPr>
          <p:spPr>
            <a:xfrm>
              <a:off x="11209040" y="573754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결론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4C0C752-CE6E-31E0-9AF4-E2FDA1ED20AD}"/>
                </a:ext>
              </a:extLst>
            </p:cNvPr>
            <p:cNvSpPr/>
            <p:nvPr/>
          </p:nvSpPr>
          <p:spPr>
            <a:xfrm>
              <a:off x="8489000" y="576296"/>
              <a:ext cx="615722" cy="317078"/>
            </a:xfrm>
            <a:prstGeom prst="rect">
              <a:avLst/>
            </a:prstGeom>
            <a:noFill/>
            <a:ln w="22225">
              <a:solidFill>
                <a:srgbClr val="D977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과제 </a:t>
              </a:r>
              <a:endParaRPr lang="en-US" altLang="ko-KR" sz="105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50">
                  <a:solidFill>
                    <a:schemeClr val="tx1"/>
                  </a:solidFill>
                </a:rPr>
                <a:t>소개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EE77F4C-3FFD-3F12-BDA5-9A23915C125A}"/>
              </a:ext>
            </a:extLst>
          </p:cNvPr>
          <p:cNvSpPr txBox="1"/>
          <p:nvPr/>
        </p:nvSpPr>
        <p:spPr>
          <a:xfrm>
            <a:off x="514048" y="1112762"/>
            <a:ext cx="846666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latin typeface="-apple-system"/>
                <a:ea typeface="-apple-system"/>
                <a:cs typeface="-apple-system"/>
              </a:rPr>
              <a:t>전제 조건</a:t>
            </a:r>
            <a:endParaRPr lang="en-US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b="0" i="0">
                <a:latin typeface="-apple-system"/>
                <a:ea typeface="-apple-system"/>
                <a:cs typeface="-apple-system"/>
              </a:rPr>
              <a:t>Workflow 간: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독립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실행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(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자연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병렬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)</a:t>
            </a:r>
            <a:endParaRPr lang="en-US"/>
          </a:p>
          <a:p>
            <a:pPr algn="l">
              <a:buFont typeface=""/>
              <a:buChar char="•"/>
            </a:pPr>
            <a:r>
              <a:rPr lang="en-US" b="0" i="0">
                <a:latin typeface="-apple-system"/>
                <a:ea typeface="-apple-system"/>
                <a:cs typeface="-apple-system"/>
              </a:rPr>
              <a:t>Workflow 내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노드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: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순차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의존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(IR Converter → Optimizer → Quantizer → Compiler)</a:t>
            </a:r>
          </a:p>
          <a:p>
            <a:pPr algn="l">
              <a:buFont typeface=""/>
              <a:buChar char="•"/>
            </a:pPr>
            <a:r>
              <a:rPr lang="en-US" b="0" i="0" err="1">
                <a:latin typeface="-apple-system"/>
                <a:ea typeface="-apple-system"/>
                <a:cs typeface="-apple-system"/>
              </a:rPr>
              <a:t>에러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시: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이전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노드로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롤백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후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재실행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가능</a:t>
            </a:r>
            <a:endParaRPr lang="en-US" b="0" i="0">
              <a:latin typeface="-apple-system"/>
              <a:ea typeface="-apple-system"/>
              <a:cs typeface="-apple-system"/>
            </a:endParaRPr>
          </a:p>
          <a:p>
            <a:pPr algn="l">
              <a:buFont typeface=""/>
              <a:buChar char="•"/>
            </a:pPr>
            <a:r>
              <a:rPr lang="en-US" b="0" i="0" err="1">
                <a:latin typeface="-apple-system"/>
                <a:ea typeface="-apple-system"/>
                <a:cs typeface="-apple-system"/>
              </a:rPr>
              <a:t>Agent는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이미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적용된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상태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.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사람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수동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관리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대비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E2E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단축이</a:t>
            </a:r>
            <a:r>
              <a:rPr lang="en-US" b="0" i="0">
                <a:latin typeface="-apple-system"/>
                <a:ea typeface="-apple-system"/>
                <a:cs typeface="-apple-system"/>
              </a:rPr>
              <a:t> </a:t>
            </a:r>
            <a:r>
              <a:rPr lang="en-US" b="0" i="0" err="1">
                <a:latin typeface="-apple-system"/>
                <a:ea typeface="-apple-system"/>
                <a:cs typeface="-apple-system"/>
              </a:rPr>
              <a:t>목표</a:t>
            </a:r>
            <a:endParaRPr lang="en-US" b="0" i="0">
              <a:latin typeface="-apple-system"/>
              <a:ea typeface="-apple-system"/>
              <a:cs typeface="-apple-syste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498B52-5F0F-5A31-C773-7A1EC7AD2FB0}"/>
              </a:ext>
            </a:extLst>
          </p:cNvPr>
          <p:cNvSpPr txBox="1"/>
          <p:nvPr/>
        </p:nvSpPr>
        <p:spPr>
          <a:xfrm>
            <a:off x="514048" y="3211286"/>
            <a:ext cx="536423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노드마다</a:t>
            </a:r>
            <a:r>
              <a:rPr lang="en-US"/>
              <a:t> </a:t>
            </a:r>
            <a:r>
              <a:rPr lang="en-US" err="1"/>
              <a:t>전체</a:t>
            </a:r>
            <a:r>
              <a:rPr lang="en-US"/>
              <a:t> </a:t>
            </a:r>
            <a:r>
              <a:rPr lang="en-US" err="1"/>
              <a:t>스냅샷</a:t>
            </a:r>
            <a:r>
              <a:rPr lang="en-US"/>
              <a:t> </a:t>
            </a:r>
            <a:r>
              <a:rPr lang="en-US" err="1"/>
              <a:t>저장</a:t>
            </a:r>
            <a:r>
              <a:rPr lang="en-US"/>
              <a:t> + Agent </a:t>
            </a:r>
            <a:r>
              <a:rPr lang="en-US" err="1"/>
              <a:t>동기</a:t>
            </a:r>
            <a:r>
              <a:rPr lang="en-US"/>
              <a:t> </a:t>
            </a:r>
            <a:r>
              <a:rPr lang="en-US" err="1"/>
              <a:t>호출</a:t>
            </a:r>
            <a:r>
              <a:rPr lang="en-US"/>
              <a:t>.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>
              <a:ea typeface="맑은 고딕" panose="020B0503020000020004" pitchFamily="34" charset="-127"/>
            </a:endParaRPr>
          </a:p>
          <a:p>
            <a:r>
              <a:rPr lang="en-US" err="1"/>
              <a:t>임의</a:t>
            </a:r>
            <a:r>
              <a:rPr lang="en-US"/>
              <a:t> </a:t>
            </a:r>
            <a:r>
              <a:rPr lang="en-US" err="1"/>
              <a:t>노드로</a:t>
            </a:r>
            <a:r>
              <a:rPr lang="en-US"/>
              <a:t> </a:t>
            </a:r>
            <a:r>
              <a:rPr lang="en-US" err="1"/>
              <a:t>즉시</a:t>
            </a:r>
            <a:r>
              <a:rPr lang="en-US"/>
              <a:t> </a:t>
            </a:r>
            <a:r>
              <a:rPr lang="en-US" err="1"/>
              <a:t>롤백</a:t>
            </a:r>
            <a:r>
              <a:rPr lang="en-US"/>
              <a:t> </a:t>
            </a:r>
            <a:r>
              <a:rPr lang="en-US" err="1"/>
              <a:t>가능</a:t>
            </a:r>
            <a:r>
              <a:rPr lang="en-US"/>
              <a:t>, </a:t>
            </a:r>
            <a:r>
              <a:rPr lang="en-US" err="1"/>
              <a:t>실행</a:t>
            </a:r>
            <a:r>
              <a:rPr lang="en-US"/>
              <a:t> </a:t>
            </a:r>
            <a:r>
              <a:rPr lang="en-US" err="1"/>
              <a:t>순서</a:t>
            </a:r>
            <a:r>
              <a:rPr lang="en-US"/>
              <a:t> </a:t>
            </a:r>
            <a:r>
              <a:rPr lang="en-US" err="1"/>
              <a:t>결정적</a:t>
            </a:r>
            <a:r>
              <a:rPr lang="en-US"/>
              <a:t>.</a:t>
            </a:r>
            <a:endParaRPr lang="ko-KR" altLang="en-US"/>
          </a:p>
          <a:p>
            <a:r>
              <a:rPr lang="en-US" err="1"/>
              <a:t>부수</a:t>
            </a:r>
            <a:r>
              <a:rPr lang="en-US"/>
              <a:t> </a:t>
            </a:r>
            <a:r>
              <a:rPr lang="en-US" err="1"/>
              <a:t>작업</a:t>
            </a:r>
            <a:r>
              <a:rPr lang="en-US"/>
              <a:t>(Jira, </a:t>
            </a:r>
            <a:r>
              <a:rPr lang="en-US" err="1"/>
              <a:t>알림</a:t>
            </a:r>
            <a:r>
              <a:rPr lang="en-US"/>
              <a:t>)이 </a:t>
            </a:r>
            <a:r>
              <a:rPr lang="en-US" err="1"/>
              <a:t>크리티컬</a:t>
            </a:r>
            <a:r>
              <a:rPr lang="en-US"/>
              <a:t> </a:t>
            </a:r>
            <a:r>
              <a:rPr lang="en-US" err="1"/>
              <a:t>패스에</a:t>
            </a:r>
            <a:r>
              <a:rPr lang="en-US"/>
              <a:t> </a:t>
            </a:r>
            <a:r>
              <a:rPr lang="en-US" err="1"/>
              <a:t>포함되어</a:t>
            </a:r>
            <a:r>
              <a:rPr lang="en-US"/>
              <a:t> </a:t>
            </a:r>
            <a:r>
              <a:rPr lang="en-US" err="1"/>
              <a:t>대기</a:t>
            </a:r>
            <a:r>
              <a:rPr lang="en-US"/>
              <a:t> </a:t>
            </a:r>
            <a:r>
              <a:rPr lang="en-US" err="1"/>
              <a:t>발생</a:t>
            </a:r>
            <a:r>
              <a:rPr lang="en-US"/>
              <a:t>.</a:t>
            </a:r>
            <a:endParaRPr lang="ko-KR" altLang="en-US">
              <a:ea typeface="맑은 고딕"/>
            </a:endParaRPr>
          </a:p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4AEBE5-DA1D-A7EC-F5EA-DEEDEE138EBA}"/>
              </a:ext>
            </a:extLst>
          </p:cNvPr>
          <p:cNvSpPr txBox="1"/>
          <p:nvPr/>
        </p:nvSpPr>
        <p:spPr>
          <a:xfrm>
            <a:off x="6392333" y="321128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경량</a:t>
            </a:r>
            <a:r>
              <a:rPr lang="en-US"/>
              <a:t> </a:t>
            </a:r>
            <a:r>
              <a:rPr lang="en-US" err="1"/>
              <a:t>메타데이터만</a:t>
            </a:r>
            <a:r>
              <a:rPr lang="en-US"/>
              <a:t> </a:t>
            </a:r>
            <a:r>
              <a:rPr lang="en-US" err="1"/>
              <a:t>저장</a:t>
            </a:r>
            <a:r>
              <a:rPr lang="en-US"/>
              <a:t> + </a:t>
            </a:r>
            <a:r>
              <a:rPr lang="en-US" err="1"/>
              <a:t>부수</a:t>
            </a:r>
            <a:r>
              <a:rPr lang="en-US"/>
              <a:t> </a:t>
            </a:r>
            <a:r>
              <a:rPr lang="en-US" err="1"/>
              <a:t>작업</a:t>
            </a:r>
            <a:r>
              <a:rPr lang="en-US"/>
              <a:t> </a:t>
            </a:r>
            <a:r>
              <a:rPr lang="en-US" err="1"/>
              <a:t>비동기</a:t>
            </a:r>
            <a:r>
              <a:rPr lang="en-US"/>
              <a:t> </a:t>
            </a:r>
            <a:r>
              <a:rPr lang="en-US" err="1"/>
              <a:t>분리</a:t>
            </a:r>
            <a:br>
              <a:rPr lang="en-US"/>
            </a:br>
            <a:r>
              <a:rPr lang="en-US"/>
              <a:t>+ </a:t>
            </a:r>
            <a:r>
              <a:rPr lang="en-US" err="1"/>
              <a:t>다음</a:t>
            </a:r>
            <a:r>
              <a:rPr lang="en-US"/>
              <a:t> </a:t>
            </a:r>
            <a:r>
              <a:rPr lang="en-US" err="1"/>
              <a:t>노드</a:t>
            </a:r>
            <a:r>
              <a:rPr lang="en-US"/>
              <a:t> </a:t>
            </a:r>
            <a:r>
              <a:rPr lang="en-US" err="1"/>
              <a:t>사전</a:t>
            </a:r>
            <a:r>
              <a:rPr lang="en-US"/>
              <a:t> </a:t>
            </a:r>
            <a:r>
              <a:rPr lang="en-US" err="1"/>
              <a:t>검증</a:t>
            </a:r>
            <a:r>
              <a:rPr lang="en-US"/>
              <a:t>.</a:t>
            </a:r>
            <a:endParaRPr lang="ko-KR" altLang="en-US"/>
          </a:p>
          <a:p>
            <a:endParaRPr lang="en-US"/>
          </a:p>
          <a:p>
            <a:r>
              <a:rPr lang="en-US"/>
              <a:t>E2E </a:t>
            </a:r>
            <a:r>
              <a:rPr lang="en-US" err="1"/>
              <a:t>단축되나</a:t>
            </a:r>
            <a:r>
              <a:rPr lang="en-US"/>
              <a:t> </a:t>
            </a:r>
            <a:r>
              <a:rPr lang="en-US" err="1"/>
              <a:t>깊은</a:t>
            </a:r>
            <a:r>
              <a:rPr lang="en-US"/>
              <a:t> </a:t>
            </a:r>
            <a:r>
              <a:rPr lang="en-US" err="1"/>
              <a:t>롤백</a:t>
            </a:r>
            <a:r>
              <a:rPr lang="en-US"/>
              <a:t> 시 </a:t>
            </a:r>
            <a:r>
              <a:rPr lang="en-US" err="1"/>
              <a:t>재생성</a:t>
            </a:r>
            <a:r>
              <a:rPr lang="en-US"/>
              <a:t> </a:t>
            </a:r>
            <a:r>
              <a:rPr lang="en-US" err="1"/>
              <a:t>필요</a:t>
            </a:r>
            <a:r>
              <a:rPr lang="en-US"/>
              <a:t>, </a:t>
            </a:r>
            <a:r>
              <a:rPr lang="en-US" err="1"/>
              <a:t>비동기</a:t>
            </a:r>
            <a:r>
              <a:rPr lang="en-US"/>
              <a:t> 추적에 </a:t>
            </a:r>
            <a:r>
              <a:rPr lang="en-US" err="1"/>
              <a:t>상관관계</a:t>
            </a:r>
            <a:r>
              <a:rPr lang="en-US"/>
              <a:t> </a:t>
            </a:r>
            <a:r>
              <a:rPr lang="en-US" err="1"/>
              <a:t>추론</a:t>
            </a:r>
            <a:r>
              <a:rPr lang="en-US"/>
              <a:t> </a:t>
            </a:r>
            <a:r>
              <a:rPr lang="en-US" err="1"/>
              <a:t>필요</a:t>
            </a:r>
            <a:r>
              <a:rPr lang="en-US"/>
              <a:t>. </a:t>
            </a:r>
            <a:endParaRPr lang="en-US">
              <a:ea typeface="맑은 고딕"/>
            </a:endParaRPr>
          </a:p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DD3A27F-E196-CDEE-4EA4-EC962D292E21}"/>
              </a:ext>
            </a:extLst>
          </p:cNvPr>
          <p:cNvGraphicFramePr>
            <a:graphicFrameLocks noGrp="1"/>
          </p:cNvGraphicFramePr>
          <p:nvPr/>
        </p:nvGraphicFramePr>
        <p:xfrm>
          <a:off x="614679" y="5191566"/>
          <a:ext cx="638256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383">
                  <a:extLst>
                    <a:ext uri="{9D8B030D-6E8A-4147-A177-3AD203B41FA5}">
                      <a16:colId xmlns:a16="http://schemas.microsoft.com/office/drawing/2014/main" val="3497083499"/>
                    </a:ext>
                  </a:extLst>
                </a:gridCol>
                <a:gridCol w="1510973">
                  <a:extLst>
                    <a:ext uri="{9D8B030D-6E8A-4147-A177-3AD203B41FA5}">
                      <a16:colId xmlns:a16="http://schemas.microsoft.com/office/drawing/2014/main" val="2476946003"/>
                    </a:ext>
                  </a:extLst>
                </a:gridCol>
                <a:gridCol w="1120205">
                  <a:extLst>
                    <a:ext uri="{9D8B030D-6E8A-4147-A177-3AD203B41FA5}">
                      <a16:colId xmlns:a16="http://schemas.microsoft.com/office/drawing/2014/main" val="3033743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52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Performance (QA5. E2E 단축)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</a:t>
                      </a:r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Avaialbility (QA7. 장애시 복구)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★★★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★★</a:t>
                      </a:r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6840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365B4B2-E207-A383-3518-1DEBE9A6310B}"/>
              </a:ext>
            </a:extLst>
          </p:cNvPr>
          <p:cNvSpPr txBox="1"/>
          <p:nvPr/>
        </p:nvSpPr>
        <p:spPr>
          <a:xfrm>
            <a:off x="6997095" y="2001762"/>
            <a:ext cx="6767285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ko-KR" sz="1400" b="0" i="0" u="none" strike="noStrike" baseline="0">
                <a:solidFill>
                  <a:srgbClr val="FF0000"/>
                </a:solidFill>
                <a:latin typeface="맑은 고딕"/>
                <a:ea typeface="Malgun Gothic"/>
                <a:cs typeface="맑은 고딕"/>
              </a:rPr>
              <a:t>개발자가 직접 수행한 시간 대비 </a:t>
            </a:r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Agent</a:t>
            </a:r>
            <a:r>
              <a:rPr lang="ko-KR" sz="1400" b="0" i="0" u="none" strike="noStrike" baseline="0">
                <a:solidFill>
                  <a:srgbClr val="FF0000"/>
                </a:solidFill>
                <a:latin typeface="맑은 고딕"/>
                <a:ea typeface="Malgun Gothic"/>
                <a:cs typeface="맑은 고딕"/>
              </a:rPr>
              <a:t> 수행 시간 단축을 최대화하여야 한다</a:t>
            </a:r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. </a:t>
            </a:r>
            <a:r>
              <a:rPr lang="en-US" sz="1400" b="0" i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​</a:t>
            </a:r>
          </a:p>
          <a:p>
            <a:pPr algn="l" rtl="0"/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KPI: {</a:t>
            </a:r>
            <a:r>
              <a:rPr lang="ko-KR" sz="1400" b="0" i="0" u="none" strike="noStrike" baseline="0">
                <a:solidFill>
                  <a:srgbClr val="FF0000"/>
                </a:solidFill>
                <a:latin typeface="맑은 고딕"/>
                <a:ea typeface="Malgun Gothic"/>
                <a:cs typeface="맑은 고딕"/>
              </a:rPr>
              <a:t>개발자 노드 수행 시간 </a:t>
            </a:r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– Agent </a:t>
            </a:r>
            <a:r>
              <a:rPr lang="ko-KR" sz="1400" b="0" i="0" u="none" strike="noStrike" baseline="0">
                <a:solidFill>
                  <a:srgbClr val="FF0000"/>
                </a:solidFill>
                <a:latin typeface="맑은 고딕"/>
                <a:ea typeface="Malgun Gothic"/>
                <a:cs typeface="맑은 고딕"/>
              </a:rPr>
              <a:t>통한 자동 노드 수행 시간 </a:t>
            </a:r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} &gt; </a:t>
            </a:r>
            <a:r>
              <a:rPr lang="ko-KR" sz="1400" b="0" i="0" u="none" strike="noStrike" baseline="0">
                <a:solidFill>
                  <a:srgbClr val="FF0000"/>
                </a:solidFill>
                <a:latin typeface="맑은 고딕"/>
                <a:ea typeface="Malgun Gothic"/>
                <a:cs typeface="맑은 고딕"/>
              </a:rPr>
              <a:t>최대화 </a:t>
            </a:r>
            <a:r>
              <a:rPr lang="en-US" sz="1400" b="0" i="0" u="none" strike="noStrike" baseline="0">
                <a:solidFill>
                  <a:srgbClr val="FF0000"/>
                </a:solidFill>
                <a:latin typeface="Malgun Gothic"/>
                <a:ea typeface="맑은 고딕"/>
                <a:cs typeface="맑은 고딕"/>
              </a:rPr>
              <a:t>(%%)</a:t>
            </a:r>
          </a:p>
          <a:p>
            <a:pPr algn="ctr"/>
            <a:endParaRPr lang="ko-KR" altLang="en-US" sz="240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8706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6055</Words>
  <Application>Microsoft Office PowerPoint</Application>
  <PresentationFormat>와이드스크린</PresentationFormat>
  <Paragraphs>1670</Paragraphs>
  <Slides>45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45</vt:i4>
      </vt:variant>
    </vt:vector>
  </HeadingPairs>
  <TitlesOfParts>
    <vt:vector size="53" baseType="lpstr">
      <vt:lpstr>-apple-system</vt:lpstr>
      <vt:lpstr>맑은 고딕</vt:lpstr>
      <vt:lpstr>맑은 고딕</vt:lpstr>
      <vt:lpstr>Arial</vt:lpstr>
      <vt:lpstr>Calibri</vt:lpstr>
      <vt:lpstr>Consolas</vt:lpstr>
      <vt:lpstr>Office 테마</vt:lpstr>
      <vt:lpstr>Office Theme</vt:lpstr>
      <vt:lpstr>Agentic AI 기반 On-device AI SDK 개발 자동화 시스템 설계  </vt:lpstr>
      <vt:lpstr>팀원 소개 </vt:lpstr>
      <vt:lpstr>Contents</vt:lpstr>
      <vt:lpstr>과제 배경| Business Needs </vt:lpstr>
      <vt:lpstr>과제 배경| Business Needs </vt:lpstr>
      <vt:lpstr>과제 필요성| Business Needs </vt:lpstr>
      <vt:lpstr>과제 개요| Business Needs </vt:lpstr>
      <vt:lpstr>용어 설명| Workflow Hierarchy</vt:lpstr>
      <vt:lpstr>과제 배경| 개선 시나리오</vt:lpstr>
      <vt:lpstr>과제 배경| Business Needs </vt:lpstr>
      <vt:lpstr>요구사항 수집 및 분석</vt:lpstr>
      <vt:lpstr>기능 요구사항, 제약 사항</vt:lpstr>
      <vt:lpstr>품질 속성</vt:lpstr>
      <vt:lpstr>설계| Context Diagram</vt:lpstr>
      <vt:lpstr>설계| Domain Diagram</vt:lpstr>
      <vt:lpstr>설계| Domain Diagram</vt:lpstr>
      <vt:lpstr>설계| DP1 Workflow – Agent 매핑</vt:lpstr>
      <vt:lpstr>설계| DP2 Agent Hierarchy</vt:lpstr>
      <vt:lpstr>설계| DP3 Agent 외부 시스템 안정성 보장</vt:lpstr>
      <vt:lpstr>설계| DP4 Workflow 실행 구조</vt:lpstr>
      <vt:lpstr>설계| DP5 E2E 개발시간 최적화</vt:lpstr>
      <vt:lpstr>감사합니다. 그리고 APPENDIX</vt:lpstr>
      <vt:lpstr>기능 요구사항 - APPENDIX</vt:lpstr>
      <vt:lpstr>기능 요구사항 - APPENDIX</vt:lpstr>
      <vt:lpstr>품질 속성</vt:lpstr>
      <vt:lpstr>품질 속성</vt:lpstr>
      <vt:lpstr>품질 속성</vt:lpstr>
      <vt:lpstr>품질 속성</vt:lpstr>
      <vt:lpstr>진짜 감사합니다. 뒤에는 복붙해둔거</vt:lpstr>
      <vt:lpstr>PowerPoint 프레젠테이션</vt:lpstr>
      <vt:lpstr>PowerPoint 프레젠테이션</vt:lpstr>
      <vt:lpstr>PowerPoint 프레젠테이션</vt:lpstr>
      <vt:lpstr>PowerPoint 프레젠테이션</vt:lpstr>
      <vt:lpstr>과제 배경| 개선 시나리오</vt:lpstr>
      <vt:lpstr>설계| Domain Diagram</vt:lpstr>
      <vt:lpstr>설계| Domain Diagram</vt:lpstr>
      <vt:lpstr>설계| DP4 Agent 외부 시스템 안정성 보장</vt:lpstr>
      <vt:lpstr>요구사항 분석| Stakeholder</vt:lpstr>
      <vt:lpstr>요구사항 분석| Stakeholder</vt:lpstr>
      <vt:lpstr>기능 요구사항, 제약 사항</vt:lpstr>
      <vt:lpstr>품질 속성</vt:lpstr>
      <vt:lpstr>설계| DP1 Workflow – Agent 매핑</vt:lpstr>
      <vt:lpstr>설계| DP3 Agent 외부 시스템 안정성 보장</vt:lpstr>
      <vt:lpstr>설계| DP4 Workflow 실행 단위 및 산출물 전달 방식</vt:lpstr>
      <vt:lpstr>설계| DP5 Workflow 실행 정책 (Performance)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Duckho Bae</dc:creator>
  <cp:lastModifiedBy>Seungjun Yang</cp:lastModifiedBy>
  <cp:revision>1</cp:revision>
  <dcterms:created xsi:type="dcterms:W3CDTF">2026-04-24T05:00:49Z</dcterms:created>
  <dcterms:modified xsi:type="dcterms:W3CDTF">2026-06-19T14:46:11Z</dcterms:modified>
</cp:coreProperties>
</file>